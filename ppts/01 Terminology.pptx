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润庭 邓" userId="dd4ed0c4d3e1c47b" providerId="Windows Live" clId="Web-{7970E305-FF60-7B07-8B1E-A157B7456049}"/>
    <pc:docChg chg="modSld">
      <pc:chgData name="润庭 邓" userId="dd4ed0c4d3e1c47b" providerId="Windows Live" clId="Web-{7970E305-FF60-7B07-8B1E-A157B7456049}" dt="2024-11-15T07:53:02.481" v="1"/>
      <pc:docMkLst>
        <pc:docMk/>
      </pc:docMkLst>
      <pc:sldChg chg="addSp delSp">
        <pc:chgData name="润庭 邓" userId="dd4ed0c4d3e1c47b" providerId="Windows Live" clId="Web-{7970E305-FF60-7B07-8B1E-A157B7456049}" dt="2024-11-15T07:53:02.481" v="1"/>
        <pc:sldMkLst>
          <pc:docMk/>
          <pc:sldMk cId="0" sldId="256"/>
        </pc:sldMkLst>
        <pc:picChg chg="add del">
          <ac:chgData name="润庭 邓" userId="dd4ed0c4d3e1c47b" providerId="Windows Live" clId="Web-{7970E305-FF60-7B07-8B1E-A157B7456049}" dt="2024-11-15T07:53:02.481" v="1"/>
          <ac:picMkLst>
            <pc:docMk/>
            <pc:sldMk cId="0" sldId="256"/>
            <ac:picMk id="4" creationId="{00000000-0000-0000-0000-000000000000}"/>
          </ac:picMkLst>
        </pc:picChg>
      </pc:sldChg>
    </pc:docChg>
  </pc:docChgLst>
  <pc:docChgLst>
    <pc:chgData name="润庭 邓" userId="dd4ed0c4d3e1c47b" providerId="LiveId" clId="{988315F6-B9F0-437B-BA00-096F4B8DE463}"/>
    <pc:docChg chg="custSel modSld">
      <pc:chgData name="润庭 邓" userId="dd4ed0c4d3e1c47b" providerId="LiveId" clId="{988315F6-B9F0-437B-BA00-096F4B8DE463}" dt="2024-11-16T09:59:38.150" v="0" actId="700"/>
      <pc:docMkLst>
        <pc:docMk/>
      </pc:docMkLst>
      <pc:sldChg chg="delSp mod modClrScheme chgLayout">
        <pc:chgData name="润庭 邓" userId="dd4ed0c4d3e1c47b" providerId="LiveId" clId="{988315F6-B9F0-437B-BA00-096F4B8DE463}" dt="2024-11-16T09:59:38.150" v="0" actId="700"/>
        <pc:sldMkLst>
          <pc:docMk/>
          <pc:sldMk cId="0" sldId="256"/>
        </pc:sldMkLst>
        <pc:spChg chg="del">
          <ac:chgData name="润庭 邓" userId="dd4ed0c4d3e1c47b" providerId="LiveId" clId="{988315F6-B9F0-437B-BA00-096F4B8DE463}" dt="2024-11-16T09:59:38.150" v="0" actId="700"/>
          <ac:spMkLst>
            <pc:docMk/>
            <pc:sldMk cId="0" sldId="256"/>
            <ac:spMk id="2" creationId="{00000000-0000-0000-0000-000000000000}"/>
          </ac:spMkLst>
        </pc:spChg>
        <pc:spChg chg="del">
          <ac:chgData name="润庭 邓" userId="dd4ed0c4d3e1c47b" providerId="LiveId" clId="{988315F6-B9F0-437B-BA00-096F4B8DE463}" dt="2024-11-16T09:59:38.150" v="0" actId="700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 alt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62B735B0-1E6B-4AAE-9ED6-3DBCB2AC5596}" type="datetime1">
              <a:rPr lang="zh-CN" altLang="en-US"/>
              <a:t>2024/11/16</a:t>
            </a:fld>
            <a:endParaRPr lang="zh-CN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365BD4F7-6D2A-43CC-8902-DC42A1A3C6AF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5D5F2C82-781A-4EDE-A3EF-3F2438FB9F31}" type="datetime1">
              <a:rPr lang="zh-CN" altLang="en-US"/>
              <a:t>2024/11/16</a:t>
            </a:fld>
            <a:endParaRPr lang="zh-CN" alt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B20B6519-0892-4679-8EF4-7E8632D63502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1E2E82B7-6B5C-47FC-9723-F06795F43EA6}" type="datetime1">
              <a:rPr lang="zh-CN" altLang="en-US"/>
              <a:t>2024/11/16</a:t>
            </a:fld>
            <a:endParaRPr lang="zh-CN" alt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AD56D6B1-AEFD-4F94-925D-7C5E06F2D589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4CEC58E8-DACA-4BE6-B257-D83C916C4624}" type="datetime1">
              <a:rPr lang="zh-CN" altLang="en-US"/>
              <a:t>2024/11/16</a:t>
            </a:fld>
            <a:endParaRPr lang="zh-CN" altLang="zh-CN"/>
          </a:p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1B0D9E3-9611-448B-A185-A82F9C099275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603D01A9-6636-4B38-8357-40A6314F4E6C}" type="datetime1">
              <a:rPr lang="zh-CN" altLang="en-US"/>
              <a:t>2024/11/16</a:t>
            </a:fld>
            <a:endParaRPr lang="zh-CN" altLang="zh-CN"/>
          </a:p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0AF7E8E4-B2FE-47E6-8321-B5EB66239D97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948FBD87-ED0B-4F60-AF3B-0E0AD33A4811}" type="datetime1">
              <a:rPr lang="zh-CN" altLang="en-US"/>
              <a:t>2024/11/16</a:t>
            </a:fld>
            <a:endParaRPr lang="zh-CN" alt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59AC65A2-A02C-4F73-A16B-7FC1AAA003E9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BE7DA814-644F-4697-8FE5-46D4A0F5BBB0}" type="datetime1">
              <a:rPr lang="zh-CN" altLang="en-US"/>
              <a:t>2024/11/16</a:t>
            </a:fld>
            <a:endParaRPr lang="zh-CN" altLang="zh-CN"/>
          </a:p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A97BA9F3-60DB-4411-B847-382B77F5D7D6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56C93E30-C61A-46BA-B565-F0C97AF8078C}" type="datetime1">
              <a:rPr lang="zh-CN" altLang="en-US"/>
              <a:t>2024/11/16</a:t>
            </a:fld>
            <a:endParaRPr lang="zh-CN" altLang="zh-CN"/>
          </a:p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18F98CF-8B45-4F2C-AA06-936FBB5BFF0F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 alt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7B927E94-0A4D-435C-8398-A30004961C83}" type="datetime1">
              <a:rPr lang="zh-CN" altLang="en-US"/>
              <a:t>2024/11/16</a:t>
            </a:fld>
            <a:endParaRPr lang="zh-CN" altLang="zh-CN"/>
          </a:p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9ECBB5F7-F3A9-4784-AC2B-CDDA8B2C8A59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16D6CCCE-95A5-42F6-9454-C73F14042C7C}" type="datetime1">
              <a:rPr lang="zh-CN" altLang="en-US"/>
              <a:t>2024/11/16</a:t>
            </a:fld>
            <a:endParaRPr lang="zh-CN" altLang="zh-CN"/>
          </a:p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807E4A9A-3FAA-4B6F-9C30-258875663224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A5B82C61-D909-45A3-BA4D-6D6580355498}" type="datetime1">
              <a:rPr lang="zh-CN" altLang="en-US"/>
              <a:t>2024/11/16</a:t>
            </a:fld>
            <a:endParaRPr lang="zh-CN" alt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B127930D-29B7-4288-9CE9-993F76EA5C43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905A1-66A8-41B4-8500-45B6E353A19E}" type="datetime1">
              <a:rPr lang="zh-CN" altLang="en-US"/>
              <a:t>2024/11/16</a:t>
            </a:fld>
            <a:endParaRPr lang="zh-CN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56F41-8DED-4DE8-A16A-5912936214B6}" type="slidenum">
              <a:rPr/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微软雅黑"/>
          <a:ea typeface="微软雅黑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微软雅黑"/>
          <a:ea typeface="微软雅黑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微软雅黑"/>
          <a:ea typeface="微软雅黑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微软雅黑"/>
          <a:ea typeface="微软雅黑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" y="0"/>
            <a:ext cx="12183781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188693" y="3558397"/>
            <a:ext cx="1778000" cy="8064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 sz="3600">
                <a:solidFill>
                  <a:srgbClr val="FF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</a:rPr>
              <a:t>术语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" y="1178349"/>
            <a:ext cx="12192000" cy="5679715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4679971" y="502622"/>
            <a:ext cx="17780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>
                <a:solidFill>
                  <a:srgbClr val="FF0000">
                    <a:alpha val="100000"/>
                  </a:srgbClr>
                </a:solidFill>
              </a:rPr>
              <a:t>通用术语缩写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0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370" y="41213"/>
            <a:ext cx="12236741" cy="6492938"/>
          </a:xfrm>
          <a:prstGeom prst="rect">
            <a:avLst/>
          </a:prstGeom>
        </p:spPr>
      </p:pic>
      <p:sp>
        <p:nvSpPr>
          <p:cNvPr id="102" name="文本框 101"/>
          <p:cNvSpPr txBox="1"/>
          <p:nvPr/>
        </p:nvSpPr>
        <p:spPr>
          <a:xfrm>
            <a:off x="3350815" y="882418"/>
            <a:ext cx="4458651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每个市场，不是趋势就是交易区间</a:t>
            </a:r>
            <a:endParaRPr/>
          </a:p>
        </p:txBody>
      </p:sp>
      <p:sp>
        <p:nvSpPr>
          <p:cNvPr id="103" name="文本框 102"/>
          <p:cNvSpPr txBox="1"/>
          <p:nvPr/>
        </p:nvSpPr>
        <p:spPr>
          <a:xfrm>
            <a:off x="2111013" y="5863925"/>
            <a:ext cx="17780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上涨始于突破</a:t>
            </a:r>
            <a:endParaRPr/>
          </a:p>
        </p:txBody>
      </p:sp>
      <p:sp>
        <p:nvSpPr>
          <p:cNvPr id="104" name="文本框 103"/>
          <p:cNvSpPr txBox="1"/>
          <p:nvPr/>
        </p:nvSpPr>
        <p:spPr>
          <a:xfrm>
            <a:off x="3133140" y="4631597"/>
            <a:ext cx="274955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回调，趋势通道开始</a:t>
            </a:r>
            <a:endParaRPr/>
          </a:p>
        </p:txBody>
      </p:sp>
      <p:sp>
        <p:nvSpPr>
          <p:cNvPr id="105" name="文本框 104"/>
          <p:cNvSpPr txBox="1"/>
          <p:nvPr/>
        </p:nvSpPr>
        <p:spPr>
          <a:xfrm>
            <a:off x="1580192" y="1690688"/>
            <a:ext cx="3630638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通道是更弱的上涨趋势</a:t>
            </a:r>
            <a:endParaRPr/>
          </a:p>
        </p:txBody>
      </p:sp>
      <p:sp>
        <p:nvSpPr>
          <p:cNvPr id="106" name="文本框 105"/>
          <p:cNvSpPr txBox="1"/>
          <p:nvPr/>
        </p:nvSpPr>
        <p:spPr>
          <a:xfrm>
            <a:off x="4764274" y="3868746"/>
            <a:ext cx="2663452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通道演变成交易区间</a:t>
            </a:r>
            <a:endParaRPr/>
          </a:p>
        </p:txBody>
      </p:sp>
      <p:sp>
        <p:nvSpPr>
          <p:cNvPr id="107" name="文本框 106"/>
          <p:cNvSpPr txBox="1"/>
          <p:nvPr/>
        </p:nvSpPr>
        <p:spPr>
          <a:xfrm>
            <a:off x="7069998" y="4890422"/>
            <a:ext cx="3632200" cy="8064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交易区间最终被突破，趋势延续或反转向下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11" name="图片 1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222"/>
            <a:ext cx="12192000" cy="6547555"/>
          </a:xfrm>
          <a:prstGeom prst="rect">
            <a:avLst/>
          </a:prstGeom>
        </p:spPr>
      </p:pic>
      <p:sp>
        <p:nvSpPr>
          <p:cNvPr id="112" name="文本框 111"/>
          <p:cNvSpPr txBox="1"/>
          <p:nvPr/>
        </p:nvSpPr>
        <p:spPr>
          <a:xfrm>
            <a:off x="5448939" y="313314"/>
            <a:ext cx="17780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 b="1">
                <a:solidFill>
                  <a:srgbClr val="FF0000">
                    <a:alpha val="100000"/>
                  </a:srgbClr>
                </a:solidFill>
              </a:rPr>
              <a:t>支撑和阻力</a:t>
            </a:r>
            <a:endParaRPr/>
          </a:p>
        </p:txBody>
      </p:sp>
      <p:sp>
        <p:nvSpPr>
          <p:cNvPr id="113" name="文本框 112"/>
          <p:cNvSpPr txBox="1"/>
          <p:nvPr/>
        </p:nvSpPr>
        <p:spPr>
          <a:xfrm>
            <a:off x="1563713" y="1519035"/>
            <a:ext cx="17780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支撑</a:t>
            </a:r>
            <a:endParaRPr/>
          </a:p>
        </p:txBody>
      </p:sp>
      <p:sp>
        <p:nvSpPr>
          <p:cNvPr id="114" name="文本框 113"/>
          <p:cNvSpPr txBox="1"/>
          <p:nvPr/>
        </p:nvSpPr>
        <p:spPr>
          <a:xfrm>
            <a:off x="1921134" y="3708234"/>
            <a:ext cx="17780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阻力</a:t>
            </a:r>
            <a:endParaRPr/>
          </a:p>
        </p:txBody>
      </p:sp>
      <p:sp>
        <p:nvSpPr>
          <p:cNvPr id="115" name="文本框 114"/>
          <p:cNvSpPr txBox="1"/>
          <p:nvPr/>
        </p:nvSpPr>
        <p:spPr>
          <a:xfrm>
            <a:off x="748349" y="3257384"/>
            <a:ext cx="3040139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下跌大概停止或反转</a:t>
            </a:r>
            <a:endParaRPr/>
          </a:p>
        </p:txBody>
      </p:sp>
      <p:sp>
        <p:nvSpPr>
          <p:cNvPr id="116" name="文本框 115"/>
          <p:cNvSpPr txBox="1"/>
          <p:nvPr/>
        </p:nvSpPr>
        <p:spPr>
          <a:xfrm>
            <a:off x="580808" y="5629368"/>
            <a:ext cx="3118325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上涨大概停止或反转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9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20" name="图片 1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222"/>
            <a:ext cx="12192000" cy="6547555"/>
          </a:xfrm>
          <a:prstGeom prst="rect">
            <a:avLst/>
          </a:prstGeom>
        </p:spPr>
      </p:pic>
      <p:sp>
        <p:nvSpPr>
          <p:cNvPr id="121" name="文本框 120"/>
          <p:cNvSpPr txBox="1"/>
          <p:nvPr/>
        </p:nvSpPr>
        <p:spPr>
          <a:xfrm>
            <a:off x="2355391" y="238651"/>
            <a:ext cx="17780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突破</a:t>
            </a:r>
            <a:endParaRPr/>
          </a:p>
        </p:txBody>
      </p:sp>
      <p:sp>
        <p:nvSpPr>
          <p:cNvPr id="122" name="文本框 121"/>
          <p:cNvSpPr txBox="1"/>
          <p:nvPr/>
        </p:nvSpPr>
        <p:spPr>
          <a:xfrm>
            <a:off x="6391721" y="1265893"/>
            <a:ext cx="2120900" cy="15176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在下跌突破失败后，</a:t>
            </a:r>
            <a:endParaRPr/>
          </a:p>
          <a:p>
            <a:r>
              <a:rPr lang="zh-CN"/>
              <a:t>成功的上涨突破</a:t>
            </a:r>
            <a:endParaRPr/>
          </a:p>
          <a:p>
            <a:r>
              <a:rPr lang="zh-CN"/>
              <a:t>到交易区间上方</a:t>
            </a:r>
            <a:endParaRPr/>
          </a:p>
          <a:p>
            <a:endParaRPr lang="en-US"/>
          </a:p>
        </p:txBody>
      </p:sp>
      <p:sp>
        <p:nvSpPr>
          <p:cNvPr id="123" name="文本框 122"/>
          <p:cNvSpPr txBox="1"/>
          <p:nvPr/>
        </p:nvSpPr>
        <p:spPr>
          <a:xfrm>
            <a:off x="446175" y="1182883"/>
            <a:ext cx="4672951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定义：价格移动超越了支撑或者阻力</a:t>
            </a:r>
            <a:endParaRPr/>
          </a:p>
        </p:txBody>
      </p:sp>
      <p:sp>
        <p:nvSpPr>
          <p:cNvPr id="124" name="文本框 123"/>
          <p:cNvSpPr txBox="1"/>
          <p:nvPr/>
        </p:nvSpPr>
        <p:spPr>
          <a:xfrm>
            <a:off x="518809" y="2604419"/>
            <a:ext cx="3272168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失败则延续交易区间</a:t>
            </a:r>
            <a:endParaRPr/>
          </a:p>
        </p:txBody>
      </p:sp>
      <p:sp>
        <p:nvSpPr>
          <p:cNvPr id="125" name="文本框 124"/>
          <p:cNvSpPr txBox="1"/>
          <p:nvPr/>
        </p:nvSpPr>
        <p:spPr>
          <a:xfrm>
            <a:off x="518809" y="4001294"/>
            <a:ext cx="3002388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成功则变为新的趋势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8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29" name="图片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578"/>
            <a:ext cx="12192000" cy="65588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2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33" name="图片 1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" y="143997"/>
            <a:ext cx="12192000" cy="6570132"/>
          </a:xfrm>
          <a:prstGeom prst="rect">
            <a:avLst/>
          </a:prstGeom>
        </p:spPr>
      </p:pic>
      <p:sp>
        <p:nvSpPr>
          <p:cNvPr id="134" name="文本框 133"/>
          <p:cNvSpPr txBox="1"/>
          <p:nvPr/>
        </p:nvSpPr>
        <p:spPr>
          <a:xfrm>
            <a:off x="4845671" y="280157"/>
            <a:ext cx="2836369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两种</a:t>
            </a:r>
            <a:r>
              <a:rPr lang="en-US"/>
              <a:t>K</a:t>
            </a:r>
            <a:r>
              <a:rPr lang="zh-CN"/>
              <a:t>线（蜡烛类型）</a:t>
            </a:r>
            <a:endParaRPr/>
          </a:p>
        </p:txBody>
      </p:sp>
      <p:sp>
        <p:nvSpPr>
          <p:cNvPr id="135" name="文本框 134"/>
          <p:cNvSpPr txBox="1"/>
          <p:nvPr/>
        </p:nvSpPr>
        <p:spPr>
          <a:xfrm>
            <a:off x="1971472" y="1535673"/>
            <a:ext cx="17780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趋势</a:t>
            </a:r>
            <a:r>
              <a:rPr lang="en-US"/>
              <a:t>K</a:t>
            </a:r>
            <a:endParaRPr/>
          </a:p>
        </p:txBody>
      </p:sp>
      <p:sp>
        <p:nvSpPr>
          <p:cNvPr id="136" name="文本框 135"/>
          <p:cNvSpPr txBox="1"/>
          <p:nvPr/>
        </p:nvSpPr>
        <p:spPr>
          <a:xfrm>
            <a:off x="3067671" y="3704293"/>
            <a:ext cx="17780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区间</a:t>
            </a:r>
            <a:r>
              <a:rPr lang="en-US"/>
              <a:t>K</a:t>
            </a:r>
            <a:endParaRPr/>
          </a:p>
        </p:txBody>
      </p:sp>
      <p:sp>
        <p:nvSpPr>
          <p:cNvPr id="137" name="文本框 136"/>
          <p:cNvSpPr txBox="1"/>
          <p:nvPr/>
        </p:nvSpPr>
        <p:spPr>
          <a:xfrm>
            <a:off x="643323" y="2604419"/>
            <a:ext cx="17780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影线短</a:t>
            </a:r>
            <a:endParaRPr/>
          </a:p>
        </p:txBody>
      </p:sp>
      <p:sp>
        <p:nvSpPr>
          <p:cNvPr id="138" name="文本框 137"/>
          <p:cNvSpPr txBox="1"/>
          <p:nvPr/>
        </p:nvSpPr>
        <p:spPr>
          <a:xfrm>
            <a:off x="643323" y="5478618"/>
            <a:ext cx="267035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影线明显，实体小</a:t>
            </a:r>
            <a:endParaRPr/>
          </a:p>
        </p:txBody>
      </p:sp>
      <p:sp>
        <p:nvSpPr>
          <p:cNvPr id="139" name="文本框 138"/>
          <p:cNvSpPr txBox="1"/>
          <p:nvPr/>
        </p:nvSpPr>
        <p:spPr>
          <a:xfrm>
            <a:off x="4202349" y="1287463"/>
            <a:ext cx="3390413" cy="8064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>
                <a:solidFill>
                  <a:srgbClr val="FF0000">
                    <a:alpha val="100000"/>
                  </a:srgbClr>
                </a:solidFill>
              </a:rPr>
              <a:t>个人理解：也就是将价格进行有效推动的K线就是趋势</a:t>
            </a:r>
            <a:r>
              <a:rPr lang="en-US">
                <a:solidFill>
                  <a:srgbClr val="FF0000">
                    <a:alpha val="100000"/>
                  </a:srgbClr>
                </a:solidFill>
              </a:rPr>
              <a:t>K</a:t>
            </a:r>
            <a:r>
              <a:rPr lang="zh-CN">
                <a:solidFill>
                  <a:srgbClr val="FF0000">
                    <a:alpha val="100000"/>
                  </a:srgbClr>
                </a:solidFill>
              </a:rPr>
              <a:t>线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2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43" name="图片 1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289"/>
            <a:ext cx="12192000" cy="6581422"/>
          </a:xfrm>
          <a:prstGeom prst="rect">
            <a:avLst/>
          </a:prstGeom>
        </p:spPr>
      </p:pic>
      <p:sp>
        <p:nvSpPr>
          <p:cNvPr id="144" name="文本框 143"/>
          <p:cNvSpPr txBox="1"/>
          <p:nvPr/>
        </p:nvSpPr>
        <p:spPr>
          <a:xfrm>
            <a:off x="383918" y="902727"/>
            <a:ext cx="315803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技术分析和基本面分析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7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48" name="图片 1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933"/>
            <a:ext cx="12192000" cy="6570132"/>
          </a:xfrm>
          <a:prstGeom prst="rect">
            <a:avLst/>
          </a:prstGeom>
        </p:spPr>
      </p:pic>
      <p:sp>
        <p:nvSpPr>
          <p:cNvPr id="149" name="文本框 148"/>
          <p:cNvSpPr txBox="1"/>
          <p:nvPr/>
        </p:nvSpPr>
        <p:spPr>
          <a:xfrm>
            <a:off x="332733" y="859561"/>
            <a:ext cx="40386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上涨趋势中的</a:t>
            </a:r>
            <a:r>
              <a:rPr lang="en-US"/>
              <a:t>ABC</a:t>
            </a:r>
            <a:r>
              <a:rPr lang="zh-CN"/>
              <a:t>回调：</a:t>
            </a:r>
            <a:r>
              <a:rPr lang="en-US"/>
              <a:t>2</a:t>
            </a:r>
            <a:r>
              <a:rPr lang="zh-CN"/>
              <a:t>腿单边向下</a:t>
            </a:r>
            <a:endParaRPr/>
          </a:p>
        </p:txBody>
      </p:sp>
      <p:sp>
        <p:nvSpPr>
          <p:cNvPr id="150" name="文本框 149"/>
          <p:cNvSpPr txBox="1"/>
          <p:nvPr/>
        </p:nvSpPr>
        <p:spPr>
          <a:xfrm>
            <a:off x="2745049" y="1534270"/>
            <a:ext cx="3515606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上涨趋势中，找高</a:t>
            </a:r>
            <a:r>
              <a:rPr lang="en-US"/>
              <a:t>2</a:t>
            </a:r>
            <a:r>
              <a:rPr lang="zh-CN"/>
              <a:t>回调</a:t>
            </a:r>
            <a:endParaRPr/>
          </a:p>
        </p:txBody>
      </p:sp>
      <p:sp>
        <p:nvSpPr>
          <p:cNvPr id="151" name="文本框 150"/>
          <p:cNvSpPr txBox="1"/>
          <p:nvPr/>
        </p:nvSpPr>
        <p:spPr>
          <a:xfrm>
            <a:off x="674709" y="3364302"/>
            <a:ext cx="47117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高</a:t>
            </a:r>
            <a:r>
              <a:rPr lang="en-US"/>
              <a:t>2</a:t>
            </a:r>
            <a:r>
              <a:rPr lang="zh-CN"/>
              <a:t>信号线最高价买入</a:t>
            </a:r>
            <a:endParaRPr/>
          </a:p>
        </p:txBody>
      </p:sp>
      <p:sp>
        <p:nvSpPr>
          <p:cNvPr id="152" name="文本框 151"/>
          <p:cNvSpPr txBox="1"/>
          <p:nvPr/>
        </p:nvSpPr>
        <p:spPr>
          <a:xfrm>
            <a:off x="435352" y="4584324"/>
            <a:ext cx="367665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>
                <a:solidFill>
                  <a:srgbClr val="FF0000">
                    <a:alpha val="100000"/>
                  </a:srgbClr>
                </a:solidFill>
              </a:rPr>
              <a:t>个人理解：高</a:t>
            </a:r>
            <a:r>
              <a:rPr lang="en-US">
                <a:solidFill>
                  <a:srgbClr val="FF0000">
                    <a:alpha val="100000"/>
                  </a:srgbClr>
                </a:solidFill>
              </a:rPr>
              <a:t>2</a:t>
            </a:r>
            <a:r>
              <a:rPr lang="zh-CN">
                <a:solidFill>
                  <a:srgbClr val="FF0000">
                    <a:alpha val="100000"/>
                  </a:srgbClr>
                </a:solidFill>
              </a:rPr>
              <a:t>其实是找双底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222"/>
            <a:ext cx="12192000" cy="654755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71371" y="2264434"/>
            <a:ext cx="327025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>
                <a:highlight>
                  <a:srgbClr val="FFFF00">
                    <a:alpha val="100000"/>
                  </a:srgbClr>
                </a:highlight>
              </a:rPr>
              <a:t>下降趋势，寻找低</a:t>
            </a:r>
            <a:r>
              <a:rPr lang="en-US">
                <a:highlight>
                  <a:srgbClr val="FFFF00">
                    <a:alpha val="100000"/>
                  </a:srgbClr>
                </a:highlight>
              </a:rPr>
              <a:t>2</a:t>
            </a:r>
            <a:endParaRPr/>
          </a:p>
        </p:txBody>
      </p:sp>
      <p:sp>
        <p:nvSpPr>
          <p:cNvPr id="11" name="文本框 10"/>
          <p:cNvSpPr txBox="1"/>
          <p:nvPr/>
        </p:nvSpPr>
        <p:spPr>
          <a:xfrm>
            <a:off x="610011" y="3641580"/>
            <a:ext cx="366395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>
                <a:highlight>
                  <a:srgbClr val="FFFF00">
                    <a:alpha val="100000"/>
                  </a:srgbClr>
                </a:highlight>
              </a:rPr>
              <a:t>在信号线最低价限价卖出</a:t>
            </a:r>
            <a:endParaRPr/>
          </a:p>
        </p:txBody>
      </p:sp>
      <p:sp>
        <p:nvSpPr>
          <p:cNvPr id="12" name="文本框 11"/>
          <p:cNvSpPr txBox="1"/>
          <p:nvPr/>
        </p:nvSpPr>
        <p:spPr>
          <a:xfrm>
            <a:off x="1275477" y="4676749"/>
            <a:ext cx="4606231" cy="450850"/>
          </a:xfrm>
          <a:prstGeom prst="rect">
            <a:avLst/>
          </a:prstGeom>
          <a:solidFill>
            <a:srgbClr val="0188FB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>
                <a:solidFill>
                  <a:srgbClr val="FF0000">
                    <a:alpha val="100000"/>
                  </a:srgbClr>
                </a:solidFill>
              </a:rPr>
              <a:t>个人理解：两腿向上回调，也就是找双顶</a:t>
            </a:r>
            <a:endParaRPr/>
          </a:p>
        </p:txBody>
      </p:sp>
      <p:sp>
        <p:nvSpPr>
          <p:cNvPr id="13" name="文本框 12"/>
          <p:cNvSpPr txBox="1"/>
          <p:nvPr/>
        </p:nvSpPr>
        <p:spPr>
          <a:xfrm>
            <a:off x="841075" y="841075"/>
            <a:ext cx="741045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下降趋势中的</a:t>
            </a:r>
            <a:r>
              <a:rPr lang="en-US"/>
              <a:t>ABC</a:t>
            </a:r>
            <a:r>
              <a:rPr lang="zh-CN"/>
              <a:t>回调：</a:t>
            </a:r>
            <a:r>
              <a:rPr lang="en-US"/>
              <a:t>2</a:t>
            </a:r>
            <a:r>
              <a:rPr lang="zh-CN"/>
              <a:t>腿单边向上（</a:t>
            </a:r>
            <a:r>
              <a:rPr lang="en-US"/>
              <a:t>2</a:t>
            </a:r>
            <a:r>
              <a:rPr lang="zh-CN"/>
              <a:t>退回调）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511"/>
            <a:ext cx="12192000" cy="6524977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54556" y="905774"/>
            <a:ext cx="5327650" cy="450850"/>
          </a:xfrm>
          <a:prstGeom prst="rect">
            <a:avLst/>
          </a:prstGeom>
          <a:ln w="12700">
            <a:prstDash val="solid"/>
            <a:miter lim="800000"/>
          </a:ln>
          <a:effectLst>
            <a:outerShdw blurRad="76200" dist="127000" dir="2700000">
              <a:srgbClr val="00000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r>
              <a:rPr lang="zh-CN">
                <a:highlight>
                  <a:srgbClr val="FFFF00">
                    <a:alpha val="100000"/>
                  </a:srgbClr>
                </a:highlight>
              </a:rPr>
              <a:t>次级趋势反转：通常形成交易区间中的腿</a:t>
            </a:r>
            <a:endParaRPr/>
          </a:p>
        </p:txBody>
      </p:sp>
      <p:sp>
        <p:nvSpPr>
          <p:cNvPr id="19" name="文本框 18"/>
          <p:cNvSpPr txBox="1"/>
          <p:nvPr/>
        </p:nvSpPr>
        <p:spPr>
          <a:xfrm>
            <a:off x="554556" y="1903973"/>
            <a:ext cx="17780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下降趋势回调</a:t>
            </a:r>
            <a:endParaRPr/>
          </a:p>
        </p:txBody>
      </p:sp>
      <p:sp>
        <p:nvSpPr>
          <p:cNvPr id="20" name="文本框 19"/>
          <p:cNvSpPr txBox="1"/>
          <p:nvPr/>
        </p:nvSpPr>
        <p:spPr>
          <a:xfrm>
            <a:off x="656224" y="2661865"/>
            <a:ext cx="17780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下降趋势延续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511"/>
            <a:ext cx="12192000" cy="6524977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838200" y="1027907"/>
            <a:ext cx="38608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>
                <a:highlight>
                  <a:srgbClr val="FFFF00">
                    <a:alpha val="100000"/>
                  </a:srgbClr>
                </a:highlight>
              </a:rPr>
              <a:t>主要趋势反转：熊转牛</a:t>
            </a:r>
            <a:endParaRPr/>
          </a:p>
        </p:txBody>
      </p:sp>
      <p:sp>
        <p:nvSpPr>
          <p:cNvPr id="26" name="文本框 25"/>
          <p:cNvSpPr txBox="1"/>
          <p:nvPr/>
        </p:nvSpPr>
        <p:spPr>
          <a:xfrm>
            <a:off x="499099" y="3271876"/>
            <a:ext cx="2554377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下降趋势变为上涨趋势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85" y="63"/>
            <a:ext cx="11394830" cy="685800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693194" y="1062898"/>
            <a:ext cx="49911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>
                <a:highlight>
                  <a:srgbClr val="FFFF00">
                    <a:alpha val="100000"/>
                  </a:srgbClr>
                </a:highlight>
              </a:rPr>
              <a:t>主要趋势反转：牛转熊</a:t>
            </a:r>
            <a:endParaRPr/>
          </a:p>
        </p:txBody>
      </p:sp>
      <p:sp>
        <p:nvSpPr>
          <p:cNvPr id="32" name="文本框 31"/>
          <p:cNvSpPr txBox="1"/>
          <p:nvPr/>
        </p:nvSpPr>
        <p:spPr>
          <a:xfrm>
            <a:off x="5582523" y="907323"/>
            <a:ext cx="3275299" cy="311150"/>
          </a:xfrm>
          <a:prstGeom prst="rect">
            <a:avLst/>
          </a:prstGeom>
          <a:solidFill>
            <a:srgbClr val="0188FB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 sz="1100"/>
              <a:t>说是次级反转，是因为后续上涨趋势延续了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222"/>
            <a:ext cx="12192000" cy="6547555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397431" y="859561"/>
            <a:ext cx="17780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内包线和外包线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85" y="0"/>
            <a:ext cx="11394830" cy="685800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804105" y="896531"/>
            <a:ext cx="17780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>
                <a:solidFill>
                  <a:srgbClr val="FF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</a:rPr>
              <a:t>内包线和外包线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5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85" y="0"/>
            <a:ext cx="11394830" cy="6858000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2172008" y="896531"/>
            <a:ext cx="25019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>
                <a:solidFill>
                  <a:srgbClr val="FF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</a:rPr>
              <a:t>刮头皮和波段交易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2"/>
            <a:ext cx="12192000" cy="68523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4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2"/>
            <a:ext cx="12192000" cy="68523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8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" y="0"/>
            <a:ext cx="121837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" y="0"/>
            <a:ext cx="121837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9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70" name="图片 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" y="0"/>
            <a:ext cx="121837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" y="0"/>
            <a:ext cx="121837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7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78" name="图片 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" y="0"/>
            <a:ext cx="12183781" cy="6858000"/>
          </a:xfrm>
          <a:prstGeom prst="rect">
            <a:avLst/>
          </a:prstGeom>
        </p:spPr>
      </p:pic>
      <p:sp>
        <p:nvSpPr>
          <p:cNvPr id="79" name="文本框 78"/>
          <p:cNvSpPr txBox="1"/>
          <p:nvPr/>
        </p:nvSpPr>
        <p:spPr>
          <a:xfrm>
            <a:off x="610011" y="802482"/>
            <a:ext cx="3397250" cy="5651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 sz="2400">
                <a:solidFill>
                  <a:srgbClr val="FF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</a:rPr>
              <a:t>入场</a:t>
            </a:r>
            <a:r>
              <a:rPr lang="en-US" sz="2400">
                <a:solidFill>
                  <a:srgbClr val="FF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</a:rPr>
              <a:t>K</a:t>
            </a:r>
            <a:r>
              <a:rPr lang="zh-CN" sz="2400">
                <a:solidFill>
                  <a:srgbClr val="FF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</a:rPr>
              <a:t>和信号</a:t>
            </a:r>
            <a:r>
              <a:rPr lang="en-US" sz="2400">
                <a:solidFill>
                  <a:srgbClr val="FF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</a:rPr>
              <a:t>K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2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" y="0"/>
            <a:ext cx="12183781" cy="6858000"/>
          </a:xfrm>
          <a:prstGeom prst="rect">
            <a:avLst/>
          </a:prstGeom>
        </p:spPr>
      </p:pic>
      <p:sp>
        <p:nvSpPr>
          <p:cNvPr id="84" name="文本框 83"/>
          <p:cNvSpPr txBox="1"/>
          <p:nvPr/>
        </p:nvSpPr>
        <p:spPr>
          <a:xfrm>
            <a:off x="536070" y="767135"/>
            <a:ext cx="594995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>
                <a:solidFill>
                  <a:srgbClr val="FF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</a:rPr>
              <a:t>顺势交易和逆势交易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7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88" name="图片 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" y="0"/>
            <a:ext cx="12183781" cy="6858000"/>
          </a:xfrm>
          <a:prstGeom prst="rect">
            <a:avLst/>
          </a:prstGeom>
        </p:spPr>
      </p:pic>
      <p:sp>
        <p:nvSpPr>
          <p:cNvPr id="89" name="文本框 88"/>
          <p:cNvSpPr txBox="1"/>
          <p:nvPr/>
        </p:nvSpPr>
        <p:spPr>
          <a:xfrm>
            <a:off x="378946" y="767135"/>
            <a:ext cx="55499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>
                <a:solidFill>
                  <a:srgbClr val="FF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</a:rPr>
              <a:t>上下文：所有左侧的</a:t>
            </a:r>
            <a:r>
              <a:rPr lang="en-US">
                <a:solidFill>
                  <a:srgbClr val="FF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</a:rPr>
              <a:t>K</a:t>
            </a:r>
            <a:r>
              <a:rPr lang="zh-CN">
                <a:solidFill>
                  <a:srgbClr val="FF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</a:rPr>
              <a:t>线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93" name="图片 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" y="0"/>
            <a:ext cx="121837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6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97" name="图片 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" y="0"/>
            <a:ext cx="1218378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腾讯文档 默认主题">
  <a:themeElements>
    <a:clrScheme name="Tencent">
      <a:dk1>
        <a:sysClr val="windowText" lastClr="000000"/>
      </a:dk1>
      <a:lt1>
        <a:sysClr val="window" lastClr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默认字体" panose="020F0302020204030204"/>
        <a:ea typeface=""/>
        <a:cs typeface=""/>
        <a:font script="Jpan" typeface="游ゴシック Light"/>
        <a:font script="Hang" typeface="맑은 고딕"/>
        <a:font script="Hans" typeface="默认字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默认字体" panose="020F0502020204030204"/>
        <a:ea typeface=""/>
        <a:cs typeface=""/>
        <a:font script="Jpan" typeface="游ゴシック"/>
        <a:font script="Hang" typeface="맑은 고딕"/>
        <a:font script="Hans" typeface="默认字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</Words>
  <Application>Microsoft Office PowerPoint</Application>
  <PresentationFormat>宽屏</PresentationFormat>
  <Paragraphs>48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1" baseType="lpstr">
      <vt:lpstr>默认字体</vt:lpstr>
      <vt:lpstr>微软雅黑</vt:lpstr>
      <vt:lpstr>Arial</vt:lpstr>
      <vt:lpstr>腾讯文档 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润庭 邓</cp:lastModifiedBy>
  <cp:revision>1</cp:revision>
  <dcterms:created xsi:type="dcterms:W3CDTF">2024-11-15T15:27:00Z</dcterms:created>
  <dcterms:modified xsi:type="dcterms:W3CDTF">2024-11-16T09:59:39Z</dcterms:modified>
</cp:coreProperties>
</file>