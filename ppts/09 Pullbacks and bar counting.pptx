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notesSlides/notesSlide4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50.xml" ContentType="application/vnd.openxmlformats-officedocument.presentationml.slide+xml"/>
  <Override PartName="/ppt/slides/slide52.xml" ContentType="application/vnd.openxmlformats-officedocument.presentationml.slide+xml"/>
  <Override PartName="/ppt/slides/slide14.xml" ContentType="application/vnd.openxmlformats-officedocument.presentationml.slide+xml"/>
  <Override PartName="/ppt/slides/slide57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56.xml" ContentType="application/vnd.openxmlformats-officedocument.presentationml.slide+xml"/>
  <Override PartName="/ppt/slides/slide68.xml" ContentType="application/vnd.openxmlformats-officedocument.presentationml.slide+xml"/>
  <Override PartName="/ppt/slides/slide63.xml" ContentType="application/vnd.openxmlformats-officedocument.presentationml.slide+xml"/>
  <Override PartName="/ppt/slides/slide66.xml" ContentType="application/vnd.openxmlformats-officedocument.presentationml.slide+xml"/>
  <Override PartName="/ppt/slides/slide51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4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5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61.xml" ContentType="application/vnd.openxmlformats-officedocument.presentationml.slide+xml"/>
  <Override PartName="/ppt/slides/slide35.xml" ContentType="application/vnd.openxmlformats-officedocument.presentationml.slide+xml"/>
  <Override PartName="/ppt/slides/slide18.xml" ContentType="application/vnd.openxmlformats-officedocument.presentationml.slide+xml"/>
  <Override PartName="/ppt/slides/slide64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slides/slide33.xml" ContentType="application/vnd.openxmlformats-officedocument.presentationml.slide+xml"/>
  <Override PartName="/ppt/slides/slide47.xml" ContentType="application/vnd.openxmlformats-officedocument.presentationml.slide+xml"/>
  <Override PartName="/ppt/slides/slide62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53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67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6.xml" ContentType="application/vnd.openxmlformats-officedocument.presentationml.slide+xml"/>
  <Override PartName="/ppt/slides/slide23.xml" ContentType="application/vnd.openxmlformats-officedocument.presentationml.slide+xml"/>
  <Override PartName="/ppt/slides/slide54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2.xml" ContentType="application/vnd.openxmlformats-officedocument.presentationml.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slides/slide34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6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What is a pullback(PB)" id="{F67B527E-59C1-4C6E-98A1-9AD6FAC256C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What is bar counting?" id="{AEEA4EDC-8CAE-480B-9DFD-015AA07FFD29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Double Top Bear Flags, and Double Bottom Bull Flags" id="{9ABF9C5E-E997-40D2-8AC5-82EA3ED0CD2D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High 4 and Low 4 Consecutive reversals" id="{33EC20CA-EAB6-4892-990A-2DB99F8E5D5E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Endless pullback" id="{DAA0AFDB-042E-4C90-9964-5E79DBABB522}">
          <p14:sldIdLst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Higher and lower time frames" id="{9C15AA74-FD71-40F7-8FAB-810E833201FA}">
          <p14:sldIdLst>
            <p14:sldId id="311"/>
            <p14:sldId id="312"/>
            <p14:sldId id="313"/>
            <p14:sldId id="314"/>
            <p14:sldId id="315"/>
          </p14:sldIdLst>
        </p14:section>
        <p14:section name="Countertrend traders exit on High or Low 2" id="{F0779FC6-0B76-412D-9879-D43DAFB15CA3}">
          <p14:sldIdLst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</p14:section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0" Type="http://schemas.openxmlformats.org/officeDocument/2006/relationships/tableStyles" Target="tableStyles.xml" /><Relationship Id="rId7" Type="http://schemas.openxmlformats.org/officeDocument/2006/relationships/slide" Target="slides/slide7.xml" /><Relationship Id="rId68" Type="http://schemas.openxmlformats.org/officeDocument/2006/relationships/slide" Target="slides/slide68.xml" /><Relationship Id="rId61" Type="http://schemas.openxmlformats.org/officeDocument/2006/relationships/slide" Target="slides/slide61.xml" /><Relationship Id="rId60" Type="http://schemas.openxmlformats.org/officeDocument/2006/relationships/slide" Target="slides/slide60.xml" /><Relationship Id="rId64" Type="http://schemas.openxmlformats.org/officeDocument/2006/relationships/slide" Target="slides/slide64.xml" /><Relationship Id="rId56" Type="http://schemas.openxmlformats.org/officeDocument/2006/relationships/slide" Target="slides/slide56.xml" /><Relationship Id="rId63" Type="http://schemas.openxmlformats.org/officeDocument/2006/relationships/slide" Target="slides/slide63.xml" /><Relationship Id="rId55" Type="http://schemas.openxmlformats.org/officeDocument/2006/relationships/slide" Target="slides/slide55.xml" /><Relationship Id="rId52" Type="http://schemas.openxmlformats.org/officeDocument/2006/relationships/slide" Target="slides/slide52.xml" /><Relationship Id="rId51" Type="http://schemas.openxmlformats.org/officeDocument/2006/relationships/slide" Target="slides/slide51.xml" /><Relationship Id="rId50" Type="http://schemas.openxmlformats.org/officeDocument/2006/relationships/slide" Target="slides/slide50.xml" /><Relationship Id="rId49" Type="http://schemas.openxmlformats.org/officeDocument/2006/relationships/slide" Target="slides/slide49.xml" /><Relationship Id="rId65" Type="http://schemas.openxmlformats.org/officeDocument/2006/relationships/slide" Target="slides/slide65.xml" /><Relationship Id="rId57" Type="http://schemas.openxmlformats.org/officeDocument/2006/relationships/slide" Target="slides/slide57.xml" /><Relationship Id="rId48" Type="http://schemas.openxmlformats.org/officeDocument/2006/relationships/slide" Target="slides/slide48.xml" /><Relationship Id="rId46" Type="http://schemas.openxmlformats.org/officeDocument/2006/relationships/slide" Target="slides/slide46.xml" /><Relationship Id="rId45" Type="http://schemas.openxmlformats.org/officeDocument/2006/relationships/slide" Target="slides/slide45.xml" /><Relationship Id="rId69" Type="http://schemas.openxmlformats.org/officeDocument/2006/relationships/notesMaster" Target="notesMasters/notesMaster1.xml" /><Relationship Id="rId43" Type="http://schemas.openxmlformats.org/officeDocument/2006/relationships/slide" Target="slides/slide43.xml" /><Relationship Id="rId42" Type="http://schemas.openxmlformats.org/officeDocument/2006/relationships/slide" Target="slides/slide42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Relationship Id="rId1" Type="http://schemas.openxmlformats.org/officeDocument/2006/relationships/slide" Target="slides/slide1.xml" /><Relationship Id="rId67" Type="http://schemas.openxmlformats.org/officeDocument/2006/relationships/slide" Target="slides/slide67.xml" /><Relationship Id="rId62" Type="http://schemas.openxmlformats.org/officeDocument/2006/relationships/slide" Target="slides/slide62.xml" /><Relationship Id="rId28" Type="http://schemas.openxmlformats.org/officeDocument/2006/relationships/slide" Target="slides/slide28.xml" /><Relationship Id="rId19" Type="http://schemas.openxmlformats.org/officeDocument/2006/relationships/slide" Target="slides/slide19.xml" /><Relationship Id="rId17" Type="http://schemas.openxmlformats.org/officeDocument/2006/relationships/slide" Target="slides/slide17.xml" /><Relationship Id="rId36" Type="http://schemas.openxmlformats.org/officeDocument/2006/relationships/slide" Target="slides/slide36.xml" /><Relationship Id="rId21" Type="http://schemas.openxmlformats.org/officeDocument/2006/relationships/slide" Target="slides/slide21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41" Type="http://schemas.openxmlformats.org/officeDocument/2006/relationships/slide" Target="slides/slide41.xml" /><Relationship Id="rId14" Type="http://schemas.openxmlformats.org/officeDocument/2006/relationships/slide" Target="slides/slide14.xml" /><Relationship Id="rId54" Type="http://schemas.openxmlformats.org/officeDocument/2006/relationships/slide" Target="slides/slide54.xml" /><Relationship Id="rId33" Type="http://schemas.openxmlformats.org/officeDocument/2006/relationships/slide" Target="slides/slide33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12" Type="http://schemas.openxmlformats.org/officeDocument/2006/relationships/slide" Target="slides/slide12.xml" /><Relationship Id="rId22" Type="http://schemas.openxmlformats.org/officeDocument/2006/relationships/slide" Target="slides/slide22.xml" /><Relationship Id="rId66" Type="http://schemas.openxmlformats.org/officeDocument/2006/relationships/slide" Target="slides/slide66.xml" /><Relationship Id="rId58" Type="http://schemas.openxmlformats.org/officeDocument/2006/relationships/slide" Target="slides/slide58.xml" /><Relationship Id="rId25" Type="http://schemas.openxmlformats.org/officeDocument/2006/relationships/slide" Target="slides/slide25.xml" /><Relationship Id="rId59" Type="http://schemas.openxmlformats.org/officeDocument/2006/relationships/slide" Target="slides/slide59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6" Type="http://schemas.openxmlformats.org/officeDocument/2006/relationships/slide" Target="slides/slide26.xml" /><Relationship Id="rId47" Type="http://schemas.openxmlformats.org/officeDocument/2006/relationships/slide" Target="slides/slide47.xml" /><Relationship Id="rId27" Type="http://schemas.openxmlformats.org/officeDocument/2006/relationships/slide" Target="slides/slide27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4" Type="http://schemas.openxmlformats.org/officeDocument/2006/relationships/slide" Target="slides/slide34.xml" /><Relationship Id="rId31" Type="http://schemas.openxmlformats.org/officeDocument/2006/relationships/slide" Target="slides/slide31.xml" /><Relationship Id="rId39" Type="http://schemas.openxmlformats.org/officeDocument/2006/relationships/slide" Target="slides/slide39.xml" /><Relationship Id="rId32" Type="http://schemas.openxmlformats.org/officeDocument/2006/relationships/slide" Target="slides/slide32.xml" /><Relationship Id="rId53" Type="http://schemas.openxmlformats.org/officeDocument/2006/relationships/slide" Target="slides/slide53.xml" /><Relationship Id="rId35" Type="http://schemas.openxmlformats.org/officeDocument/2006/relationships/slide" Target="slides/slide35.xml" /><Relationship Id="rId8" Type="http://schemas.openxmlformats.org/officeDocument/2006/relationships/slide" Target="slides/slide8.xml" /><Relationship Id="rId37" Type="http://schemas.openxmlformats.org/officeDocument/2006/relationships/slide" Target="slides/slide37.xml" /><Relationship Id="rId38" Type="http://schemas.openxmlformats.org/officeDocument/2006/relationships/slide" Target="slides/slide38.xml" /><Relationship Id="rId4" Type="http://schemas.openxmlformats.org/officeDocument/2006/relationships/slide" Target="slides/slide4.xml" /><Relationship Id="rId44" Type="http://schemas.openxmlformats.org/officeDocument/2006/relationships/slide" Target="slides/slide44.xml" /><Relationship Id="rId40" Type="http://schemas.openxmlformats.org/officeDocument/2006/relationships/slide" Target="slides/slide4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6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3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4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1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2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3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4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8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In a bull trend, like we have over here, a pullback is when the low of a bar goes below the low of the prior bar.</a:t>
            </a: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The first time the bar went above the high of the prior bar.</a:t>
            </a: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So sometimes the pullback can grow into a reversal and no longer be a pullback.</a:t>
            </a:r>
            <a:endParaRPr/>
          </a:p>
          <a:p>
            <a:pPr/>
            <a:endParaRPr lang="en-US"/>
          </a:p>
          <a:p>
            <a:pPr/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In a bull trend, if the high of the next bar goes above the high of the current bar, then the current bar becomes the buy signal bar. So here we have a bull trend and a pullback</a:t>
            </a: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This is an inferred or an implied pullback on a lower time frame chart, just as this as well</a:t>
            </a:r>
            <a:endParaRPr/>
          </a:p>
          <a:p>
            <a:pPr/>
            <a:endParaRPr lang="en-US"/>
          </a:p>
          <a:p>
            <a:pPr/>
            <a:r>
              <a:rPr/>
              <a:t>That's important because pullbacks tell you that the trend is probably going to resume soon,</a:t>
            </a: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The purpose of looking for pullbacks in trends is they give traders a high probability trade.</a:t>
            </a:r>
            <a:endParaRPr/>
          </a:p>
          <a:p>
            <a:pPr/>
            <a:endParaRPr lang="en-US"/>
          </a:p>
          <a:p>
            <a:pPr/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Strong bull trends are always forming wedges.</a:t>
            </a: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I'm first going to be talking about endless pullbacks, pullbacks that just continue to grow until they become an opposite trend.</a:t>
            </a: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In general, whenever you have a bull flag, only a 40% chance of a bear breakout. </a:t>
            </a:r>
            <a:endParaRPr/>
          </a:p>
          <a:p>
            <a:pPr/>
            <a:r>
              <a:rPr/>
              <a:t>But once the bull flag, the bear channel, reaches 20 or more bars, and especially if If it's in a tight channel like this, probability is more like 50/50.</a:t>
            </a: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And the more bars that get added to a pullback, the lower the probability for trend resumption down is and the higher the probability for trend reversal up is.</a:t>
            </a:r>
            <a:endParaRPr/>
          </a:p>
          <a:p>
            <a:pPr/>
            <a:r>
              <a:rPr/>
              <a:t>Once the pullback has 20 or more bars in a very tight channel like this, 50/50 chance</a:t>
            </a: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You'll sometimes hear me say that if we have a bull trend and I'm trying to scalp a short, like sell a low one or something, or sell a bad high one, if there's a strong bull trend, you have to assume that reversal attempts will fail.</a:t>
            </a:r>
            <a:endParaRPr/>
          </a:p>
          <a:p>
            <a:pPr/>
            <a:endParaRPr lang="en-US"/>
          </a:p>
          <a:p>
            <a:pPr/>
            <a:r>
              <a:rPr/>
              <a:t>go against them one time, but they will not let the market go against them a second time.</a:t>
            </a:r>
            <a:endParaRPr/>
          </a:p>
          <a:p>
            <a:pPr/>
            <a:endParaRPr lang="en-US"/>
          </a:p>
          <a:p>
            <a:pPr/>
            <a:r>
              <a:rPr/>
              <a:t>So the bears will buy back their shorts when the high two triggers.</a:t>
            </a:r>
            <a:endParaRPr/>
          </a:p>
          <a:p>
            <a:pPr/>
            <a:endParaRPr lang="en-US"/>
          </a:p>
          <a:p>
            <a:pPr/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The high two is the second attempt to resume the bull trend and it therefore has a higher probability of success. And if traders are short, they will exit their shorts if the high two</a:t>
            </a: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both bulls and bears are buying. Bears are buying back their shorts and giving up and bulls are buying because they believe the bull trend is resuming. So there's nobody</a:t>
            </a: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50% pullback in a bear trend the key point is the bulls tried to go up once they tried to up a second time and</a:t>
            </a:r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>
            <p:ph type="body"/>
          </p:nvPr>
        </p:nvSpPr>
        <p:spPr>
          <a:xfrm>
            <a:off x="0" y="0"/>
            <a:ext cx="1778000" cy="444500"/>
          </a:xfrm>
          <a:prstGeom prst="rect">
            <a:avLst/>
          </a:prstGeom>
        </p:spPr>
        <p:txBody>
          <a:bodyPr/>
          <a:p>
            <a:pPr/>
            <a:r>
              <a:rPr/>
              <a:t>In this video I talked about endless pullbacks pullbacks in tight channels lasting 20 or more bars</a:t>
            </a:r>
            <a:endParaRPr/>
          </a:p>
          <a:p>
            <a:pPr/>
            <a:r>
              <a:rPr/>
              <a:t>They have a 50 chance of leading to a trend reversal</a:t>
            </a:r>
            <a:endParaRPr/>
          </a:p>
          <a:p>
            <a:pPr/>
            <a:endParaRPr lang="en-US"/>
          </a:p>
          <a:p>
            <a:pPr/>
            <a:r>
              <a:rPr/>
              <a:t>If you have a pullback on a five-minute chart that seems to last forever,50 bars, 100 bars, and it's hard to read the count, sometimes it's easier simply to look</a:t>
            </a:r>
            <a:endParaRPr/>
          </a:p>
          <a:p>
            <a:pPr/>
            <a:r>
              <a:rPr/>
              <a:t>at a higher time frame chart, like a 60-minute chart, and things can be much more clear.</a:t>
            </a:r>
            <a:endParaRPr/>
          </a:p>
          <a:p>
            <a:pPr/>
            <a:endParaRPr lang="en-US"/>
          </a:p>
          <a:p>
            <a:pPr/>
            <a:r>
              <a:rPr/>
              <a:t>Also, if you look at a low one short on a five-minute chart, you can infer a low two or a wedge bear flag on a small time frame chart like a one minute chart.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2B735B0-1E6B-4AAE-9ED6-3DBCB2AC5596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365BD4F7-6D2A-43CC-8902-DC42A1A3C6A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D5F2C82-781A-4EDE-A3EF-3F2438FB9F31}" type="datetime1">
              <a:rPr/>
              <a:t>2022/12/22</a:t>
            </a:fld>
            <a:endParaRPr lang="zh-CN" alt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20B6519-0892-4679-8EF4-7E8632D63502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E2E82B7-6B5C-47FC-9723-F06795F43EA6}" type="datetime1">
              <a:rPr/>
              <a:t>2022/12/22</a:t>
            </a:fld>
            <a:endParaRPr lang="zh-CN" alt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D56D6B1-AEFD-4F94-925D-7C5E06F2D58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4CEC58E8-DACA-4BE6-B257-D83C916C4624}" type="datetime1">
              <a:rPr/>
              <a:t>2022/12/22</a:t>
            </a:fld>
            <a:endParaRPr lang="zh-CN" alt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B0D9E3-9611-448B-A185-A82F9C099275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03D01A9-6636-4B38-8357-40A6314F4E6C}" type="datetime1">
              <a:rPr/>
              <a:t>2022/12/22</a:t>
            </a:fld>
            <a:endParaRPr lang="zh-CN" alt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0AF7E8E4-B2FE-47E6-8321-B5EB66239D97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48FBD87-ED0B-4F60-AF3B-0E0AD33A4811}" type="datetime1">
              <a:rPr/>
              <a:t>2022/12/22</a:t>
            </a:fld>
            <a:endParaRPr lang="zh-CN" alt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9AC65A2-A02C-4F73-A16B-7FC1AAA003E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E7DA814-644F-4697-8FE5-46D4A0F5BBB0}" type="datetime1">
              <a:rPr/>
              <a:t>2022/12/22</a:t>
            </a:fld>
            <a:endParaRPr lang="zh-CN" alt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97BA9F3-60DB-4411-B847-382B77F5D7D6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6C93E30-C61A-46BA-B565-F0C97AF8078C}" type="datetime1">
              <a:rPr/>
              <a:t>2022/12/22</a:t>
            </a:fld>
            <a:endParaRPr lang="zh-CN" alt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8F98CF-8B45-4F2C-AA06-936FBB5BFF0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 alt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7B927E94-0A4D-435C-8398-A30004961C83}" type="datetime1">
              <a:rPr/>
              <a:t>2022/12/22</a:t>
            </a:fld>
            <a:endParaRPr lang="zh-CN" alt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ECBB5F7-F3A9-4784-AC2B-CDDA8B2C8A5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6D6CCCE-95A5-42F6-9454-C73F14042C7C}" type="datetime1">
              <a:rPr/>
              <a:t>2022/12/22</a:t>
            </a:fld>
            <a:endParaRPr lang="zh-CN" alt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07E4A9A-3FAA-4B6F-9C30-258875663224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5B82C61-D909-45A3-BA4D-6D6580355498}" type="datetime1">
              <a:rPr/>
              <a:t>2022/12/22</a:t>
            </a:fld>
            <a:endParaRPr lang="zh-CN" alt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127930D-29B7-4288-9CE9-993F76EA5C43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58905A1-66A8-41B4-8500-45B6E353A19E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1D56F41-8DED-4DE8-A16A-5912936214B6}" type="slidenum">
              <a:r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5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34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6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45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56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66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67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68.png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3.xml" 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4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png" /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7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7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7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7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25.png" /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26.png" /><Relationship Id="rId0" Type="http://schemas.openxmlformats.org/officeDocument/2006/relationships/slideLayout" Target="../slideLayouts/slideLayout2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2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2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image" Target="media/image29.png" /><Relationship Id="rId0" Type="http://schemas.openxmlformats.org/officeDocument/2006/relationships/slideLayout" Target="../slideLayouts/slideLayout2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image" Target="media/image30.png" /><Relationship Id="rId0" Type="http://schemas.openxmlformats.org/officeDocument/2006/relationships/slideLayout" Target="../slideLayouts/slideLayout2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image" Target="media/image31.png" /><Relationship Id="rId0" Type="http://schemas.openxmlformats.org/officeDocument/2006/relationships/slideLayout" Target="../slideLayouts/slideLayout2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image" Target="media/image32.png" /><Relationship Id="rId0" Type="http://schemas.openxmlformats.org/officeDocument/2006/relationships/slideLayout" Target="../slideLayouts/slideLayout2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image" Target="media/image33.png" /><Relationship Id="rId0" Type="http://schemas.openxmlformats.org/officeDocument/2006/relationships/slideLayout" Target="../slideLayouts/slideLayout2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image" Target="media/image35.png" /><Relationship Id="rId0" Type="http://schemas.openxmlformats.org/officeDocument/2006/relationships/slideLayout" Target="../slideLayouts/slideLayout2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image" Target="media/image36.png" /><Relationship Id="rId0" Type="http://schemas.openxmlformats.org/officeDocument/2006/relationships/slideLayout" Target="../slideLayouts/slideLayout2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image" Target="media/image37.png" /><Relationship Id="rId0" Type="http://schemas.openxmlformats.org/officeDocument/2006/relationships/slideLayout" Target="../slideLayouts/slideLayout2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image" Target="media/image38.png" /><Relationship Id="rId0" Type="http://schemas.openxmlformats.org/officeDocument/2006/relationships/slideLayout" Target="../slideLayouts/slideLayout2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image" Target="media/image39.png" /><Relationship Id="rId0" Type="http://schemas.openxmlformats.org/officeDocument/2006/relationships/slideLayout" Target="../slideLayouts/slideLayout2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image" Target="media/image40.png" /><Relationship Id="rId0" Type="http://schemas.openxmlformats.org/officeDocument/2006/relationships/slideLayout" Target="../slideLayouts/slideLayout2.xml" /></Relationships>
</file>

<file path=ppt/slides/_rels/slide46.xml.rels><?xml version="1.0" encoding="UTF-8" standalone="yes"?><Relationships xmlns="http://schemas.openxmlformats.org/package/2006/relationships"><Relationship Id="rId2" Type="http://schemas.openxmlformats.org/officeDocument/2006/relationships/image" Target="media/image41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7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image" Target="media/image42.png" /><Relationship Id="rId0" Type="http://schemas.openxmlformats.org/officeDocument/2006/relationships/slideLayout" Target="../slideLayouts/slideLayout2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image" Target="media/image43.png" /><Relationship Id="rId0" Type="http://schemas.openxmlformats.org/officeDocument/2006/relationships/slideLayout" Target="../slideLayouts/slideLayout2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image" Target="media/image44.png" /><Relationship Id="rId0" Type="http://schemas.openxmlformats.org/officeDocument/2006/relationships/slideLayout" Target="../slideLayouts/slideLayout2.xml" /></Relationships>
</file>

<file path=ppt/slides/_rels/slide50.xml.rels><?xml version="1.0" encoding="UTF-8" standalone="yes"?><Relationships xmlns="http://schemas.openxmlformats.org/package/2006/relationships"><Relationship Id="rId2" Type="http://schemas.openxmlformats.org/officeDocument/2006/relationships/image" Target="media/image46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8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image" Target="media/image47.png" /><Relationship Id="rId0" Type="http://schemas.openxmlformats.org/officeDocument/2006/relationships/slideLayout" Target="../slideLayouts/slideLayout2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image" Target="media/image48.png" /><Relationship Id="rId0" Type="http://schemas.openxmlformats.org/officeDocument/2006/relationships/slideLayout" Target="../slideLayouts/slideLayout2.xml" /></Relationships>
</file>

<file path=ppt/slides/_rels/slide53.xml.rels><?xml version="1.0" encoding="UTF-8" standalone="yes"?><Relationships xmlns="http://schemas.openxmlformats.org/package/2006/relationships"><Relationship Id="rId2" Type="http://schemas.openxmlformats.org/officeDocument/2006/relationships/image" Target="media/image49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9.xml" /></Relationships>
</file>

<file path=ppt/slides/_rels/slide54.xml.rels><?xml version="1.0" encoding="UTF-8" standalone="yes"?><Relationships xmlns="http://schemas.openxmlformats.org/package/2006/relationships"><Relationship Id="rId2" Type="http://schemas.openxmlformats.org/officeDocument/2006/relationships/image" Target="media/image50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0.xml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image" Target="media/image51.png" /><Relationship Id="rId0" Type="http://schemas.openxmlformats.org/officeDocument/2006/relationships/slideLayout" Target="../slideLayouts/slideLayout2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image" Target="media/image52.png" /><Relationship Id="rId0" Type="http://schemas.openxmlformats.org/officeDocument/2006/relationships/slideLayout" Target="../slideLayouts/slideLayout2.xml" 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image" Target="media/image53.png" /><Relationship Id="rId0" Type="http://schemas.openxmlformats.org/officeDocument/2006/relationships/slideLayout" Target="../slideLayouts/slideLayout2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image" Target="media/image54.png" /><Relationship Id="rId0" Type="http://schemas.openxmlformats.org/officeDocument/2006/relationships/slideLayout" Target="../slideLayouts/slideLayout2.xml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image" Target="media/image55.png" /><Relationship Id="rId0" Type="http://schemas.openxmlformats.org/officeDocument/2006/relationships/slideLayout" Target="../slideLayouts/slideLayout2.xml" 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image" Target="media/image57.png" /><Relationship Id="rId0" Type="http://schemas.openxmlformats.org/officeDocument/2006/relationships/slideLayout" Target="../slideLayouts/slideLayout2.xml" /></Relationships>
</file>

<file path=ppt/slides/_rels/slide61.xml.rels><?xml version="1.0" encoding="UTF-8" standalone="yes"?><Relationships xmlns="http://schemas.openxmlformats.org/package/2006/relationships"><Relationship Id="rId2" Type="http://schemas.openxmlformats.org/officeDocument/2006/relationships/image" Target="media/image58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1.xml" /></Relationships>
</file>

<file path=ppt/slides/_rels/slide62.xml.rels><?xml version="1.0" encoding="UTF-8" standalone="yes"?><Relationships xmlns="http://schemas.openxmlformats.org/package/2006/relationships"><Relationship Id="rId2" Type="http://schemas.openxmlformats.org/officeDocument/2006/relationships/image" Target="media/image59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2.xml" /></Relationships>
</file>

<file path=ppt/slides/_rels/slide63.xml.rels><?xml version="1.0" encoding="UTF-8" standalone="yes"?><Relationships xmlns="http://schemas.openxmlformats.org/package/2006/relationships"><Relationship Id="rId2" Type="http://schemas.openxmlformats.org/officeDocument/2006/relationships/image" Target="media/image60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3.xml" /></Relationships>
</file>

<file path=ppt/slides/_rels/slide64.xml.rels><?xml version="1.0" encoding="UTF-8" standalone="yes"?><Relationships xmlns="http://schemas.openxmlformats.org/package/2006/relationships"><Relationship Id="rId2" Type="http://schemas.openxmlformats.org/officeDocument/2006/relationships/image" Target="media/image61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14.xml" 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image" Target="media/image62.png" /><Relationship Id="rId0" Type="http://schemas.openxmlformats.org/officeDocument/2006/relationships/slideLayout" Target="../slideLayouts/slideLayout2.xml" 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image" Target="media/image63.png" /><Relationship Id="rId0" Type="http://schemas.openxmlformats.org/officeDocument/2006/relationships/slideLayout" Target="../slideLayouts/slideLayout2.xml" 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image" Target="media/image64.png" /><Relationship Id="rId0" Type="http://schemas.openxmlformats.org/officeDocument/2006/relationships/slideLayout" Target="../slideLayouts/slideLayout2.xml" /></Relationships>
</file>

<file path=ppt/slides/_rels/slide6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2" Type="http://schemas.openxmlformats.org/officeDocument/2006/relationships/image" Target="media/image65.png" /><Relationship Id="rId1" Type="http://schemas.openxmlformats.org/officeDocument/2006/relationships/notesSlide" Target="../notesSlides/notesSlide15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69" name=""/>
          <p:cNvSpPr txBox="true"/>
          <p:nvPr/>
        </p:nvSpPr>
        <p:spPr>
          <a:xfrm rot="0" flipH="false" flipV="false">
            <a:off x="107046" y="3865601"/>
            <a:ext cx="6527800" cy="450850"/>
          </a:xfrm>
          <a:solidFill>
            <a:schemeClr val="accent4">
              <a:lumMod val="20000"/>
              <a:lumOff val="80000"/>
              <a:alpha val="100000"/>
            </a:schemeClr>
          </a:solidFill>
        </p:spPr>
        <p:txBody>
          <a:bodyPr>
            <a:spAutoFit/>
          </a:bodyPr>
          <a:p>
            <a:pPr/>
            <a:endParaRPr/>
          </a:p>
        </p:txBody>
      </p:sp>
      <p:sp>
        <p:nvSpPr>
          <p:cNvPr id="70" name=""/>
          <p:cNvSpPr txBox="true"/>
          <p:nvPr/>
        </p:nvSpPr>
        <p:spPr>
          <a:xfrm rot="0" flipH="false" flipV="false">
            <a:off x="591248" y="4009476"/>
            <a:ext cx="3788722" cy="8064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/>
              <a:t>You're looking for reasons to enter, and that is a reason to enter.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4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4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55" name=""/>
          <p:cNvSpPr txBox="true"/>
          <p:nvPr/>
        </p:nvSpPr>
        <p:spPr>
          <a:xfrm rot="0" flipH="false" flipV="false">
            <a:off x="702843" y="2851807"/>
            <a:ext cx="6096000" cy="444500"/>
          </a:xfrm>
          <a:solidFill>
            <a:schemeClr val="bg2">
              <a:alpha val="100000"/>
            </a:schemeClr>
          </a:solidFill>
        </p:spPr>
        <p:txBody>
          <a:bodyPr>
            <a:spAutoFit/>
          </a:bodyPr>
          <a:p>
            <a:pPr/>
            <a:r>
              <a:rPr/>
              <a:t>In this video, I talked about what a pullback is.</a:t>
            </a:r>
            <a:endParaRPr/>
          </a:p>
        </p:txBody>
      </p:sp>
      <p:sp>
        <p:nvSpPr>
          <p:cNvPr id="56" name=""/>
          <p:cNvSpPr txBox="true"/>
          <p:nvPr/>
        </p:nvSpPr>
        <p:spPr>
          <a:xfrm rot="0" flipH="false" flipV="false">
            <a:off x="702843" y="3302000"/>
            <a:ext cx="6096000" cy="444500"/>
          </a:xfrm>
          <a:solidFill>
            <a:schemeClr val="bg2">
              <a:alpha val="100000"/>
            </a:schemeClr>
          </a:solidFill>
        </p:spPr>
        <p:txBody>
          <a:bodyPr>
            <a:spAutoFit/>
          </a:bodyPr>
          <a:p>
            <a:pPr/>
            <a:r>
              <a:rPr/>
              <a:t>It's a pause or a minor reversal in a trend</a:t>
            </a:r>
            <a:endParaRPr/>
          </a:p>
        </p:txBody>
      </p:sp>
      <p:sp>
        <p:nvSpPr>
          <p:cNvPr id="57" name=""/>
          <p:cNvSpPr txBox="true"/>
          <p:nvPr/>
        </p:nvSpPr>
        <p:spPr>
          <a:xfrm rot="0" flipH="false" flipV="false">
            <a:off x="702843" y="3746500"/>
            <a:ext cx="6096000" cy="444500"/>
          </a:xfrm>
          <a:solidFill>
            <a:schemeClr val="bg2">
              <a:alpha val="100000"/>
            </a:schemeClr>
          </a:solidFill>
        </p:spPr>
        <p:txBody>
          <a:bodyPr>
            <a:spAutoFit/>
          </a:bodyPr>
          <a:p>
            <a:pPr/>
            <a:r>
              <a:rPr/>
              <a:t>where the probability is the trend will resume.</a:t>
            </a:r>
            <a:endParaRPr/>
          </a:p>
        </p:txBody>
      </p:sp>
      <p:sp>
        <p:nvSpPr>
          <p:cNvPr id="58" name=""/>
          <p:cNvSpPr txBox="true"/>
          <p:nvPr/>
        </p:nvSpPr>
        <p:spPr>
          <a:xfrm rot="0" flipH="false" flipV="false">
            <a:off x="702843" y="4552676"/>
            <a:ext cx="6096000" cy="444500"/>
          </a:xfrm>
          <a:solidFill>
            <a:schemeClr val="accent3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/>
              <a:t>I also talked about bar counting,</a:t>
            </a:r>
            <a:endParaRPr/>
          </a:p>
        </p:txBody>
      </p:sp>
      <p:sp>
        <p:nvSpPr>
          <p:cNvPr id="59" name=""/>
          <p:cNvSpPr txBox="true"/>
          <p:nvPr/>
        </p:nvSpPr>
        <p:spPr>
          <a:xfrm rot="0" flipH="false" flipV="false">
            <a:off x="702843" y="4997176"/>
            <a:ext cx="6096000" cy="444500"/>
          </a:xfrm>
          <a:solidFill>
            <a:schemeClr val="accent3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/>
              <a:t>which is the number of times within a pullback</a:t>
            </a:r>
            <a:endParaRPr/>
          </a:p>
        </p:txBody>
      </p:sp>
      <p:sp>
        <p:nvSpPr>
          <p:cNvPr id="60" name=""/>
          <p:cNvSpPr txBox="true"/>
          <p:nvPr/>
        </p:nvSpPr>
        <p:spPr>
          <a:xfrm rot="0" flipH="false" flipV="false">
            <a:off x="702843" y="5441676"/>
            <a:ext cx="6096000" cy="444500"/>
          </a:xfrm>
          <a:solidFill>
            <a:schemeClr val="accent3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/>
              <a:t>that the market tries to reverse before the trend resumes.</a:t>
            </a:r>
            <a:endParaRPr/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8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8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9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9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9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0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0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1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1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2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3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3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3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37" name=""/>
          <p:cNvSpPr txBox="true"/>
          <p:nvPr/>
        </p:nvSpPr>
        <p:spPr>
          <a:xfrm rot="0" flipH="false" flipV="false">
            <a:off x="1412728" y="937323"/>
            <a:ext cx="6694448" cy="406400"/>
          </a:xfrm>
          <a:solidFill>
            <a:schemeClr val="accent3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pPr/>
            <a:r>
              <a:rPr sz="1600"/>
              <a:t>pullbacks that just continue to grow until they become an opposite trend.</a:t>
            </a:r>
            <a:endParaRPr/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4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4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4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4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4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49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5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53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5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5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6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6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6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6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6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6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7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7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7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7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8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83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8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87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9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91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9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95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9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9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0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0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0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09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2024-11-14T17:58:54Z</dcterms:created>
  <dcterms:modified xsi:type="dcterms:W3CDTF">2024-11-14T17:58:54Z</dcterms:modified>
</cp:coreProperties>
</file>