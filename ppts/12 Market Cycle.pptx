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ur parts of market cycle?" id="{00322CF0-7494-4916-96CA-D486EED4EFB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ullback is start of channel" id="{17CE6652-2B3F-4941-B71A-FBDDB85F224C}">
          <p14:sldIdLst>
            <p14:sldId id="269"/>
            <p14:sldId id="270"/>
            <p14:sldId id="271"/>
            <p14:sldId id="272"/>
            <p14:sldId id="273"/>
          </p14:sldIdLst>
        </p14:section>
        <p14:section name="Channel becomes Trading Range" id="{D53EE046-9FD4-4009-BD34-8F68BA2BD44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Market cycle: always Trend or TR" id="{392C5002-0ECE-4481-BCCC-4A041166EDE8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inertia and 80% rule" id="{5C85B35C-B481-4A71-A5B6-992943C58CD0}">
          <p14:sldIdLst>
            <p14:sldId id="292"/>
            <p14:sldId id="293"/>
            <p14:sldId id="294"/>
          </p14:sldIdLst>
        </p14:section>
        <p14:section name="Definitions 1:Trends, swings, legs" id="{40694F74-BD04-4EA1-9667-568ABDF60416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Definations 2: Pullbacks" id="{E0391B55-12E3-48D0-8498-4010F7BC60BA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Definations 3: Trading Range" id="{061FEEBD-AD59-46D8-ACA8-D1DCCA3C51B2}">
          <p14:sldIdLst>
            <p14:sldId id="318"/>
            <p14:sldId id="319"/>
            <p14:sldId id="320"/>
            <p14:sldId id="321"/>
            <p14:sldId id="322"/>
          </p14:sldIdLst>
        </p14:section>
        <p14:section name="Binary decisions" id="{AFDD0166-7816-4418-AD96-6ABDE31CB7BD}">
          <p14:sldIdLst>
            <p14:sldId id="323"/>
            <p14:sldId id="324"/>
            <p14:sldId id="325"/>
            <p14:sldId id="326"/>
            <p14:sldId id="327"/>
            <p14:sldId id="32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rPr lang="en-US"/>
              <a:t>Breakout</a:t>
            </a:r>
            <a:r>
              <a:rPr lang="zh-CN"/>
              <a:t>：连续阳线，没有重叠</a:t>
            </a:r>
            <a:endParaRPr lang="zh-CN"/>
          </a:p>
          <a:p>
            <a:r>
              <a:rPr lang="en-US"/>
              <a:t>Tight Bull Channel:</a:t>
            </a:r>
            <a:endParaRPr lang="en-US"/>
          </a:p>
          <a:p>
            <a:r>
              <a:rPr lang="en-US"/>
              <a:t>Broad Bull Channel</a:t>
            </a:r>
            <a:r>
              <a:rPr lang="zh-CN"/>
              <a:t>：</a:t>
            </a:r>
            <a:endParaRPr lang="zh-CN"/>
          </a:p>
          <a:p>
            <a:r>
              <a:rPr lang="en-US"/>
              <a:t>Ttading Range</a:t>
            </a:r>
            <a:r>
              <a:rPr lang="zh-CN"/>
              <a:t>：</a:t>
            </a:r>
            <a:endParaRPr lang="zh-CN"/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7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And a trading range is a market that has 20 or more bars, and the probability of a bull breakout falls to about the same as a bear breakout.</a:t>
            </a:r>
          </a:p>
          <a:p>
            <a:endParaRPr lang="en-US"/>
          </a:p>
          <a:p>
            <a:r>
              <a:t>Well, a trading range is basically a broad channel that's flat, horizontal, and traders trade it the same way.</a:t>
            </a:r>
          </a:p>
          <a:p>
            <a:endParaRPr lang="en-US"/>
          </a:p>
          <a:p>
            <a:r>
              <a:t>In the trading range, 80% of breakout attempts fail.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Once a trading range reaches 20 bars or more, the probability of a bull breakout is about the same as for a bear breakout.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Pullback in a bull trend means the low of the bar goes below the low of a prior bar.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Rarely a bull channel will have another bull breakout and an even stronger bull trend, but at least 75% of bull channels have bear breakouts.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One of the things I pay attention to is can the bears make money? That's really important. How easy is it for the bears to make money? Can the bears make money here? </a:t>
            </a:r>
          </a:p>
          <a:p>
            <a:r>
              <a:t>No, really difficult. Here, really difficult. But look right here. If a bear sells at the prior high, he could scalp here.</a:t>
            </a:r>
          </a:p>
          <a:p>
            <a:endParaRPr lang="en-US"/>
          </a:p>
          <a:p>
            <a:r>
              <a:t>And then the stop order bears, once I see stop order bears making money, then we're probably in the early phases of a trading range.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So all pullbacks are trading ranges on smaller time frames and all trading ranges are pullbacks on higher time frames.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r>
              <a:t>In this video, I talked about the market cycle and how every chart is either in a trend or a trading range. Every part of every chart is either in a trend or a trading range. In fact, every bar is either a trend bar or a trading range bar. </a:t>
            </a:r>
          </a:p>
          <a:p>
            <a:r>
              <a:t>And then I also talked about my 80% rule. Market has inertia tends to continue what it's been doing. It tends to resist change If it's in a trend 80% of reversal attempts will fail If it's in a trading range 80% of attempts to break out into a trend will fail </a:t>
            </a:r>
          </a:p>
          <a:p>
            <a:r>
              <a:t>And then finally I talked about Any move up or down on a chart is a leg if the leg goes up far enough or down far enough for a swing trade I tend to call it a swing and And if there's clearly a strong trend breaking out far beyond the bars to the left,  as long as there are only one or two such big swings on the chart, I tend to call them a trend. If there are three or more, I tend to call them swings and I tend to look at the chart as being in the trading range.</a:t>
            </a: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zh-CN"/>
              <a:t>单击此处编辑母版副标题样式</a:t>
            </a:r>
            <a:endParaRPr lang="zh-CN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62B735B0-1E6B-4AAE-9ED6-3DBCB2AC5596}" type="datetime1">
              <a:rPr/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65BD4F7-6D2A-43CC-8902-DC42A1A3C6AF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5D5F2C82-781A-4EDE-A3EF-3F2438FB9F31}" type="datetime1">
              <a:rPr/>
            </a:fld>
            <a:endParaRPr lang="zh-CN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B20B6519-0892-4679-8EF4-7E8632D63502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E2E82B7-6B5C-47FC-9723-F06795F43EA6}" type="datetime1">
              <a:rPr/>
            </a:fld>
            <a:endParaRPr lang="zh-CN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D56D6B1-AEFD-4F94-925D-7C5E06F2D589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4CEC58E8-DACA-4BE6-B257-D83C916C4624}" type="datetime1">
              <a:rPr/>
            </a:fld>
            <a:endParaRPr lang="zh-CN" alt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1B0D9E3-9611-448B-A185-A82F9C099275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603D01A9-6636-4B38-8357-40A6314F4E6C}" type="datetime1">
              <a:rPr/>
            </a:fld>
            <a:endParaRPr lang="zh-CN" alt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AF7E8E4-B2FE-47E6-8321-B5EB66239D97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48FBD87-ED0B-4F60-AF3B-0E0AD33A4811}" type="datetime1">
              <a:rPr/>
            </a:fld>
            <a:endParaRPr lang="zh-CN" alt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9AC65A2-A02C-4F73-A16B-7FC1AAA003E9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E7DA814-644F-4697-8FE5-46D4A0F5BBB0}" type="datetime1">
              <a:rPr/>
            </a:fld>
            <a:endParaRPr lang="zh-CN" alt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97BA9F3-60DB-4411-B847-382B77F5D7D6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56C93E30-C61A-46BA-B565-F0C97AF8078C}" type="datetime1">
              <a:rPr/>
            </a:fld>
            <a:endParaRPr lang="zh-CN" alt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18F98CF-8B45-4F2C-AA06-936FBB5BFF0F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B927E94-0A4D-435C-8398-A30004961C83}" type="datetime1">
              <a:rPr/>
            </a:fld>
            <a:endParaRPr lang="zh-CN" alt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ECBB5F7-F3A9-4784-AC2B-CDDA8B2C8A59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6D6CCCE-95A5-42F6-9454-C73F14042C7C}" type="datetime1">
              <a:rPr/>
            </a:fld>
            <a:endParaRPr lang="zh-CN" alt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7E4A9A-3FAA-4B6F-9C30-258875663224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5B82C61-D909-45A3-BA4D-6D6580355498}" type="datetime1">
              <a:rPr/>
            </a:fld>
            <a:endParaRPr lang="zh-CN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B127930D-29B7-4288-9CE9-993F76EA5C43}" type="slidenum">
              <a:rPr/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二级</a:t>
            </a:r>
            <a:endParaRPr lang="zh-CN" altLang="zh-CN"/>
          </a:p>
          <a:p>
            <a:pPr lvl="2"/>
            <a:r>
              <a:rPr lang="zh-CN" altLang="zh-CN"/>
              <a:t>三级</a:t>
            </a:r>
            <a:endParaRPr lang="zh-CN" altLang="zh-CN"/>
          </a:p>
          <a:p>
            <a:pPr lvl="3"/>
            <a:r>
              <a:rPr lang="zh-CN" altLang="zh-CN"/>
              <a:t>四级</a:t>
            </a:r>
            <a:endParaRPr lang="zh-CN" altLang="zh-CN"/>
          </a:p>
          <a:p>
            <a:pPr lvl="4"/>
            <a:r>
              <a:rPr lang="zh-CN" altLang="zh-CN"/>
              <a:t>五级</a:t>
            </a:r>
            <a:endParaRPr lang="zh-CN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05A1-66A8-41B4-8500-45B6E353A19E}" type="datetime1">
              <a:rPr/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56F41-8DED-4DE8-A16A-5912936214B6}" type="slidenum">
              <a:rPr/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3" y="0"/>
            <a:ext cx="12153674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5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3" y="0"/>
            <a:ext cx="12153674" cy="685800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4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9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92" name="图片 1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3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36" name="图片 2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7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80" name="图片 2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9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300" name="图片 2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30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304" name="图片 3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3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3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4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4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5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5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6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6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7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7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7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331177" y="3601244"/>
            <a:ext cx="5764823" cy="806450"/>
          </a:xfrm>
          <a:solidFill>
            <a:schemeClr val="accent1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r>
              <a:t>As soon as there's a pullback, the breakout has ended and now the market's in a channel.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331177" y="4407694"/>
            <a:ext cx="5764847" cy="806450"/>
          </a:xfrm>
          <a:solidFill>
            <a:schemeClr val="accent1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r>
              <a:t>If the channel is tight, again, trade it like a breakout only sell if it's a bear channel.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331177" y="5214144"/>
            <a:ext cx="5764846" cy="806450"/>
          </a:xfrm>
          <a:solidFill>
            <a:schemeClr val="accent1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r>
              <a:t>If the channel is fairly broad, you can trade in both directions.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6292362" y="3601244"/>
            <a:ext cx="5764847" cy="450850"/>
          </a:xfrm>
          <a:solidFill>
            <a:schemeClr val="accent1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r>
              <a:t>And eventually a channel evolves into a trading range.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6292362" y="4052094"/>
            <a:ext cx="5764847" cy="1162050"/>
          </a:xfrm>
          <a:solidFill>
            <a:schemeClr val="accent1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r>
              <a:t>And then after the market's been in a trading range for a while, it breaks out and the breakout </a:t>
            </a:r>
            <a:r>
              <a:t>has about the same probability of going up or down.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9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594946" y="3886200"/>
            <a:ext cx="6096000" cy="800100"/>
          </a:xfrm>
          <a:solidFill>
            <a:schemeClr val="accent1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r>
              <a:t>When I'm trading, I always think of every chart as either being in a trend or in a trading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594946" y="4790830"/>
            <a:ext cx="6096000" cy="800100"/>
          </a:xfrm>
          <a:solidFill>
            <a:schemeClr val="accent1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r>
              <a:t>For that matter, I think of every bar as either being a trend bar or a trading range bar.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9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1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1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1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19" name="图片 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2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2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3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3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6" name="文本框 135"/>
          <p:cNvSpPr txBox="1"/>
          <p:nvPr/>
        </p:nvSpPr>
        <p:spPr>
          <a:xfrm>
            <a:off x="1320312" y="3727938"/>
            <a:ext cx="6096000" cy="800100"/>
          </a:xfrm>
          <a:solidFill>
            <a:schemeClr val="accent4">
              <a:alpha val="100000"/>
            </a:schemeClr>
          </a:solidFill>
        </p:spPr>
        <p:txBody>
          <a:bodyPr>
            <a:spAutoFit/>
          </a:bodyPr>
          <a:p>
            <a:r>
              <a:t>Inertia means that an object tends to continue what it has been doing.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1320312" y="4868496"/>
            <a:ext cx="6096000" cy="444500"/>
          </a:xfrm>
          <a:solidFill>
            <a:schemeClr val="accent5">
              <a:alpha val="100000"/>
            </a:schemeClr>
          </a:solidFill>
        </p:spPr>
        <p:txBody>
          <a:bodyPr>
            <a:spAutoFit/>
          </a:bodyPr>
          <a:p>
            <a:r>
              <a:t>And markets tend to continue what they've been doing.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图片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4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5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5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5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6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4" name="文本框 163"/>
          <p:cNvSpPr txBox="1"/>
          <p:nvPr/>
        </p:nvSpPr>
        <p:spPr>
          <a:xfrm>
            <a:off x="2254288" y="4665075"/>
            <a:ext cx="3410953" cy="8064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zh-CN">
                <a:solidFill>
                  <a:schemeClr val="accent1">
                    <a:alpha val="100000"/>
                  </a:schemeClr>
                </a:solidFill>
              </a:rPr>
              <a:t>低点只要不低于前面</a:t>
            </a:r>
            <a:r>
              <a:rPr lang="en-US">
                <a:solidFill>
                  <a:schemeClr val="accent1">
                    <a:alpha val="100000"/>
                  </a:schemeClr>
                </a:solidFill>
              </a:rPr>
              <a:t>BO</a:t>
            </a:r>
            <a:r>
              <a:rPr lang="zh-CN">
                <a:solidFill>
                  <a:schemeClr val="accent1">
                    <a:alpha val="100000"/>
                  </a:schemeClr>
                </a:solidFill>
              </a:rPr>
              <a:t>的起点，那么我们认为趋势依然存在</a:t>
            </a:r>
            <a:endParaRPr lang="zh-CN">
              <a:solidFill>
                <a:schemeClr val="accent1">
                  <a:alpha val="10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6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68" name="图片 1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7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72" name="图片 1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7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7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80" name="图片 1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8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84" name="图片 1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8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88" name="图片 1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9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196" name="图片 1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9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00" name="图片 1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0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04" name="图片 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0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08" name="图片 2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1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12" name="图片 2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1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16" name="图片 2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1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20" name="图片 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2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24" name="图片 2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2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28" name="图片 2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3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3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40" name="图片 2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4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44" name="图片 2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4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48" name="图片 2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5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52" name="图片 2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5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56" name="图片 2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5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60" name="图片 2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6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64" name="图片 2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6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68" name="图片 2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7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72" name="图片 2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7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76" name="图片 2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8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84" name="图片 2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8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9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92" name="图片 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29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/>
        </p:txBody>
      </p:sp>
      <p:pic>
        <p:nvPicPr>
          <p:cNvPr id="296" name="图片 2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默认字体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WPS 演示</Application>
  <PresentationFormat/>
  <Paragraphs>20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2" baseType="lpstr">
      <vt:lpstr>Arial</vt:lpstr>
      <vt:lpstr>宋体</vt:lpstr>
      <vt:lpstr>Wingdings</vt:lpstr>
      <vt:lpstr>微软雅黑</vt:lpstr>
      <vt:lpstr>默认字体</vt:lpstr>
      <vt:lpstr>Liberation Mono</vt:lpstr>
      <vt:lpstr>Arial Unicode MS</vt:lpstr>
      <vt:lpstr>等线</vt:lpstr>
      <vt:lpstr>腾讯文档 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呆瓜瓜瓜瓜瓜</cp:lastModifiedBy>
  <cp:revision>1</cp:revision>
  <dcterms:created xsi:type="dcterms:W3CDTF">2026-03-11T11:01:54Z</dcterms:created>
  <dcterms:modified xsi:type="dcterms:W3CDTF">2026-03-11T11:01:54Z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42CD0BA6EC744893AC3DE3EBC505507A_12</vt:lpwstr>
  </property>
</Properties>
</file>