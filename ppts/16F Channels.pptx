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31" Type="http://schemas.openxmlformats.org/officeDocument/2006/relationships/viewProps" Target="viewProps.xml" /><Relationship Id="rId28" Type="http://schemas.openxmlformats.org/officeDocument/2006/relationships/slide" Target="slides/slide28.xml" /><Relationship Id="rId27" Type="http://schemas.openxmlformats.org/officeDocument/2006/relationships/slide" Target="slides/slide27.xml" /><Relationship Id="rId25" Type="http://schemas.openxmlformats.org/officeDocument/2006/relationships/slide" Target="slides/slide25.xml" /><Relationship Id="rId3" Type="http://schemas.openxmlformats.org/officeDocument/2006/relationships/slide" Target="slides/slide3.xml" /><Relationship Id="rId24" Type="http://schemas.openxmlformats.org/officeDocument/2006/relationships/slide" Target="slides/slide24.xml" /><Relationship Id="rId23" Type="http://schemas.openxmlformats.org/officeDocument/2006/relationships/slide" Target="slides/slide23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14" Type="http://schemas.openxmlformats.org/officeDocument/2006/relationships/slide" Target="slides/slide14.xml" /><Relationship Id="rId19" Type="http://schemas.openxmlformats.org/officeDocument/2006/relationships/slide" Target="slides/slide19.xml" /><Relationship Id="rId30" Type="http://schemas.openxmlformats.org/officeDocument/2006/relationships/tableStyles" Target="tableStyles.xml" /><Relationship Id="rId21" Type="http://schemas.openxmlformats.org/officeDocument/2006/relationships/slide" Target="slides/slide21.xml" /><Relationship Id="rId29" Type="http://schemas.openxmlformats.org/officeDocument/2006/relationships/presProps" Target="presProps.xml" /><Relationship Id="rId15" Type="http://schemas.openxmlformats.org/officeDocument/2006/relationships/slide" Target="slides/slide15.xml" /><Relationship Id="rId7" Type="http://schemas.openxmlformats.org/officeDocument/2006/relationships/slide" Target="slides/slide7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6" Type="http://schemas.openxmlformats.org/officeDocument/2006/relationships/slide" Target="slides/slide26.xml" /><Relationship Id="rId2" Type="http://schemas.openxmlformats.org/officeDocument/2006/relationships/slide" Target="slides/slide2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6" Type="http://schemas.openxmlformats.org/officeDocument/2006/relationships/slideLayout" Target="../slideLayouts/slideLayout7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7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8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16F (#6 of 6)   00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0" name="Picture 3" descr="02 Main Points   00m5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1" name="Picture 3" descr="03 Reversal Setups  Enter with Stop or Limit Orders    02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cxnSp>
        <p:nvCxnSpPr>
          <p:cNvPr id="92" name=""/>
          <p:cNvCxnSpPr>
            <a:stCxn id="93" idx="0"/>
          </p:cNvCxnSpPr>
          <p:nvPr/>
        </p:nvCxnSpPr>
        <p:spPr>
          <a:xfrm rot="0" flipH="false" flipV="true">
            <a:off x="10748120" y="5093033"/>
            <a:ext cx="2221270" cy="653549"/>
          </a:xfrm>
          <a:prstGeom prst="straightConnector1"/>
          <a:ln w="25400">
            <a:solidFill>
              <a:srgbClr val="00B050">
                <a:alpha val="100000"/>
              </a:srgbClr>
            </a:solidFill>
            <a:prstDash val="sysDot"/>
            <a:tailEnd type="triangle" w="med" len="med"/>
          </a:ln>
        </p:spPr>
      </p:cxnSp>
      <p:sp>
        <p:nvSpPr>
          <p:cNvPr id="93" name=""/>
          <p:cNvSpPr txBox="true"/>
          <p:nvPr/>
        </p:nvSpPr>
        <p:spPr>
          <a:xfrm rot="0" flipH="false" flipV="false">
            <a:off x="9936393" y="5746583"/>
            <a:ext cx="1623453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FirstEntryPoint</a:t>
            </a:r>
            <a:endParaRPr/>
          </a:p>
        </p:txBody>
      </p:sp>
      <p:cxnSp>
        <p:nvCxnSpPr>
          <p:cNvPr id="94" name=""/>
          <p:cNvCxnSpPr>
            <a:stCxn id="95" idx="0"/>
          </p:cNvCxnSpPr>
          <p:nvPr/>
        </p:nvCxnSpPr>
        <p:spPr>
          <a:xfrm rot="0" flipH="false" flipV="true">
            <a:off x="11776450" y="4971240"/>
            <a:ext cx="1528281" cy="1566069"/>
          </a:xfrm>
          <a:prstGeom prst="straightConnector1"/>
          <a:ln w="25400">
            <a:solidFill>
              <a:srgbClr val="00B050">
                <a:alpha val="100000"/>
              </a:srgbClr>
            </a:solidFill>
            <a:prstDash val="sysDot"/>
            <a:tailEnd type="triangle" w="med" len="med"/>
          </a:ln>
        </p:spPr>
      </p:cxnSp>
      <p:sp>
        <p:nvSpPr>
          <p:cNvPr id="95" name=""/>
          <p:cNvSpPr txBox="true"/>
          <p:nvPr/>
        </p:nvSpPr>
        <p:spPr>
          <a:xfrm rot="0" flipH="false" flipV="false">
            <a:off x="10065125" y="6537310"/>
            <a:ext cx="3422650" cy="64135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SecondEntry, ioii</a:t>
            </a:r>
            <a:r>
              <a:rPr lang="zh-CN"/>
              <a:t>形态，同时接近</a:t>
            </a:r>
            <a:r>
              <a:rPr lang="en-US"/>
              <a:t>ChannelLine</a:t>
            </a:r>
            <a:r>
              <a:rPr lang="zh-CN"/>
              <a:t>，所以大概率向下</a:t>
            </a:r>
            <a:endParaRPr/>
          </a:p>
        </p:txBody>
      </p:sp>
      <p:cxnSp>
        <p:nvCxnSpPr>
          <p:cNvPr id="96" name=""/>
          <p:cNvCxnSpPr>
            <a:stCxn id="97" idx="2"/>
          </p:cNvCxnSpPr>
          <p:nvPr/>
        </p:nvCxnSpPr>
        <p:spPr>
          <a:xfrm rot="0" flipH="false" flipV="false">
            <a:off x="12476612" y="2754361"/>
            <a:ext cx="1508125" cy="2977593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ysDot"/>
            <a:tailEnd type="triangle" w="med" len="med"/>
          </a:ln>
        </p:spPr>
      </p:cxnSp>
      <p:sp>
        <p:nvSpPr>
          <p:cNvPr id="97" name=""/>
          <p:cNvSpPr txBox="true"/>
          <p:nvPr/>
        </p:nvSpPr>
        <p:spPr>
          <a:xfrm rot="0" flipH="false" flipV="false">
            <a:off x="10968487" y="1839961"/>
            <a:ext cx="3016250" cy="9144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这两根表示</a:t>
            </a:r>
            <a:r>
              <a:rPr lang="en-US"/>
              <a:t>Bear </a:t>
            </a:r>
            <a:r>
              <a:rPr lang="en-US"/>
              <a:t>BO</a:t>
            </a:r>
            <a:r>
              <a:rPr lang="zh-CN"/>
              <a:t>失败，可以</a:t>
            </a:r>
            <a:r>
              <a:rPr lang="en-US"/>
              <a:t>StopOrderBuy</a:t>
            </a:r>
            <a:r>
              <a:rPr lang="zh-CN"/>
              <a:t>，尤其是第二根，形成了</a:t>
            </a:r>
            <a:r>
              <a:rPr lang="en-US"/>
              <a:t>DB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1" name="Picture 3" descr="04 Stop or Limit Orders  Experts Can Enter with Limit Orders   04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5" name="Picture 3" descr="05 Main Points  Breakouts at Start of Trend   04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9" name="Picture 3" descr="06 Breakouts at Start of Trend  Give—up Bar   07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0" name=""/>
          <p:cNvSpPr txBox="true"/>
          <p:nvPr/>
        </p:nvSpPr>
        <p:spPr>
          <a:xfrm rot="0" flipH="false" flipV="false">
            <a:off x="240405" y="1044048"/>
            <a:ext cx="4786504" cy="64135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WedgeTop</a:t>
            </a:r>
            <a:r>
              <a:rPr lang="zh-CN"/>
              <a:t>，可以看到每次</a:t>
            </a:r>
            <a:r>
              <a:rPr lang="en-US"/>
              <a:t>Bull Push</a:t>
            </a:r>
            <a:r>
              <a:rPr lang="zh-CN"/>
              <a:t>力度变弱，</a:t>
            </a:r>
            <a:r>
              <a:rPr lang="en-US"/>
              <a:t>BullBar</a:t>
            </a:r>
            <a:r>
              <a:rPr lang="zh-CN"/>
              <a:t>变得更小，无连续的</a:t>
            </a:r>
            <a:r>
              <a:rPr lang="en-US"/>
              <a:t>StrongBullBar</a:t>
            </a:r>
            <a:endParaRPr/>
          </a:p>
        </p:txBody>
      </p:sp>
      <p:sp>
        <p:nvSpPr>
          <p:cNvPr id="111" name=""/>
          <p:cNvSpPr txBox="true"/>
          <p:nvPr/>
        </p:nvSpPr>
        <p:spPr>
          <a:xfrm rot="0" flipH="false" flipV="false">
            <a:off x="6535599" y="1044048"/>
            <a:ext cx="6163667" cy="64135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Try to BO Wedge Top</a:t>
            </a:r>
            <a:r>
              <a:rPr lang="zh-CN"/>
              <a:t>，</a:t>
            </a:r>
            <a:r>
              <a:rPr lang="en-US"/>
              <a:t>Big Tail Bull Bar and Bad Follow (a bear doji)</a:t>
            </a:r>
            <a:r>
              <a:rPr lang="zh-CN"/>
              <a:t>，</a:t>
            </a:r>
            <a:r>
              <a:rPr lang="en-US"/>
              <a:t>Odds are BO failed</a:t>
            </a:r>
            <a:r>
              <a:rPr lang="zh-CN"/>
              <a:t>！</a:t>
            </a:r>
            <a:r>
              <a:rPr lang="en-US"/>
              <a:t>Should enter with SOS!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5" name="Picture 3" descr="07 Breakouts at Start of Trend  Many Ways to Sell   08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9" name="Picture 3" descr="08 Breakouts at Start of Bull Trend  Only Look to Buy  EURUSD 30 min   12m4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3" name="Picture 3" descr="09 Breakouts at Start of Bull Trend  Many Ways to Buy  EURUSD 30 min   14m1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>
          <a:xfrm rot="0" flipH="false" flipV="false">
            <a:off x="500344" y="3789224"/>
            <a:ext cx="7772400" cy="1470025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Failed Bear Breakout of Bear Channel  Exhaustion Gap Bar   18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7174391" y="6566508"/>
            <a:ext cx="7141621" cy="1187450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Bear Trend</a:t>
            </a:r>
            <a:r>
              <a:rPr lang="zh-CN"/>
              <a:t>运行很久了（超过</a:t>
            </a:r>
            <a:r>
              <a:rPr lang="en-US"/>
              <a:t>20Bar</a:t>
            </a:r>
            <a:r>
              <a:rPr lang="zh-CN"/>
              <a:t>），出现一个最大的</a:t>
            </a:r>
            <a:r>
              <a:rPr lang="en-US"/>
              <a:t>Bear Trend Bar</a:t>
            </a:r>
            <a:r>
              <a:rPr lang="zh-CN"/>
              <a:t>，更有可能是力竭的</a:t>
            </a:r>
            <a:r>
              <a:rPr lang="en-US"/>
              <a:t>Trend Bar</a:t>
            </a:r>
            <a:r>
              <a:rPr lang="zh-CN"/>
              <a:t>，所以不是更强趋势的开始，而更有可能是当前趋势的技术</a:t>
            </a:r>
            <a:endParaRPr/>
          </a:p>
          <a:p>
            <a:pPr/>
            <a:r>
              <a:rPr lang="en-US">
                <a:solidFill>
                  <a:srgbClr val="FF0000">
                    <a:alpha val="100000"/>
                  </a:srgbClr>
                </a:solidFill>
              </a:rPr>
              <a:t>A Big Trend Bar occurs late in a Trend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，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It's more likely a </a:t>
            </a:r>
            <a:r>
              <a:rPr>
                <a:solidFill>
                  <a:srgbClr val="FF0000">
                    <a:alpha val="100000"/>
                  </a:srgbClr>
                </a:solidFill>
              </a:rPr>
              <a:t>exhausted Bar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！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11 Main Points  Reversals and Breakout Failures   18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12 Reversal down in Bear Channel  Target Is Bottom of Channel   18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13 Failed Bear BO of Bear Channel  Target Is Top of Channel   19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14 Failed Bear BO of Bear Channel  Buy Reversal Up  EURJPV 15 min   21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15 Minimal Target for Reversal Down  Opposite Line  EURJPV 15 min   21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16 Minimal Target for Reversal Up  Opposite Line  EURJPV 15 min   22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 descr="17 Channel Tests  Most Overshoot, some Undershoot  Most tests of lines are overshoots,   24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0" y="6350"/>
            <a:ext cx="14630400" cy="8229600"/>
          </a:xfrm>
          <a:prstGeom prst="rect">
            <a:avLst/>
          </a:prstGeom>
        </p:spPr>
      </p:pic>
      <p:sp>
        <p:nvSpPr>
          <p:cNvPr id="36" name="Title 1"/>
          <p:cNvSpPr>
            <a:spLocks noGrp="true"/>
          </p:cNvSpPr>
          <p:nvPr>
            <p:ph type="ctrTitle"/>
          </p:nvPr>
        </p:nvSpPr>
        <p:spPr>
          <a:xfrm rot="0" flipH="false" flipV="false">
            <a:off x="644587" y="7003791"/>
            <a:ext cx="3445098" cy="728201"/>
          </a:xfrm>
          <a:solidFill>
            <a:schemeClr val="accent2">
              <a:alpha val="100000"/>
            </a:schemeClr>
          </a:solidFill>
        </p:spPr>
        <p:txBody>
          <a:bodyPr>
            <a:normAutofit fontScale="100000"/>
          </a:bodyPr>
          <a:lstStyle/>
          <a:p>
            <a:pPr>
              <a:buNone/>
            </a:pPr>
            <a:r>
              <a:rPr lang="en-US" sz="1800"/>
              <a:t>FirstPush because</a:t>
            </a:r>
            <a:endParaRPr/>
          </a:p>
          <a:p>
            <a:pPr>
              <a:buNone/>
            </a:pPr>
            <a:r>
              <a:rPr lang="en-US" sz="1800"/>
              <a:t>rally is strong and bull bar is strong</a:t>
            </a:r>
            <a:endParaRPr/>
          </a:p>
        </p:txBody>
      </p:sp>
      <p:cxnSp>
        <p:nvCxnSpPr>
          <p:cNvPr id="37" name=""/>
          <p:cNvCxnSpPr>
            <a:stCxn id="36" idx="0"/>
            <a:endCxn id="38" idx="2"/>
          </p:cNvCxnSpPr>
          <p:nvPr/>
        </p:nvCxnSpPr>
        <p:spPr>
          <a:xfrm rot="0" flipH="false" flipV="true">
            <a:off x="2367136" y="6256770"/>
            <a:ext cx="644480" cy="747021"/>
          </a:xfrm>
          <a:prstGeom prst="straightConnector1"/>
          <a:ln w="25400">
            <a:solidFill>
              <a:srgbClr val="C00000">
                <a:alpha val="100000"/>
              </a:srgbClr>
            </a:solidFill>
            <a:prstDash val="solid"/>
            <a:tailEnd type="triangle" w="med" len="med"/>
          </a:ln>
        </p:spPr>
      </p:cxnSp>
      <p:sp>
        <p:nvSpPr>
          <p:cNvPr id="38" name=""/>
          <p:cNvSpPr/>
          <p:nvPr/>
        </p:nvSpPr>
        <p:spPr>
          <a:xfrm rot="0" flipH="false" flipV="false">
            <a:off x="2445269" y="3877399"/>
            <a:ext cx="1132696" cy="2379371"/>
          </a:xfrm>
          <a:prstGeom prst="rect">
            <a:avLst/>
          </a:prstGeom>
          <a:noFill/>
          <a:ln w="12700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2" name="Picture 3" descr="18 Channel Tests  Most Overshoot, some Undershoot  EURUSD 5 min   26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19 Main Points  Broad Channel or Trading Range    26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20 Broad Channel or TR  Sometimes Impossible to Tell   26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8" name="Picture 3" descr="21 Broad Channel or TR  If Unclear, Trade Them the Same   28m1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2" name="Picture 3" descr="22 Bull Channel or TR  Look for Higher Highs and Lows   28m4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6" name="Picture 3" descr="23 Bear Channel or TR  Look for Lower Highs and Lows   29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0" name="Picture 3" descr="24 Main Points  Every TR Has Bull and Bear Channel   29m1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4" name="Picture 3" descr="25 TR  Always Has Both Bull Channel and Bear Channel   30m1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8" name="Picture 3" descr="26 Every TR  Contains Bull and Bear Trends   32m2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2" name="Picture 3" descr="27 TR Then Strong Bear BO  Bulls Gave Up (Give—up Bar)   34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3" name=""/>
          <p:cNvSpPr txBox="true"/>
          <p:nvPr/>
        </p:nvSpPr>
        <p:spPr>
          <a:xfrm rot="0" flipH="false" flipV="false">
            <a:off x="10378654" y="2224088"/>
            <a:ext cx="1850121" cy="641350"/>
          </a:xfrm>
          <a:prstGeom prst="rect">
            <a:avLst/>
          </a:prstGeom>
          <a:solidFill>
            <a:srgbClr val="FFFF0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不要入场，直到看到强势突破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7" name="Picture 3" descr="28 Review   35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2024-11-15T15:28:23Z</dcterms:created>
  <dcterms:modified xsi:type="dcterms:W3CDTF">2024-11-15T15:28:23Z</dcterms:modified>
</cp:coreProperties>
</file>