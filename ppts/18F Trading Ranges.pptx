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FF697C5-951A-40EE-A3CB-A3095E78BF54}">
          <p14:sldIdLst>
            <p14:sldId id="256"/>
          </p14:sldIdLst>
        </p14:section>
        <p14:section name="Trading Range: Don't bet on breakout" id="{CA3B917D-7312-477D-96F6-227165B7FBA4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Breakout into trend" id="{11A8A8F0-4D61-4376-A906-3D398640F93D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Early signs of TR" id="{EB3A68E1-9A62-46CF-86A2-535B197A60E6}">
          <p14:sldIdLst>
            <p14:sldId id="272"/>
            <p14:sldId id="273"/>
            <p14:sldId id="274"/>
            <p14:sldId id="275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0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20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35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37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6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01 Video 18F (#6 of 6) 00m07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50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51" name="Picture 3" descr="02 Main Points 00m37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2" name="Text Box 51"/>
          <p:cNvSpPr txBox="1"/>
          <p:nvPr/>
        </p:nvSpPr>
        <p:spPr>
          <a:xfrm>
            <a:off x="9606706" y="1762125"/>
            <a:ext cx="1099058" cy="368300"/>
          </a:xfrm>
          <a:prstGeom prst="rect">
            <a:avLst/>
          </a:prstGeom>
          <a:gradFill rotWithShape="1">
            <a:gsLst>
              <a:gs pos="0">
                <a:srgbClr val="FFF2CC">
                  <a:alpha val="100000"/>
                </a:srgbClr>
              </a:gs>
              <a:gs pos="100000">
                <a:srgbClr val="FFB700">
                  <a:alpha val="100000"/>
                </a:srgbClr>
              </a:gs>
            </a:gsLst>
            <a:lin ang="8100000" scaled="1"/>
          </a:gradFill>
          <a:ln w="12700">
            <a:prstDash val="solid"/>
            <a:miter lim="800000"/>
          </a:ln>
        </p:spPr>
        <p:txBody>
          <a:bodyPr>
            <a:spAutoFit/>
          </a:bodyPr>
          <a:p>
            <a:r>
              <a:rPr lang="en-US"/>
              <a:t>80%</a:t>
            </a:r>
            <a:r>
              <a:rPr lang="zh-CN"/>
              <a:t>失败</a:t>
            </a:r>
            <a:endParaRPr lang="zh-CN"/>
          </a:p>
        </p:txBody>
      </p:sp>
      <p:sp>
        <p:nvSpPr>
          <p:cNvPr id="53" name="Text Box 52"/>
          <p:cNvSpPr txBox="1"/>
          <p:nvPr/>
        </p:nvSpPr>
        <p:spPr>
          <a:xfrm>
            <a:off x="6195597" y="2764664"/>
            <a:ext cx="2875347" cy="368300"/>
          </a:xfrm>
          <a:prstGeom prst="rect">
            <a:avLst/>
          </a:prstGeom>
          <a:gradFill rotWithShape="1">
            <a:gsLst>
              <a:gs pos="0">
                <a:srgbClr val="FFF2CC">
                  <a:alpha val="100000"/>
                </a:srgbClr>
              </a:gs>
              <a:gs pos="100000">
                <a:srgbClr val="FFB700">
                  <a:alpha val="100000"/>
                </a:srgbClr>
              </a:gs>
            </a:gsLst>
            <a:lin ang="8100000" scaled="1"/>
          </a:gradFill>
          <a:ln w="12700">
            <a:prstDash val="solid"/>
            <a:miter lim="800000"/>
          </a:ln>
        </p:spPr>
        <p:txBody>
          <a:bodyPr>
            <a:spAutoFit/>
          </a:bodyPr>
          <a:p>
            <a:r>
              <a:rPr lang="zh-CN" altLang="en-US"/>
              <a:t>突破变为</a:t>
            </a:r>
            <a:r>
              <a:rPr lang="en-US" altLang="zh-CN"/>
              <a:t>TR</a:t>
            </a:r>
            <a:endParaRPr lang="en-US" altLang="zh-CN"/>
          </a:p>
        </p:txBody>
      </p:sp>
      <p:sp>
        <p:nvSpPr>
          <p:cNvPr id="54" name="Text Box 53"/>
          <p:cNvSpPr txBox="1"/>
          <p:nvPr/>
        </p:nvSpPr>
        <p:spPr>
          <a:xfrm>
            <a:off x="5979232" y="3702050"/>
            <a:ext cx="2114120" cy="368300"/>
          </a:xfrm>
          <a:prstGeom prst="rect">
            <a:avLst/>
          </a:prstGeom>
          <a:gradFill rotWithShape="1">
            <a:gsLst>
              <a:gs pos="0">
                <a:srgbClr val="FFF2CC">
                  <a:alpha val="100000"/>
                </a:srgbClr>
              </a:gs>
              <a:gs pos="100000">
                <a:srgbClr val="FFB700">
                  <a:alpha val="100000"/>
                </a:srgbClr>
              </a:gs>
            </a:gsLst>
            <a:lin ang="8100000" scaled="1"/>
          </a:gradFill>
          <a:ln w="12700">
            <a:prstDash val="solid"/>
            <a:miter lim="800000"/>
          </a:ln>
        </p:spPr>
        <p:txBody>
          <a:bodyPr>
            <a:spAutoFit/>
          </a:bodyPr>
          <a:p>
            <a:r>
              <a:rPr lang="en-US"/>
              <a:t>TR</a:t>
            </a:r>
            <a:r>
              <a:rPr lang="zh-CN"/>
              <a:t>形成的早期标志</a:t>
            </a:r>
            <a:endParaRPr 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69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70" name="Picture 3" descr="03 Trading Range  Very Little Time at Top or Bottom 00m57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7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74" name="Picture 3" descr="04 Trading Range  Winners Turn into Losers if Hold Too Long 02m18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75" name="Text Box 74"/>
          <p:cNvSpPr txBox="1"/>
          <p:nvPr/>
        </p:nvSpPr>
        <p:spPr>
          <a:xfrm>
            <a:off x="7926518" y="879197"/>
            <a:ext cx="4102100" cy="374650"/>
          </a:xfrm>
          <a:prstGeom prst="rect">
            <a:avLst/>
          </a:prstGeom>
          <a:gradFill rotWithShape="1">
            <a:gsLst>
              <a:gs pos="0">
                <a:srgbClr val="FFF2CC">
                  <a:alpha val="100000"/>
                </a:srgbClr>
              </a:gs>
              <a:gs pos="100000">
                <a:srgbClr val="FFB700">
                  <a:alpha val="100000"/>
                </a:srgbClr>
              </a:gs>
            </a:gsLst>
            <a:lin ang="8100000" scaled="1"/>
          </a:gradFill>
          <a:ln w="12700">
            <a:prstDash val="solid"/>
            <a:miter lim="800000"/>
          </a:ln>
        </p:spPr>
        <p:txBody>
          <a:bodyPr>
            <a:spAutoFit/>
          </a:bodyPr>
          <a:p>
            <a:r>
              <a:rPr lang="zh-CN"/>
              <a:t>持有太久，赢家变输家，所以说要</a:t>
            </a:r>
            <a:r>
              <a:rPr lang="en-US"/>
              <a:t>Scalp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78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79" name="Picture 3" descr="05 Trading Range  Take Profits in Middle 02m38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82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83" name="Picture 3" descr="06 Trading Range  Constantly Try to Break Out 03m34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86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87" name="Picture 3" descr="07 Don't Bet on Breakout  Do Not Buy High or Sell Low 04m33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90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91" name="Picture 3" descr="08 Breakout Attempts  Bet They Will Fail! 05m39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94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95" name="Picture 3" descr="09 Main Points  Breakout into Trend 05m47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8" name="Picture 3" descr="10 TR  Eventually There Will Be Successful BO 06m38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5350510" y="3123565"/>
            <a:ext cx="2205990" cy="368300"/>
          </a:xfrm>
          <a:prstGeom prst="rect">
            <a:avLst/>
          </a:prstGeom>
          <a:gradFill rotWithShape="1">
            <a:gsLst>
              <a:gs pos="0">
                <a:srgbClr val="D9EAD3">
                  <a:alpha val="100000"/>
                </a:srgbClr>
              </a:gs>
              <a:gs pos="100000">
                <a:srgbClr val="678F00">
                  <a:alpha val="100000"/>
                </a:srgbClr>
              </a:gs>
            </a:gsLst>
            <a:lin ang="8100000" scaled="1"/>
          </a:gradFill>
          <a:ln w="12700">
            <a:prstDash val="solid"/>
            <a:miter lim="800000"/>
          </a:ln>
        </p:spPr>
        <p:txBody>
          <a:bodyPr wrap="square">
            <a:spAutoFit/>
          </a:bodyPr>
          <a:p>
            <a:r>
              <a:rPr lang="zh-CN"/>
              <a:t>最好等到好的突破</a:t>
            </a:r>
            <a:endParaRPr 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14" name="Picture 3" descr="11 Transition into Channel  Can Become Trend without BO 07m45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17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18" name="Picture 3" descr="12 TR  Always Eventually Followed by Trend 08m14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22" name="Picture 3" descr="13 Buying or Selling Pressure  Early Sign of BO 09m27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3" name="Text Box 22"/>
          <p:cNvSpPr txBox="1"/>
          <p:nvPr/>
        </p:nvSpPr>
        <p:spPr>
          <a:xfrm>
            <a:off x="2754362" y="1002835"/>
            <a:ext cx="3220433" cy="368300"/>
          </a:xfrm>
          <a:prstGeom prst="rect">
            <a:avLst/>
          </a:prstGeom>
          <a:gradFill rotWithShape="1">
            <a:gsLst>
              <a:gs pos="0">
                <a:srgbClr val="D9EAD3">
                  <a:alpha val="100000"/>
                </a:srgbClr>
              </a:gs>
              <a:gs pos="100000">
                <a:srgbClr val="678F00">
                  <a:alpha val="100000"/>
                </a:srgbClr>
              </a:gs>
            </a:gsLst>
            <a:lin ang="8100000" scaled="1"/>
          </a:gradFill>
          <a:ln w="12700">
            <a:prstDash val="solid"/>
            <a:miter lim="800000"/>
          </a:ln>
        </p:spPr>
        <p:txBody>
          <a:bodyPr>
            <a:spAutoFit/>
          </a:bodyPr>
          <a:p>
            <a:r>
              <a:rPr lang="zh-CN"/>
              <a:t>买卖压可以作为</a:t>
            </a:r>
            <a:r>
              <a:rPr lang="en-US"/>
              <a:t>BO</a:t>
            </a:r>
            <a:r>
              <a:rPr lang="zh-CN"/>
              <a:t>的早期信号</a:t>
            </a:r>
            <a:endParaRPr lang="zh-C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26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27" name="Picture 3" descr="14 Buying or Selling Pressure  Often Increases before BO 10m41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11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30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31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2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  <p:sp>
        <p:nvSpPr>
          <p:cNvPr id="36" name="文本框 36"/>
          <p:cNvSpPr txBox="1"/>
          <p:nvPr/>
        </p:nvSpPr>
        <p:spPr>
          <a:xfrm>
            <a:off x="4451985" y="975271"/>
            <a:ext cx="322707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b="1" dirty="0">
                <a:solidFill>
                  <a:srgbClr val="316B93"/>
                </a:solidFill>
              </a:rPr>
              <a:t>卖压逐渐增强，加大了向下突破的概率</a:t>
            </a:r>
            <a:endParaRPr lang="zh-CN" altLang="en-US" sz="1400" b="1" dirty="0">
              <a:solidFill>
                <a:srgbClr val="316B93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0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31" name="Picture 3" descr="19 TR BO  50% Chance 15‘ BO Will Reverse 12m02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4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35" name="Picture 3" descr="20 TR BO  Be Ready to Swing Trade 13m27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8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39" name="Picture 3" descr="21 Main Points  Early Signs of TR 13m42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42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3" name="Picture 3" descr="22 First Few Bars  Often Indicate Trend or TR Day  EURUSD 5 min 15m42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  <p:sp>
        <p:nvSpPr>
          <p:cNvPr id="1" name="文本框 36"/>
          <p:cNvSpPr txBox="1"/>
          <p:nvPr/>
        </p:nvSpPr>
        <p:spPr>
          <a:xfrm>
            <a:off x="3108325" y="1274991"/>
            <a:ext cx="200787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b="1" dirty="0">
                <a:solidFill>
                  <a:srgbClr val="316B93"/>
                </a:solidFill>
              </a:rPr>
              <a:t>注意前</a:t>
            </a:r>
            <a:r>
              <a:rPr lang="en-US" altLang="zh-CN" sz="1400" b="1" dirty="0">
                <a:solidFill>
                  <a:srgbClr val="316B93"/>
                </a:solidFill>
              </a:rPr>
              <a:t>5-10</a:t>
            </a:r>
            <a:r>
              <a:rPr lang="zh-CN" altLang="en-US" sz="1400" b="1" dirty="0">
                <a:solidFill>
                  <a:srgbClr val="316B93"/>
                </a:solidFill>
              </a:rPr>
              <a:t>根</a:t>
            </a:r>
            <a:r>
              <a:rPr lang="en-US" altLang="zh-CN" sz="1400" b="1" dirty="0">
                <a:solidFill>
                  <a:srgbClr val="316B93"/>
                </a:solidFill>
              </a:rPr>
              <a:t>bar</a:t>
            </a:r>
            <a:r>
              <a:rPr lang="zh-CN" altLang="en-US" sz="1400" b="1" dirty="0">
                <a:solidFill>
                  <a:srgbClr val="316B93"/>
                </a:solidFill>
              </a:rPr>
              <a:t>的形态</a:t>
            </a:r>
            <a:endParaRPr lang="zh-CN" altLang="en-US" sz="1400" b="1" dirty="0">
              <a:solidFill>
                <a:srgbClr val="316B93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/>
          <p:cNvSpPr>
            <a:spLocks noGrp="1"/>
          </p:cNvSpPr>
          <p:nvPr>
            <p:ph type="title"/>
          </p:nvPr>
        </p:nvSpPr>
        <p:spPr/>
        <p:txBody>
          <a:bodyPr/>
          <a:p/>
        </p:txBody>
      </p:sp>
      <p:sp>
        <p:nvSpPr>
          <p:cNvPr id="46" name="Content Placeholder 2"/>
          <p:cNvSpPr>
            <a:spLocks noGrp="1"/>
          </p:cNvSpPr>
          <p:nvPr>
            <p:ph idx="1"/>
          </p:nvPr>
        </p:nvSpPr>
        <p:spPr/>
        <p:txBody>
          <a:bodyPr/>
          <a:p/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1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  <p:sp>
        <p:nvSpPr>
          <p:cNvPr id="11" name="文本框 37"/>
          <p:cNvSpPr txBox="1"/>
          <p:nvPr/>
        </p:nvSpPr>
        <p:spPr>
          <a:xfrm>
            <a:off x="5459964" y="800646"/>
            <a:ext cx="1896110" cy="95313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400" b="1" dirty="0">
                <a:solidFill>
                  <a:srgbClr val="AF8647"/>
                </a:solidFill>
              </a:rPr>
              <a:t>1st bar</a:t>
            </a:r>
            <a:r>
              <a:rPr lang="zh-CN" altLang="en-US" sz="1400" b="1" dirty="0">
                <a:solidFill>
                  <a:srgbClr val="AF8647"/>
                </a:solidFill>
              </a:rPr>
              <a:t>是</a:t>
            </a:r>
            <a:r>
              <a:rPr lang="en-US" altLang="zh-CN" sz="1400" b="1" dirty="0">
                <a:solidFill>
                  <a:srgbClr val="AF8647"/>
                </a:solidFill>
              </a:rPr>
              <a:t>doji</a:t>
            </a:r>
            <a:r>
              <a:rPr lang="zh-CN" altLang="en-US" sz="1400" b="1" dirty="0">
                <a:solidFill>
                  <a:srgbClr val="AF8647"/>
                </a:solidFill>
              </a:rPr>
              <a:t>、</a:t>
            </a:r>
            <a:endParaRPr lang="en-US" altLang="zh-CN" sz="1400" b="1" dirty="0">
              <a:solidFill>
                <a:srgbClr val="AF8647"/>
              </a:solidFill>
            </a:endParaRPr>
          </a:p>
          <a:p>
            <a:r>
              <a:rPr lang="zh-CN" altLang="en-US" sz="1400" b="1" dirty="0">
                <a:solidFill>
                  <a:srgbClr val="AF8647"/>
                </a:solidFill>
              </a:rPr>
              <a:t>很多</a:t>
            </a:r>
            <a:r>
              <a:rPr lang="en-US" altLang="zh-CN" sz="1400" b="1" dirty="0">
                <a:solidFill>
                  <a:srgbClr val="AF8647"/>
                </a:solidFill>
              </a:rPr>
              <a:t>doji</a:t>
            </a:r>
            <a:r>
              <a:rPr lang="zh-CN" altLang="en-US" sz="1400" b="1" dirty="0">
                <a:solidFill>
                  <a:srgbClr val="AF8647"/>
                </a:solidFill>
              </a:rPr>
              <a:t>第一个小时、</a:t>
            </a:r>
            <a:endParaRPr lang="zh-CN" altLang="en-US" sz="1400" b="1" dirty="0">
              <a:solidFill>
                <a:srgbClr val="AF8647"/>
              </a:solidFill>
            </a:endParaRPr>
          </a:p>
          <a:p>
            <a:r>
              <a:rPr lang="zh-CN" altLang="en-US" sz="1400" b="1" dirty="0">
                <a:solidFill>
                  <a:srgbClr val="AF8647"/>
                </a:solidFill>
              </a:rPr>
              <a:t>明显的尾巴、</a:t>
            </a:r>
            <a:endParaRPr lang="zh-CN" altLang="en-US" sz="1400" b="1" dirty="0">
              <a:solidFill>
                <a:srgbClr val="AF8647"/>
              </a:solidFill>
            </a:endParaRPr>
          </a:p>
          <a:p>
            <a:r>
              <a:rPr lang="en-US" altLang="zh-CN" sz="1400" b="1" dirty="0">
                <a:solidFill>
                  <a:srgbClr val="AF8647"/>
                </a:solidFill>
              </a:rPr>
              <a:t>bar</a:t>
            </a:r>
            <a:r>
              <a:rPr lang="zh-CN" altLang="en-US" sz="1400" b="1" dirty="0">
                <a:solidFill>
                  <a:srgbClr val="AF8647"/>
                </a:solidFill>
              </a:rPr>
              <a:t>重叠在一起</a:t>
            </a:r>
            <a:endParaRPr lang="zh-CN" altLang="en-US" sz="1400" b="1" dirty="0">
              <a:solidFill>
                <a:srgbClr val="AF8647"/>
              </a:solidFill>
            </a:endParaRPr>
          </a:p>
        </p:txBody>
      </p:sp>
      <p:sp>
        <p:nvSpPr>
          <p:cNvPr id="31" name="文本框 39"/>
          <p:cNvSpPr txBox="1"/>
          <p:nvPr/>
        </p:nvSpPr>
        <p:spPr>
          <a:xfrm>
            <a:off x="7898364" y="955388"/>
            <a:ext cx="149034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CE1DD3"/>
                </a:solidFill>
              </a:rPr>
              <a:t>趋势</a:t>
            </a:r>
            <a:r>
              <a:rPr lang="en-US" altLang="zh-CN" sz="1400" dirty="0">
                <a:solidFill>
                  <a:srgbClr val="CE1DD3"/>
                </a:solidFill>
              </a:rPr>
              <a:t>bar</a:t>
            </a:r>
            <a:r>
              <a:rPr lang="zh-CN" altLang="en-US" sz="1400" dirty="0">
                <a:solidFill>
                  <a:srgbClr val="CE1DD3"/>
                </a:solidFill>
              </a:rPr>
              <a:t>跟随</a:t>
            </a:r>
            <a:r>
              <a:rPr lang="zh-CN" altLang="en-US" sz="1400" dirty="0">
                <a:solidFill>
                  <a:srgbClr val="CE1DD3"/>
                </a:solidFill>
              </a:rPr>
              <a:t>很差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57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58" name="Picture 3" descr="25 Early TR Price Action  Likely TR Day     EURUSD 5 min 18m36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  <p:sp>
        <p:nvSpPr>
          <p:cNvPr id="11" name="文本框 36"/>
          <p:cNvSpPr txBox="1"/>
          <p:nvPr/>
        </p:nvSpPr>
        <p:spPr>
          <a:xfrm>
            <a:off x="4764405" y="2235111"/>
            <a:ext cx="1574165" cy="11684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400" b="1" dirty="0">
                <a:solidFill>
                  <a:srgbClr val="316B93"/>
                </a:solidFill>
              </a:rPr>
              <a:t>1.EMA</a:t>
            </a:r>
            <a:r>
              <a:rPr lang="zh-CN" altLang="en-US" sz="1400" b="1" dirty="0">
                <a:solidFill>
                  <a:srgbClr val="316B93"/>
                </a:solidFill>
              </a:rPr>
              <a:t>很平</a:t>
            </a:r>
            <a:endParaRPr lang="zh-CN" altLang="en-US" sz="1400" b="1" dirty="0">
              <a:solidFill>
                <a:srgbClr val="316B93"/>
              </a:solidFill>
            </a:endParaRPr>
          </a:p>
          <a:p>
            <a:r>
              <a:rPr lang="en-US" altLang="zh-CN" sz="1400" b="1" dirty="0">
                <a:solidFill>
                  <a:srgbClr val="316B93"/>
                </a:solidFill>
              </a:rPr>
              <a:t>2.</a:t>
            </a:r>
            <a:r>
              <a:rPr lang="zh-CN" altLang="en-US" sz="1400" b="1" dirty="0">
                <a:solidFill>
                  <a:srgbClr val="316B93"/>
                </a:solidFill>
              </a:rPr>
              <a:t>开盘没有跳空</a:t>
            </a:r>
            <a:endParaRPr lang="zh-CN" altLang="en-US" sz="1400" b="1" dirty="0">
              <a:solidFill>
                <a:srgbClr val="316B93"/>
              </a:solidFill>
            </a:endParaRPr>
          </a:p>
          <a:p>
            <a:r>
              <a:rPr lang="en-US" altLang="zh-CN" sz="1400" b="1" dirty="0">
                <a:solidFill>
                  <a:srgbClr val="316B93"/>
                </a:solidFill>
              </a:rPr>
              <a:t>3.</a:t>
            </a:r>
            <a:r>
              <a:rPr lang="zh-CN" altLang="en-US" sz="1400" b="1" dirty="0">
                <a:solidFill>
                  <a:srgbClr val="316B93"/>
                </a:solidFill>
              </a:rPr>
              <a:t>前一天是</a:t>
            </a:r>
            <a:r>
              <a:rPr lang="en-US" altLang="zh-CN" sz="1400" b="1" dirty="0">
                <a:solidFill>
                  <a:srgbClr val="316B93"/>
                </a:solidFill>
              </a:rPr>
              <a:t>TR</a:t>
            </a:r>
            <a:endParaRPr lang="en-US" altLang="zh-CN" sz="1400" b="1" dirty="0">
              <a:solidFill>
                <a:srgbClr val="316B93"/>
              </a:solidFill>
            </a:endParaRPr>
          </a:p>
          <a:p>
            <a:r>
              <a:rPr lang="en-US" altLang="zh-CN" sz="1400" b="1" dirty="0">
                <a:solidFill>
                  <a:srgbClr val="316B93"/>
                </a:solidFill>
              </a:rPr>
              <a:t>4.</a:t>
            </a:r>
            <a:r>
              <a:rPr lang="zh-CN" altLang="en-US" sz="1400" b="1" dirty="0">
                <a:solidFill>
                  <a:srgbClr val="316B93"/>
                </a:solidFill>
              </a:rPr>
              <a:t>感觉紧张和疑惑</a:t>
            </a:r>
            <a:endParaRPr lang="zh-CN" altLang="en-US" sz="1400" b="1" dirty="0">
              <a:solidFill>
                <a:srgbClr val="316B93"/>
              </a:solidFill>
            </a:endParaRPr>
          </a:p>
          <a:p>
            <a:r>
              <a:rPr lang="en-US" altLang="zh-CN" sz="1400" b="1" dirty="0">
                <a:solidFill>
                  <a:srgbClr val="316B93"/>
                </a:solidFill>
              </a:rPr>
              <a:t>5.</a:t>
            </a:r>
            <a:r>
              <a:rPr lang="zh-CN" altLang="en-US" sz="1400" b="1" dirty="0">
                <a:solidFill>
                  <a:srgbClr val="316B93"/>
                </a:solidFill>
              </a:rPr>
              <a:t>限价单市场</a:t>
            </a:r>
            <a:endParaRPr lang="zh-CN" altLang="en-US" sz="1400" b="1" dirty="0">
              <a:solidFill>
                <a:srgbClr val="316B93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61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62" name="Picture 3" descr="32 Final Third of Session  If TR Day, Often Closes near Middle  EURUSDS  1‘  TRD usuall reverses and 19m58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65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66" name="Picture 3" descr="33 Review 20m45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280</Words>
  <Application>WPS Presentation</Application>
  <PresentationFormat/>
  <Paragraphs>119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1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Constantia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WPS_1709194251</cp:lastModifiedBy>
  <cp:revision>9</cp:revision>
  <dcterms:created xsi:type="dcterms:W3CDTF">2024-12-05T03:29:20Z</dcterms:created>
  <dcterms:modified xsi:type="dcterms:W3CDTF">2024-12-05T04:07:54Z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F5E8A885FC4C41E5A5AD32767C102C1E_12</vt:lpwstr>
  </property>
  <property fmtid="{D5CDD505-2E9C-101B-9397-08002B2CF9AE}" pid="3" name="KSOProductBuildVer">
    <vt:lpwstr>1033-12.2.0.19307</vt:lpwstr>
  </property>
</Properties>
</file>