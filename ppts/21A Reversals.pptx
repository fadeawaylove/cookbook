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notesMasterIdLst>
    <p:notesMasterId r:id="rId2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25" Type="http://schemas.openxmlformats.org/officeDocument/2006/relationships/tableStyles" Target="tableStyles.xml" /><Relationship Id="rId23" Type="http://schemas.openxmlformats.org/officeDocument/2006/relationships/notesMaster" Target="notesMasters/notesMaster1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6" Type="http://schemas.openxmlformats.org/officeDocument/2006/relationships/slide" Target="slides/slide16.xml" /><Relationship Id="rId20" Type="http://schemas.openxmlformats.org/officeDocument/2006/relationships/slide" Target="slides/slide20.xml" /><Relationship Id="rId13" Type="http://schemas.openxmlformats.org/officeDocument/2006/relationships/slide" Target="slides/slide13.xml" /><Relationship Id="rId4" Type="http://schemas.openxmlformats.org/officeDocument/2006/relationships/slide" Target="slides/slide4.xml" /><Relationship Id="rId26" Type="http://schemas.openxmlformats.org/officeDocument/2006/relationships/viewProps" Target="viewProps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Relationship Id="rId9" Type="http://schemas.openxmlformats.org/officeDocument/2006/relationships/slide" Target="slides/slide9.xml" /><Relationship Id="rId14" Type="http://schemas.openxmlformats.org/officeDocument/2006/relationships/slide" Target="slides/slide14.xml" /><Relationship Id="rId19" Type="http://schemas.openxmlformats.org/officeDocument/2006/relationships/slide" Target="slides/slide19.xml" /><Relationship Id="rId22" Type="http://schemas.openxmlformats.org/officeDocument/2006/relationships/slide" Target="slides/slide22.xml" /><Relationship Id="rId17" Type="http://schemas.openxmlformats.org/officeDocument/2006/relationships/slide" Target="slides/slide17.xml" /><Relationship Id="rId24" Type="http://schemas.openxmlformats.org/officeDocument/2006/relationships/presProps" Target="presProps.xml" /><Relationship Id="rId15" Type="http://schemas.openxmlformats.org/officeDocument/2006/relationships/slide" Target="slides/slide15.xml" /><Relationship Id="rId21" Type="http://schemas.openxmlformats.org/officeDocument/2006/relationships/slide" Target="slides/slide21.xml" /><Relationship Id="rId3" Type="http://schemas.openxmlformats.org/officeDocument/2006/relationships/slide" Target="slides/slide3.xml" /><Relationship Id="rId10" Type="http://schemas.openxmlformats.org/officeDocument/2006/relationships/slide" Target="slides/slide10.xml" /><Relationship Id="rId18" Type="http://schemas.openxmlformats.org/officeDocument/2006/relationships/slide" Target="slides/slide18.xml" /><Relationship Id="rId2" Type="http://schemas.openxmlformats.org/officeDocument/2006/relationships/slide" Target="slides/slide2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3" name="日期占位符 2"/>
          <p:cNvSpPr>
            <a:spLocks noGrp="true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false"/>
          <a:lstStyle>
            <a:lvl1pPr algn="r">
              <a:defRPr sz="1200"/>
            </a:lvl1pPr>
          </a:lstStyle>
          <a:p>
            <a:pPr/>
            <a:fld id="{D2A48B96-639E-45A3-A0BA-2464DFDB1FAA}" type="datetimeFigureOut">
              <a:rPr smtClean="false"/>
              <a:t/>
            </a:fld>
            <a:endParaRPr smtClean="false"/>
          </a:p>
        </p:txBody>
      </p:sp>
      <p:sp>
        <p:nvSpPr>
          <p:cNvPr id="4" name="幻灯片图像占位符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false" anchor="ctr"/>
          <a:lstStyle/>
          <a:p>
            <a:pPr/>
            <a:endParaRPr/>
          </a:p>
        </p:txBody>
      </p:sp>
      <p:sp>
        <p:nvSpPr>
          <p:cNvPr id="5" name="文本占位符 4"/>
          <p:cNvSpPr>
            <a:spLocks noGrp="true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false"/>
          <a:lstStyle/>
          <a:p>
            <a:pPr lvl="0"/>
            <a:endParaRPr/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 smtClean="false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l">
              <a:defRPr sz="1200"/>
            </a:lvl1pPr>
          </a:lstStyle>
          <a:p>
            <a:pPr/>
            <a:endParaRPr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false" anchor="b"/>
          <a:lstStyle>
            <a:lvl1pPr algn="r">
              <a:defRPr sz="1200"/>
            </a:lvl1pPr>
          </a:lstStyle>
          <a:p>
            <a:pPr/>
            <a:fld id="{A6837353-30EB-4A48-80EB-173D804AEFBD}" type="slidenum">
              <a:rPr smtClean="false"/>
              <a:t/>
            </a:fld>
            <a:endParaRPr smtClean="fals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 idx="2"/>
          </p:nvPr>
        </p:nvSpPr>
        <p:spPr/>
        <p:txBody>
          <a:bodyPr/>
          <a:p/>
        </p:txBody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pPr/>
            <a:endParaRPr lang="zh-CN" altLang="en-US"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幻灯片图像占位符 1"/>
          <p:cNvSpPr/>
          <p:nvPr>
            <p:ph type="sldImg" idx="2"/>
          </p:nvPr>
        </p:nvSpPr>
        <p:spPr/>
        <p:txBody>
          <a:bodyPr/>
          <a:p/>
        </p:txBody>
      </p:sp>
      <p:sp>
        <p:nvSpPr>
          <p:cNvPr id="6" name="文本占位符 2"/>
          <p:cNvSpPr/>
          <p:nvPr>
            <p:ph type="body" idx="3"/>
          </p:nvPr>
        </p:nvSpPr>
        <p:spPr/>
        <p:txBody>
          <a:bodyPr/>
          <a:p>
            <a:pPr/>
            <a:endParaRPr lang="zh-CN" altLang="en-US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 lang="en-US" smtClean="false"/>
          </a:p>
          <a:p>
            <a:pPr lvl="1"/>
            <a:r>
              <a:rPr lang="en-US" smtClean="false"/>
              <a:t>Second level</a:t>
            </a:r>
            <a:endParaRPr lang="en-US" smtClean="false"/>
          </a:p>
          <a:p>
            <a:pPr lvl="2"/>
            <a:r>
              <a:rPr lang="en-US" smtClean="false"/>
              <a:t>Third level</a:t>
            </a:r>
            <a:endParaRPr lang="en-US" smtClean="false"/>
          </a:p>
          <a:p>
            <a:pPr lvl="3"/>
            <a:r>
              <a:rPr lang="en-US" smtClean="false"/>
              <a:t>Fourth level</a:t>
            </a:r>
            <a:endParaRPr lang="en-US" smtClean="false"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/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 lang="en-US" smtClean="false"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/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 lang="en-US" smtClean="false"/>
          </a:p>
          <a:p>
            <a:pPr lvl="1"/>
            <a:r>
              <a:rPr lang="en-US" smtClean="false"/>
              <a:t>Second level</a:t>
            </a:r>
            <a:endParaRPr lang="en-US" smtClean="false"/>
          </a:p>
          <a:p>
            <a:pPr lvl="2"/>
            <a:r>
              <a:rPr lang="en-US" smtClean="false"/>
              <a:t>Third level</a:t>
            </a:r>
            <a:endParaRPr lang="en-US" smtClean="false"/>
          </a:p>
          <a:p>
            <a:pPr lvl="3"/>
            <a:r>
              <a:rPr lang="en-US" smtClean="false"/>
              <a:t>Fourth level</a:t>
            </a:r>
            <a:endParaRPr lang="en-US" smtClean="false"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 lang="en-US" smtClean="false"/>
          </a:p>
          <a:p>
            <a:pPr lvl="1"/>
            <a:r>
              <a:rPr lang="en-US" smtClean="false"/>
              <a:t>Second level</a:t>
            </a:r>
            <a:endParaRPr lang="en-US" smtClean="false"/>
          </a:p>
          <a:p>
            <a:pPr lvl="2"/>
            <a:r>
              <a:rPr lang="en-US" smtClean="false"/>
              <a:t>Third level</a:t>
            </a:r>
            <a:endParaRPr lang="en-US" smtClean="false"/>
          </a:p>
          <a:p>
            <a:pPr lvl="3"/>
            <a:r>
              <a:rPr lang="en-US" smtClean="false"/>
              <a:t>Fourth level</a:t>
            </a:r>
            <a:endParaRPr lang="en-US" smtClean="false"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/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 lang="en-US" smtClean="false"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 lang="en-US" smtClean="false"/>
          </a:p>
          <a:p>
            <a:pPr lvl="1"/>
            <a:r>
              <a:rPr lang="en-US" smtClean="false"/>
              <a:t>Second level</a:t>
            </a:r>
            <a:endParaRPr lang="en-US" smtClean="false"/>
          </a:p>
          <a:p>
            <a:pPr lvl="2"/>
            <a:r>
              <a:rPr lang="en-US" smtClean="false"/>
              <a:t>Third level</a:t>
            </a:r>
            <a:endParaRPr lang="en-US" smtClean="false"/>
          </a:p>
          <a:p>
            <a:pPr lvl="3"/>
            <a:r>
              <a:rPr lang="en-US" smtClean="false"/>
              <a:t>Fourth level</a:t>
            </a:r>
            <a:endParaRPr lang="en-US" smtClean="false"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 lang="en-US" smtClean="false"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 lang="en-US" smtClean="false"/>
          </a:p>
          <a:p>
            <a:pPr lvl="1"/>
            <a:r>
              <a:rPr lang="en-US" smtClean="false"/>
              <a:t>Second level</a:t>
            </a:r>
            <a:endParaRPr lang="en-US" smtClean="false"/>
          </a:p>
          <a:p>
            <a:pPr lvl="2"/>
            <a:r>
              <a:rPr lang="en-US" smtClean="false"/>
              <a:t>Third level</a:t>
            </a:r>
            <a:endParaRPr lang="en-US" smtClean="false"/>
          </a:p>
          <a:p>
            <a:pPr lvl="3"/>
            <a:r>
              <a:rPr lang="en-US" smtClean="false"/>
              <a:t>Fourth level</a:t>
            </a:r>
            <a:endParaRPr lang="en-US" smtClean="false"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/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/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/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 lang="en-US" smtClean="false"/>
          </a:p>
          <a:p>
            <a:pPr lvl="1"/>
            <a:r>
              <a:rPr lang="en-US" smtClean="false"/>
              <a:t>Second level</a:t>
            </a:r>
            <a:endParaRPr lang="en-US" smtClean="false"/>
          </a:p>
          <a:p>
            <a:pPr lvl="2"/>
            <a:r>
              <a:rPr lang="en-US" smtClean="false"/>
              <a:t>Third level</a:t>
            </a:r>
            <a:endParaRPr lang="en-US" smtClean="false"/>
          </a:p>
          <a:p>
            <a:pPr lvl="3"/>
            <a:r>
              <a:rPr lang="en-US" smtClean="false"/>
              <a:t>Fourth level</a:t>
            </a:r>
            <a:endParaRPr lang="en-US" smtClean="false"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 lang="en-US" smtClean="false"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/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 lang="en-US" smtClean="false"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/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 lang="en-US" smtClean="false"/>
          </a:p>
          <a:p>
            <a:pPr lvl="1"/>
            <a:r>
              <a:rPr lang="en-US" smtClean="false"/>
              <a:t>Second level</a:t>
            </a:r>
            <a:endParaRPr lang="en-US" smtClean="false"/>
          </a:p>
          <a:p>
            <a:pPr lvl="2"/>
            <a:r>
              <a:rPr lang="en-US" smtClean="false"/>
              <a:t>Third level</a:t>
            </a:r>
            <a:endParaRPr lang="en-US" smtClean="false"/>
          </a:p>
          <a:p>
            <a:pPr lvl="3"/>
            <a:r>
              <a:rPr lang="en-US" smtClean="false"/>
              <a:t>Fourth level</a:t>
            </a:r>
            <a:endParaRPr lang="en-US" smtClean="false"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/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 lang="en-US" smtClean="false"/>
          </a:p>
          <a:p>
            <a:pPr lvl="1"/>
            <a:r>
              <a:rPr lang="en-US" smtClean="false"/>
              <a:t>Second level</a:t>
            </a:r>
            <a:endParaRPr lang="en-US" smtClean="false"/>
          </a:p>
          <a:p>
            <a:pPr lvl="2"/>
            <a:r>
              <a:rPr lang="en-US" smtClean="false"/>
              <a:t>Third level</a:t>
            </a:r>
            <a:endParaRPr lang="en-US" smtClean="false"/>
          </a:p>
          <a:p>
            <a:pPr lvl="3"/>
            <a:r>
              <a:rPr lang="en-US" smtClean="false"/>
              <a:t>Fourth level</a:t>
            </a:r>
            <a:endParaRPr lang="en-US" smtClean="false"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/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4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1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 lang="en-US" smtClean="false"/>
          </a:p>
          <a:p>
            <a:pPr lvl="1"/>
            <a:r>
              <a:rPr lang="en-US" smtClean="false"/>
              <a:t>Second level</a:t>
            </a:r>
            <a:endParaRPr lang="en-US" smtClean="false"/>
          </a:p>
          <a:p>
            <a:pPr lvl="2"/>
            <a:r>
              <a:rPr lang="en-US" smtClean="false"/>
              <a:t>Third level</a:t>
            </a:r>
            <a:endParaRPr lang="en-US" smtClean="false"/>
          </a:p>
          <a:p>
            <a:pPr lvl="3"/>
            <a:r>
              <a:rPr lang="en-US" smtClean="false"/>
              <a:t>Fourth level</a:t>
            </a:r>
            <a:endParaRPr lang="en-US" smtClean="false"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2" Type="http://schemas.openxmlformats.org/officeDocument/2006/relationships/image" Target="media/image3.jp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2" Type="http://schemas.openxmlformats.org/officeDocument/2006/relationships/image" Target="media/image7.jp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文本框 4"/>
          <p:cNvSpPr txBox="true"/>
          <p:nvPr/>
        </p:nvSpPr>
        <p:spPr>
          <a:xfrm>
            <a:off x="5950585" y="1762125"/>
            <a:ext cx="1325880" cy="3683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false">
            <a:spAutoFit/>
          </a:bodyPr>
          <a:p>
            <a:pPr/>
            <a:r>
              <a:rPr lang="zh-CN" altLang="en-US"/>
              <a:t>反转的定义</a:t>
            </a:r>
            <a:endParaRPr lang="zh-CN" altLang="en-US"/>
          </a:p>
        </p:txBody>
      </p:sp>
      <p:sp>
        <p:nvSpPr>
          <p:cNvPr id="6" name="文本框 5"/>
          <p:cNvSpPr txBox="true"/>
          <p:nvPr/>
        </p:nvSpPr>
        <p:spPr>
          <a:xfrm>
            <a:off x="8837295" y="2543175"/>
            <a:ext cx="2468880" cy="6451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false">
            <a:spAutoFit/>
          </a:bodyPr>
          <a:p>
            <a:pPr/>
            <a:r>
              <a:rPr lang="zh-CN" altLang="en-US"/>
              <a:t>小反转导致</a:t>
            </a:r>
            <a:r>
              <a:rPr lang="en-US" altLang="zh-CN"/>
              <a:t>TR</a:t>
            </a:r>
            <a:endParaRPr lang="en-US" altLang="zh-CN"/>
          </a:p>
          <a:p>
            <a:pPr/>
            <a:r>
              <a:rPr lang="zh-CN" altLang="en-US"/>
              <a:t>大反转导致相反的趋势</a:t>
            </a:r>
            <a:endParaRPr lang="zh-CN" altLang="en-US"/>
          </a:p>
        </p:txBody>
      </p:sp>
      <p:sp>
        <p:nvSpPr>
          <p:cNvPr id="7" name="文本框 6"/>
          <p:cNvSpPr txBox="true"/>
          <p:nvPr/>
        </p:nvSpPr>
        <p:spPr>
          <a:xfrm>
            <a:off x="9175750" y="3739515"/>
            <a:ext cx="2011680" cy="3683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false">
            <a:spAutoFit/>
          </a:bodyPr>
          <a:p>
            <a:pPr/>
            <a:r>
              <a:rPr lang="zh-CN" altLang="en-US"/>
              <a:t>反转可以始于突破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1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2" name="文本框 4"/>
          <p:cNvSpPr txBox="true"/>
          <p:nvPr/>
        </p:nvSpPr>
        <p:spPr>
          <a:xfrm>
            <a:off x="2110105" y="1836420"/>
            <a:ext cx="1554480" cy="3683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false">
            <a:spAutoFit/>
          </a:bodyPr>
          <a:p>
            <a:pPr/>
            <a:r>
              <a:rPr lang="zh-CN" altLang="en-US"/>
              <a:t>上涨变为下跌</a:t>
            </a:r>
            <a:endParaRPr lang="zh-CN" altLang="en-US"/>
          </a:p>
        </p:txBody>
      </p:sp>
      <p:sp>
        <p:nvSpPr>
          <p:cNvPr id="63" name="文本框 5"/>
          <p:cNvSpPr txBox="true"/>
          <p:nvPr/>
        </p:nvSpPr>
        <p:spPr>
          <a:xfrm>
            <a:off x="4156710" y="6541770"/>
            <a:ext cx="1554480" cy="3683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false">
            <a:spAutoFit/>
          </a:bodyPr>
          <a:p>
            <a:pPr/>
            <a:r>
              <a:rPr lang="zh-CN" altLang="en-US"/>
              <a:t>下跌变为上涨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1" name="文本框 4"/>
          <p:cNvSpPr txBox="true"/>
          <p:nvPr/>
        </p:nvSpPr>
        <p:spPr>
          <a:xfrm>
            <a:off x="6447790" y="7279640"/>
            <a:ext cx="6888480" cy="36830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false">
            <a:spAutoFit/>
          </a:bodyPr>
          <a:p>
            <a:pPr/>
            <a:r>
              <a:rPr lang="zh-CN" altLang="en-US"/>
              <a:t>所有的市场都在</a:t>
            </a:r>
            <a:r>
              <a:rPr lang="en-US" altLang="zh-CN"/>
              <a:t>TR</a:t>
            </a:r>
            <a:r>
              <a:rPr lang="zh-CN" altLang="en-US"/>
              <a:t>或者</a:t>
            </a:r>
            <a:r>
              <a:rPr lang="en-US" altLang="zh-CN"/>
              <a:t>Trend</a:t>
            </a:r>
            <a:r>
              <a:rPr lang="zh-CN" altLang="en-US"/>
              <a:t>中，任何价格行为的转变都称之为反转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5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6" name="文本框 4"/>
          <p:cNvSpPr txBox="true"/>
          <p:nvPr/>
        </p:nvSpPr>
        <p:spPr>
          <a:xfrm>
            <a:off x="5262880" y="852170"/>
            <a:ext cx="2246630" cy="3683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false">
            <a:spAutoFit/>
          </a:bodyPr>
          <a:p>
            <a:pPr/>
            <a:r>
              <a:rPr lang="en-US" altLang="zh-CN"/>
              <a:t>TR</a:t>
            </a:r>
            <a:r>
              <a:rPr lang="zh-CN" altLang="en-US"/>
              <a:t>通常是反转的过渡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0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1" name="文本框 4"/>
          <p:cNvSpPr txBox="true"/>
          <p:nvPr/>
        </p:nvSpPr>
        <p:spPr>
          <a:xfrm>
            <a:off x="2630170" y="1001395"/>
            <a:ext cx="5330825" cy="3683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false">
            <a:spAutoFit/>
          </a:bodyPr>
          <a:p>
            <a:pPr/>
            <a:r>
              <a:rPr lang="zh-CN" altLang="en-US"/>
              <a:t>市场总是不停的在尝试反转，基本每几个</a:t>
            </a:r>
            <a:r>
              <a:rPr lang="en-US" altLang="zh-CN"/>
              <a:t>K</a:t>
            </a:r>
            <a:r>
              <a:rPr lang="zh-CN" altLang="en-US"/>
              <a:t>就会尝试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5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9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00" name="文本框 4"/>
          <p:cNvSpPr txBox="true"/>
          <p:nvPr/>
        </p:nvSpPr>
        <p:spPr>
          <a:xfrm>
            <a:off x="4757420" y="2863215"/>
            <a:ext cx="2468880" cy="6451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false">
            <a:spAutoFit/>
          </a:bodyPr>
          <a:p>
            <a:pPr/>
            <a:r>
              <a:rPr lang="zh-CN" altLang="en-US"/>
              <a:t>空头趋势中的多头反转</a:t>
            </a:r>
            <a:endParaRPr lang="zh-CN" altLang="en-US"/>
          </a:p>
          <a:p>
            <a:pPr/>
            <a:r>
              <a:rPr lang="zh-CN" altLang="en-US"/>
              <a:t>通常变为熊旗</a:t>
            </a:r>
            <a:endParaRPr lang="zh-CN" altLang="en-US"/>
          </a:p>
        </p:txBody>
      </p:sp>
      <p:sp>
        <p:nvSpPr>
          <p:cNvPr id="101" name="文本框 7"/>
          <p:cNvSpPr txBox="true"/>
          <p:nvPr/>
        </p:nvSpPr>
        <p:spPr>
          <a:xfrm>
            <a:off x="8639810" y="7258685"/>
            <a:ext cx="2697480" cy="3683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false">
            <a:spAutoFit/>
          </a:bodyPr>
          <a:p>
            <a:pPr/>
            <a:r>
              <a:rPr lang="zh-CN" altLang="en-US"/>
              <a:t>主趋势反转（低点抬高）</a:t>
            </a:r>
            <a:endParaRPr lang="zh-CN" altLang="en-US"/>
          </a:p>
        </p:txBody>
      </p:sp>
      <p:sp>
        <p:nvSpPr>
          <p:cNvPr id="102" name="文本框 5"/>
          <p:cNvSpPr txBox="true"/>
          <p:nvPr/>
        </p:nvSpPr>
        <p:spPr>
          <a:xfrm>
            <a:off x="9829800" y="5638800"/>
            <a:ext cx="1325880" cy="3683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false">
            <a:spAutoFit/>
          </a:bodyPr>
          <a:p>
            <a:pPr/>
            <a:r>
              <a:rPr lang="zh-CN" altLang="en-US"/>
              <a:t>买阳线反转</a:t>
            </a:r>
            <a:endParaRPr lang="zh-CN" altLang="en-US"/>
          </a:p>
        </p:txBody>
      </p:sp>
      <p:sp>
        <p:nvSpPr>
          <p:cNvPr id="103" name="文本框 6"/>
          <p:cNvSpPr txBox="true"/>
          <p:nvPr/>
        </p:nvSpPr>
        <p:spPr>
          <a:xfrm>
            <a:off x="8458200" y="7120255"/>
            <a:ext cx="3273425" cy="6451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false">
            <a:spAutoFit/>
          </a:bodyPr>
          <a:p>
            <a:pPr/>
            <a:r>
              <a:rPr lang="zh-CN" altLang="en-US"/>
              <a:t>双底，</a:t>
            </a:r>
            <a:r>
              <a:rPr lang="en-US" altLang="zh-CN"/>
              <a:t>higher low</a:t>
            </a:r>
            <a:r>
              <a:rPr lang="zh-CN" altLang="en-US"/>
              <a:t>反转</a:t>
            </a:r>
            <a:endParaRPr lang="zh-CN" altLang="en-US"/>
          </a:p>
          <a:p>
            <a:pPr/>
            <a:r>
              <a:rPr lang="zh-CN" altLang="en-US"/>
              <a:t>满足主趋势反转需要的</a:t>
            </a:r>
            <a:r>
              <a:rPr lang="en-US" altLang="zh-CN"/>
              <a:t>K</a:t>
            </a:r>
            <a:r>
              <a:rPr lang="zh-CN" altLang="en-US"/>
              <a:t>线数量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07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08" name="文本框 4"/>
          <p:cNvSpPr txBox="true"/>
          <p:nvPr/>
        </p:nvSpPr>
        <p:spPr>
          <a:xfrm>
            <a:off x="4951095" y="7162165"/>
            <a:ext cx="2020570" cy="3683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false">
            <a:spAutoFit/>
          </a:bodyPr>
          <a:p>
            <a:pPr/>
            <a:r>
              <a:rPr lang="zh-CN" altLang="en-US"/>
              <a:t>小反转可以做</a:t>
            </a:r>
            <a:r>
              <a:rPr lang="en-US" altLang="zh-CN"/>
              <a:t>scalp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13" name="文本框 4"/>
          <p:cNvSpPr txBox="true"/>
          <p:nvPr/>
        </p:nvSpPr>
        <p:spPr>
          <a:xfrm>
            <a:off x="9318625" y="984885"/>
            <a:ext cx="2535555" cy="3683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false">
            <a:spAutoFit/>
          </a:bodyPr>
          <a:p>
            <a:pPr/>
            <a:r>
              <a:rPr lang="zh-CN" altLang="en-US"/>
              <a:t>所谓的</a:t>
            </a:r>
            <a:r>
              <a:rPr lang="en-US" altLang="zh-CN"/>
              <a:t>Noise</a:t>
            </a:r>
            <a:r>
              <a:rPr lang="zh-CN" altLang="en-US"/>
              <a:t>就是小反转</a:t>
            </a:r>
            <a:endParaRPr lang="zh-CN" altLang="en-US"/>
          </a:p>
        </p:txBody>
      </p:sp>
      <p:sp>
        <p:nvSpPr>
          <p:cNvPr id="114" name="文本框 5"/>
          <p:cNvSpPr txBox="true"/>
          <p:nvPr/>
        </p:nvSpPr>
        <p:spPr>
          <a:xfrm>
            <a:off x="3108960" y="2955290"/>
            <a:ext cx="3907155" cy="6451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false">
            <a:spAutoFit/>
          </a:bodyPr>
          <a:p>
            <a:pPr/>
            <a:r>
              <a:rPr lang="en-US" altLang="zh-CN"/>
              <a:t>Noise</a:t>
            </a:r>
            <a:r>
              <a:rPr lang="zh-CN" altLang="en-US"/>
              <a:t>表示运动是随机的，然而并不是</a:t>
            </a:r>
            <a:endParaRPr lang="zh-CN" altLang="en-US"/>
          </a:p>
          <a:p>
            <a:pPr/>
            <a:r>
              <a:rPr lang="zh-CN" altLang="en-US"/>
              <a:t>所以咱们不用</a:t>
            </a:r>
            <a:r>
              <a:rPr lang="en-US" altLang="zh-CN"/>
              <a:t>Noise</a:t>
            </a:r>
            <a:r>
              <a:rPr lang="zh-CN" altLang="en-US"/>
              <a:t>，咱们用小反转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2" name="文本框 4"/>
          <p:cNvSpPr txBox="true"/>
          <p:nvPr/>
        </p:nvSpPr>
        <p:spPr>
          <a:xfrm>
            <a:off x="4051935" y="7083425"/>
            <a:ext cx="338328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false">
            <a:spAutoFit/>
          </a:bodyPr>
          <a:p>
            <a:pPr/>
            <a:r>
              <a:rPr lang="zh-CN" altLang="en-US"/>
              <a:t>这里的次级反转，突破了趋势线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3.jpg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7" name="文本框 4"/>
          <p:cNvSpPr txBox="true"/>
          <p:nvPr/>
        </p:nvSpPr>
        <p:spPr>
          <a:xfrm>
            <a:off x="6557010" y="4019550"/>
            <a:ext cx="3383280" cy="73723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false">
            <a:spAutoFit/>
          </a:bodyPr>
          <a:p>
            <a:pPr/>
            <a:r>
              <a:rPr lang="zh-CN" altLang="en-US" sz="1400"/>
              <a:t>假定所有的反转都是小反转</a:t>
            </a:r>
            <a:endParaRPr lang="zh-CN" altLang="en-US" sz="1400"/>
          </a:p>
          <a:p>
            <a:pPr/>
            <a:r>
              <a:rPr lang="zh-CN" altLang="en-US" sz="1400"/>
              <a:t>直到某一个小反转足够强跌破上涨趋势线</a:t>
            </a:r>
            <a:endParaRPr lang="zh-CN" altLang="en-US" sz="1400"/>
          </a:p>
          <a:p>
            <a:pPr/>
            <a:r>
              <a:rPr lang="zh-CN" altLang="en-US" sz="1400"/>
              <a:t>并且持续</a:t>
            </a:r>
            <a:r>
              <a:rPr lang="en-US" altLang="zh-CN" sz="1400"/>
              <a:t>10</a:t>
            </a:r>
            <a:r>
              <a:rPr lang="zh-CN" altLang="en-US" sz="1400"/>
              <a:t>多个</a:t>
            </a:r>
            <a:r>
              <a:rPr lang="en-US" altLang="zh-CN" sz="1400"/>
              <a:t>K</a:t>
            </a:r>
            <a:r>
              <a:rPr lang="zh-CN" altLang="en-US" sz="1400"/>
              <a:t>线</a:t>
            </a:r>
            <a:endParaRPr lang="zh-CN" altLang="en-US" sz="1400"/>
          </a:p>
        </p:txBody>
      </p:sp>
      <p:sp>
        <p:nvSpPr>
          <p:cNvPr id="18" name="文本框 6"/>
          <p:cNvSpPr txBox="true"/>
          <p:nvPr/>
        </p:nvSpPr>
        <p:spPr>
          <a:xfrm>
            <a:off x="2166620" y="6306820"/>
            <a:ext cx="5212080" cy="9220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false">
            <a:spAutoFit/>
          </a:bodyPr>
          <a:p>
            <a:pPr/>
            <a:r>
              <a:rPr lang="zh-CN" altLang="en-US"/>
              <a:t>一旦趋势延续</a:t>
            </a:r>
            <a:endParaRPr lang="zh-CN" altLang="en-US"/>
          </a:p>
          <a:p>
            <a:pPr/>
            <a:r>
              <a:rPr lang="zh-CN" altLang="en-US"/>
              <a:t>交易员希望下一次反转尝试足够强，并且</a:t>
            </a:r>
            <a:r>
              <a:rPr lang="zh-CN" altLang="en-US"/>
              <a:t>能够成功</a:t>
            </a:r>
            <a:endParaRPr lang="zh-CN" altLang="en-US"/>
          </a:p>
          <a:p>
            <a:pPr/>
            <a:r>
              <a:rPr lang="zh-CN" altLang="en-US"/>
              <a:t>下次一反转</a:t>
            </a:r>
            <a:r>
              <a:rPr lang="en-US" altLang="zh-CN"/>
              <a:t>40%</a:t>
            </a:r>
            <a:r>
              <a:rPr lang="zh-CN" altLang="en-US"/>
              <a:t>机会变成大反转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2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3" name="文本框 4"/>
          <p:cNvSpPr txBox="true"/>
          <p:nvPr/>
        </p:nvSpPr>
        <p:spPr>
          <a:xfrm>
            <a:off x="1094105" y="2964180"/>
            <a:ext cx="3148330" cy="11988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false">
            <a:spAutoFit/>
          </a:bodyPr>
          <a:p>
            <a:pPr/>
            <a:r>
              <a:rPr lang="zh-CN" altLang="en-US"/>
              <a:t>突破的跟随</a:t>
            </a:r>
            <a:r>
              <a:rPr lang="en-US" altLang="zh-CN"/>
              <a:t>K</a:t>
            </a:r>
            <a:endParaRPr lang="en-US" altLang="zh-CN"/>
          </a:p>
          <a:p>
            <a:pPr/>
            <a:r>
              <a:rPr lang="zh-CN" altLang="en-US"/>
              <a:t>阳线收在高处</a:t>
            </a:r>
            <a:endParaRPr lang="en-US" altLang="zh-CN"/>
          </a:p>
          <a:p>
            <a:pPr/>
            <a:r>
              <a:rPr lang="zh-CN" altLang="en-US"/>
              <a:t>收在突破</a:t>
            </a:r>
            <a:r>
              <a:rPr lang="en-US" altLang="zh-CN"/>
              <a:t>K</a:t>
            </a:r>
            <a:r>
              <a:rPr lang="zh-CN" altLang="en-US"/>
              <a:t>最高点</a:t>
            </a:r>
            <a:r>
              <a:rPr lang="zh-CN" altLang="en-US"/>
              <a:t>上面</a:t>
            </a:r>
            <a:endParaRPr lang="zh-CN" altLang="en-US"/>
          </a:p>
          <a:p>
            <a:pPr/>
            <a:r>
              <a:rPr lang="zh-CN" altLang="en-US"/>
              <a:t>开盘跟突破</a:t>
            </a:r>
            <a:r>
              <a:rPr lang="en-US" altLang="zh-CN"/>
              <a:t>K</a:t>
            </a:r>
            <a:r>
              <a:rPr lang="zh-CN" altLang="en-US"/>
              <a:t>的收盘之间有</a:t>
            </a:r>
            <a:r>
              <a:rPr lang="en-US" altLang="zh-CN"/>
              <a:t>gap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7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1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2" name="文本框 4"/>
          <p:cNvSpPr txBox="true"/>
          <p:nvPr/>
        </p:nvSpPr>
        <p:spPr>
          <a:xfrm>
            <a:off x="9476105" y="1368425"/>
            <a:ext cx="3611880" cy="6451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false">
            <a:spAutoFit/>
          </a:bodyPr>
          <a:p>
            <a:pPr/>
            <a:r>
              <a:rPr lang="zh-CN" altLang="en-US"/>
              <a:t>反转也是一种突破</a:t>
            </a:r>
            <a:endParaRPr lang="zh-CN" altLang="en-US"/>
          </a:p>
          <a:p>
            <a:pPr/>
            <a:r>
              <a:rPr lang="zh-CN" altLang="en-US"/>
              <a:t>所有的反转至少是从小突破开始的</a:t>
            </a:r>
            <a:endParaRPr lang="zh-CN" altLang="en-US"/>
          </a:p>
        </p:txBody>
      </p:sp>
      <p:sp>
        <p:nvSpPr>
          <p:cNvPr id="33" name="文本框 8"/>
          <p:cNvSpPr txBox="true"/>
          <p:nvPr/>
        </p:nvSpPr>
        <p:spPr>
          <a:xfrm>
            <a:off x="4158615" y="3050540"/>
            <a:ext cx="3514725" cy="64516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false">
            <a:spAutoFit/>
          </a:bodyPr>
          <a:p>
            <a:pPr/>
            <a:r>
              <a:rPr lang="zh-CN" altLang="en-US"/>
              <a:t>所有趋势都在通道中</a:t>
            </a:r>
            <a:endParaRPr lang="zh-CN" altLang="en-US"/>
          </a:p>
          <a:p>
            <a:pPr/>
            <a:r>
              <a:rPr lang="zh-CN" altLang="en-US"/>
              <a:t>所以每个反转都突破了一个通道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7" name="Picture 3" descr="Slide 17.jpg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8" name="文本框 4"/>
          <p:cNvSpPr txBox="true"/>
          <p:nvPr/>
        </p:nvSpPr>
        <p:spPr>
          <a:xfrm>
            <a:off x="2859405" y="909320"/>
            <a:ext cx="5212080" cy="3683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false">
            <a:spAutoFit/>
          </a:bodyPr>
          <a:p>
            <a:pPr/>
            <a:r>
              <a:rPr lang="zh-CN" altLang="en-US"/>
              <a:t>反转就是对通道的突破，所以像做突破一样做反转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2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3" name="文本框 4"/>
          <p:cNvSpPr txBox="true"/>
          <p:nvPr/>
        </p:nvSpPr>
        <p:spPr>
          <a:xfrm>
            <a:off x="7772400" y="1346200"/>
            <a:ext cx="3154680" cy="3683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false">
            <a:spAutoFit/>
          </a:bodyPr>
          <a:p>
            <a:pPr/>
            <a:r>
              <a:rPr lang="zh-CN" altLang="en-US"/>
              <a:t>突破和反转其实力量是相似的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7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1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2" name="文本框 4"/>
          <p:cNvSpPr txBox="true"/>
          <p:nvPr/>
        </p:nvSpPr>
        <p:spPr>
          <a:xfrm>
            <a:off x="6309360" y="2918460"/>
            <a:ext cx="2468880" cy="119888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false">
            <a:spAutoFit/>
          </a:bodyPr>
          <a:p>
            <a:pPr/>
            <a:r>
              <a:rPr lang="zh-CN" altLang="en-US"/>
              <a:t>市场循环，价格太高</a:t>
            </a:r>
            <a:endParaRPr lang="zh-CN" altLang="en-US"/>
          </a:p>
          <a:p>
            <a:pPr/>
            <a:r>
              <a:rPr lang="zh-CN" altLang="en-US"/>
              <a:t>所以向下寻找公平价格</a:t>
            </a:r>
            <a:endParaRPr lang="zh-CN" altLang="en-US"/>
          </a:p>
          <a:p>
            <a:pPr/>
            <a:r>
              <a:rPr lang="zh-CN" altLang="en-US"/>
              <a:t>对于突破还是反转来说</a:t>
            </a:r>
            <a:endParaRPr lang="zh-CN" altLang="en-US"/>
          </a:p>
          <a:p>
            <a:pPr/>
            <a:r>
              <a:rPr lang="zh-CN" altLang="en-US"/>
              <a:t>都一样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2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7" name="文本框 4"/>
          <p:cNvSpPr txBox="true"/>
          <p:nvPr/>
        </p:nvSpPr>
        <p:spPr>
          <a:xfrm>
            <a:off x="5185410" y="996950"/>
            <a:ext cx="3959225" cy="3683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false">
            <a:spAutoFit/>
          </a:bodyPr>
          <a:p>
            <a:pPr/>
            <a:r>
              <a:rPr lang="zh-CN" altLang="en-US"/>
              <a:t>有时候一个</a:t>
            </a:r>
            <a:r>
              <a:rPr lang="en-US" altLang="zh-CN"/>
              <a:t>K</a:t>
            </a:r>
            <a:r>
              <a:rPr lang="zh-CN" altLang="en-US"/>
              <a:t>线就让人知道，要反转了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7" name="Picture 3" descr="Slide 2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8" name="文本框 6"/>
          <p:cNvSpPr txBox="true"/>
          <p:nvPr/>
        </p:nvSpPr>
        <p:spPr>
          <a:xfrm>
            <a:off x="2870835" y="1019175"/>
            <a:ext cx="4418965" cy="3683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false">
            <a:spAutoFit/>
          </a:bodyPr>
          <a:p>
            <a:pPr/>
            <a:r>
              <a:rPr lang="zh-CN" altLang="en-US"/>
              <a:t>有时候需要</a:t>
            </a:r>
            <a:r>
              <a:rPr lang="en-US" altLang="zh-CN"/>
              <a:t>20</a:t>
            </a:r>
            <a:r>
              <a:rPr lang="zh-CN" altLang="en-US"/>
              <a:t>或者更多</a:t>
            </a:r>
            <a:r>
              <a:rPr lang="en-US" altLang="zh-CN"/>
              <a:t>K</a:t>
            </a:r>
            <a:r>
              <a:rPr lang="zh-CN" altLang="en-US"/>
              <a:t>线才能知道反转了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Slide 2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Slide 2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2024-11-15T15:46:20Z</dcterms:created>
  <dcterms:modified xsi:type="dcterms:W3CDTF">2024-11-15T15:46:20Z</dcterms:modified>
</cp:coreProperties>
</file>