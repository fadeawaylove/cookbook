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8" Type="http://schemas.openxmlformats.org/officeDocument/2006/relationships/slide" Target="slides/slide18.xml" /><Relationship Id="rId23" Type="http://schemas.openxmlformats.org/officeDocument/2006/relationships/viewProps" Target="viewProps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22" Type="http://schemas.openxmlformats.org/officeDocument/2006/relationships/tableStyles" Target="tableStyles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0" Type="http://schemas.openxmlformats.org/officeDocument/2006/relationships/slideMaster" Target="slideMasters/slideMaster1.xml" /><Relationship Id="rId20" Type="http://schemas.openxmlformats.org/officeDocument/2006/relationships/slide" Target="slides/slide20.xml" /><Relationship Id="rId21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1920510" y="1232686"/>
            <a:ext cx="2927069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什么是大反转和小反转？</a:t>
            </a:r>
            <a:endParaRPr/>
          </a:p>
        </p:txBody>
      </p:sp>
      <p:sp>
        <p:nvSpPr>
          <p:cNvPr id="6" name=""/>
          <p:cNvSpPr txBox="true"/>
          <p:nvPr/>
        </p:nvSpPr>
        <p:spPr>
          <a:xfrm rot="0" flipH="false" flipV="false">
            <a:off x="1920510" y="3416301"/>
            <a:ext cx="2692400" cy="368299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MTR</a:t>
            </a:r>
            <a:r>
              <a:rPr lang="zh-CN"/>
              <a:t>是最重要的反转形态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3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1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solidFill>
              <a:schemeClr val="accent6">
                <a:alpha val="100000"/>
              </a:schemeClr>
            </a:solidFill>
          </a:ln>
        </p:spPr>
      </p:pic>
      <p:sp>
        <p:nvSpPr>
          <p:cNvPr id="72" name=""/>
          <p:cNvSpPr txBox="true"/>
          <p:nvPr/>
        </p:nvSpPr>
        <p:spPr>
          <a:xfrm rot="0" flipH="false" flipV="false">
            <a:off x="3816350" y="4441825"/>
            <a:ext cx="3498850" cy="64135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solidFill>
              <a:schemeClr val="accent5">
                <a:alpha val="100000"/>
              </a:schemeClr>
            </a:solidFill>
            <a:prstDash val="solid"/>
            <a:miter lim="800000"/>
          </a:ln>
        </p:spPr>
        <p:txBody>
          <a:bodyPr>
            <a:spAutoFit/>
          </a:bodyPr>
          <a:p>
            <a:pPr indent="0">
              <a:buNone/>
            </a:pPr>
            <a:r>
              <a:rPr lang="zh-CN"/>
              <a:t>小反转能突破趋势线，那么下一次反转向下可能就是大反转</a:t>
            </a:r>
            <a:endParaRPr/>
          </a:p>
        </p:txBody>
      </p:sp>
      <p:sp>
        <p:nvSpPr>
          <p:cNvPr id="73" name=""/>
          <p:cNvSpPr txBox="true"/>
          <p:nvPr/>
        </p:nvSpPr>
        <p:spPr>
          <a:xfrm rot="0" flipH="false" flipV="false">
            <a:off x="4906471" y="957558"/>
            <a:ext cx="1778000" cy="641350"/>
          </a:xfrm>
          <a:prstGeom prst="rect">
            <a:avLst/>
          </a:prstGeom>
          <a:solidFill>
            <a:schemeClr val="accent6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 lvl="0" indent="0">
              <a:buNone/>
            </a:pPr>
            <a:r>
              <a:rPr lang="en-US"/>
              <a:t>1.</a:t>
            </a:r>
            <a:r>
              <a:rPr lang="zh-CN"/>
              <a:t>跌破趋势线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lvl="0" indent="0">
              <a:buNone/>
            </a:pPr>
            <a:r>
              <a:rPr lang="en-US"/>
              <a:t>2.5/6</a:t>
            </a:r>
            <a:r>
              <a:rPr lang="zh-CN"/>
              <a:t>是阴线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74" name=""/>
          <p:cNvSpPr txBox="true"/>
          <p:nvPr/>
        </p:nvSpPr>
        <p:spPr>
          <a:xfrm rot="0" flipH="false" flipV="false">
            <a:off x="0" y="6290209"/>
            <a:ext cx="3137461" cy="368299"/>
          </a:xfrm>
          <a:prstGeom prst="rect">
            <a:avLst/>
          </a:prstGeom>
          <a:solidFill>
            <a:srgbClr val="92D05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上涨趋势在前高附近恢复失败</a:t>
            </a:r>
            <a:endParaRPr/>
          </a:p>
        </p:txBody>
      </p:sp>
      <p:sp>
        <p:nvSpPr>
          <p:cNvPr id="75" name=""/>
          <p:cNvSpPr txBox="true"/>
          <p:nvPr/>
        </p:nvSpPr>
        <p:spPr>
          <a:xfrm rot="0" flipH="false" flipV="false">
            <a:off x="3137461" y="7406909"/>
            <a:ext cx="6965950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C00000">
                    <a:alpha val="100000"/>
                  </a:srgbClr>
                </a:solidFill>
              </a:rPr>
              <a:t>二次反转向下通常有强势阴线突破，继而变成</a:t>
            </a:r>
            <a:r>
              <a:rPr lang="en-US">
                <a:solidFill>
                  <a:srgbClr val="C00000">
                    <a:alpha val="100000"/>
                  </a:srgbClr>
                </a:solidFill>
              </a:rPr>
              <a:t>bear trend</a:t>
            </a:r>
            <a:r>
              <a:rPr lang="zh-CN">
                <a:solidFill>
                  <a:srgbClr val="C00000">
                    <a:alpha val="100000"/>
                  </a:srgbClr>
                </a:solidFill>
              </a:rPr>
              <a:t>（大反转）</a:t>
            </a:r>
            <a:endParaRPr/>
          </a:p>
        </p:txBody>
      </p:sp>
      <p:sp>
        <p:nvSpPr>
          <p:cNvPr id="76" name=""/>
          <p:cNvSpPr txBox="true"/>
          <p:nvPr/>
        </p:nvSpPr>
        <p:spPr>
          <a:xfrm rot="0" flipH="false" flipV="false">
            <a:off x="8952489" y="2541588"/>
            <a:ext cx="4241800" cy="6477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主趋势反转形成相反的趋势：</a:t>
            </a:r>
            <a:r>
              <a:rPr lang="en-US"/>
              <a:t>40%</a:t>
            </a:r>
            <a:r>
              <a:rPr lang="zh-CN"/>
              <a:t>成功率</a:t>
            </a:r>
            <a:endParaRPr/>
          </a:p>
          <a:p>
            <a:pPr/>
            <a:r>
              <a:rPr lang="en-US"/>
              <a:t>60%</a:t>
            </a:r>
            <a:r>
              <a:rPr lang="zh-CN"/>
              <a:t>震荡或者趋势延续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1" name=""/>
          <p:cNvSpPr txBox="true"/>
          <p:nvPr/>
        </p:nvSpPr>
        <p:spPr>
          <a:xfrm rot="0" flipH="false" flipV="false">
            <a:off x="3182867" y="973741"/>
            <a:ext cx="5476059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趋势中，每次反转都默认为</a:t>
            </a:r>
            <a:r>
              <a:rPr lang="en-US"/>
              <a:t>minor</a:t>
            </a:r>
            <a:r>
              <a:rPr lang="zh-CN"/>
              <a:t>，直到不能创造出</a:t>
            </a:r>
            <a:r>
              <a:rPr lang="en-US"/>
              <a:t>LL</a:t>
            </a:r>
            <a:endParaRPr/>
          </a:p>
        </p:txBody>
      </p:sp>
      <p:sp>
        <p:nvSpPr>
          <p:cNvPr id="82" name=""/>
          <p:cNvSpPr txBox="true"/>
          <p:nvPr/>
        </p:nvSpPr>
        <p:spPr>
          <a:xfrm rot="0" flipH="false" flipV="false">
            <a:off x="3692665" y="3886200"/>
            <a:ext cx="3306944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小反转突破趋势线，那么下次的反转可能就是大反转</a:t>
            </a:r>
            <a:endParaRPr/>
          </a:p>
        </p:txBody>
      </p:sp>
      <p:sp>
        <p:nvSpPr>
          <p:cNvPr id="83" name=""/>
          <p:cNvSpPr txBox="true"/>
          <p:nvPr/>
        </p:nvSpPr>
        <p:spPr>
          <a:xfrm rot="0" flipH="false" flipV="false">
            <a:off x="226409" y="6201197"/>
            <a:ext cx="2956458" cy="368300"/>
          </a:xfrm>
          <a:prstGeom prst="rect">
            <a:avLst/>
          </a:prstGeom>
          <a:solidFill>
            <a:schemeClr val="accent5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至少测试距离前低</a:t>
            </a:r>
            <a:r>
              <a:rPr lang="en-US"/>
              <a:t>33%</a:t>
            </a:r>
            <a:r>
              <a:rPr lang="zh-CN"/>
              <a:t>的位置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7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8" name=""/>
          <p:cNvSpPr txBox="true"/>
          <p:nvPr/>
        </p:nvSpPr>
        <p:spPr>
          <a:xfrm rot="0" flipH="false" flipV="false">
            <a:off x="4056359" y="4441825"/>
            <a:ext cx="3105150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小反转：要么</a:t>
            </a:r>
            <a:r>
              <a:rPr lang="en-US"/>
              <a:t>TR</a:t>
            </a:r>
            <a:r>
              <a:rPr lang="zh-CN"/>
              <a:t>要么</a:t>
            </a:r>
            <a:r>
              <a:rPr lang="en-US"/>
              <a:t>bear flag</a:t>
            </a:r>
            <a:endParaRPr/>
          </a:p>
          <a:p>
            <a:pPr/>
            <a:r>
              <a:rPr lang="zh-CN"/>
              <a:t>小反转可以用来做</a:t>
            </a:r>
            <a:r>
              <a:rPr lang="en-US"/>
              <a:t>scalp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3" name=""/>
          <p:cNvSpPr txBox="true"/>
          <p:nvPr/>
        </p:nvSpPr>
        <p:spPr>
          <a:xfrm rot="0" flipH="false" flipV="false">
            <a:off x="8458200" y="925190"/>
            <a:ext cx="3655351" cy="3683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通常需要</a:t>
            </a:r>
            <a:r>
              <a:rPr lang="en-US"/>
              <a:t>5-10</a:t>
            </a:r>
            <a:r>
              <a:rPr lang="zh-CN"/>
              <a:t>根</a:t>
            </a:r>
            <a:r>
              <a:rPr lang="en-US"/>
              <a:t>K</a:t>
            </a:r>
            <a:r>
              <a:rPr lang="zh-CN"/>
              <a:t>产生足够的卖压</a:t>
            </a:r>
            <a:endParaRPr/>
          </a:p>
        </p:txBody>
      </p:sp>
      <p:sp>
        <p:nvSpPr>
          <p:cNvPr id="94" name=""/>
          <p:cNvSpPr txBox="true"/>
          <p:nvPr/>
        </p:nvSpPr>
        <p:spPr>
          <a:xfrm rot="0" flipH="false" flipV="false">
            <a:off x="9905549" y="2865438"/>
            <a:ext cx="1721353" cy="118745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这里看不到足够的卖压，所以下一次反转也可能是</a:t>
            </a:r>
            <a:r>
              <a:rPr lang="en-US"/>
              <a:t>minor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8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9" name=""/>
          <p:cNvSpPr txBox="true"/>
          <p:nvPr/>
        </p:nvSpPr>
        <p:spPr>
          <a:xfrm rot="0" flipH="false" flipV="false">
            <a:off x="480127" y="957557"/>
            <a:ext cx="3590615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MTR</a:t>
            </a:r>
            <a:r>
              <a:rPr lang="zh-CN"/>
              <a:t>：通常需要几次尝试才能成功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3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7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8" name=""/>
          <p:cNvSpPr txBox="true"/>
          <p:nvPr/>
        </p:nvSpPr>
        <p:spPr>
          <a:xfrm rot="0" flipH="false" flipV="false">
            <a:off x="7196517" y="6856651"/>
            <a:ext cx="2174508" cy="3683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嵌套</a:t>
            </a:r>
            <a:r>
              <a:rPr lang="en-US"/>
              <a:t> </a:t>
            </a:r>
            <a:r>
              <a:rPr lang="zh-CN"/>
              <a:t>双底</a:t>
            </a:r>
            <a:r>
              <a:rPr lang="en-US"/>
              <a:t> </a:t>
            </a:r>
            <a:r>
              <a:rPr lang="zh-CN"/>
              <a:t>概率更高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" name=""/>
          <p:cNvSpPr txBox="true"/>
          <p:nvPr/>
        </p:nvSpPr>
        <p:spPr>
          <a:xfrm rot="0" flipH="false" flipV="false">
            <a:off x="2219915" y="1248871"/>
            <a:ext cx="3056541" cy="368300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大多数反转：</a:t>
            </a:r>
            <a:r>
              <a:rPr lang="en-US"/>
              <a:t>MTR</a:t>
            </a:r>
            <a:r>
              <a:rPr lang="zh-CN"/>
              <a:t>的变化形态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5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9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0" name=""/>
          <p:cNvSpPr txBox="true"/>
          <p:nvPr/>
        </p:nvSpPr>
        <p:spPr>
          <a:xfrm rot="0" flipH="false" flipV="false">
            <a:off x="5270613" y="1030386"/>
            <a:ext cx="2425362" cy="368299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高胜率：需要强势突破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5" name=""/>
          <p:cNvSpPr txBox="true"/>
          <p:nvPr/>
        </p:nvSpPr>
        <p:spPr>
          <a:xfrm rot="0" flipH="false" flipV="false">
            <a:off x="8121257" y="4711700"/>
            <a:ext cx="3938572" cy="368300"/>
          </a:xfrm>
          <a:prstGeom prst="rect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突破让多空双方相信现在是上涨趋势</a:t>
            </a:r>
            <a:endParaRPr/>
          </a:p>
        </p:txBody>
      </p:sp>
      <p:sp>
        <p:nvSpPr>
          <p:cNvPr id="26" name=""/>
          <p:cNvSpPr txBox="true"/>
          <p:nvPr/>
        </p:nvSpPr>
        <p:spPr>
          <a:xfrm rot="0" flipH="false" flipV="false">
            <a:off x="2551688" y="3244850"/>
            <a:ext cx="1778000" cy="641350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买跟随概率高，但是盈亏比不好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0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1" name=""/>
          <p:cNvSpPr txBox="true"/>
          <p:nvPr/>
        </p:nvSpPr>
        <p:spPr>
          <a:xfrm rot="0" flipH="false" flipV="false">
            <a:off x="593416" y="2236099"/>
            <a:ext cx="4059953" cy="368299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突破下降趋势线之后，多头在寻找</a:t>
            </a:r>
            <a:r>
              <a:rPr lang="en-US"/>
              <a:t>HL</a:t>
            </a:r>
            <a:endParaRPr/>
          </a:p>
        </p:txBody>
      </p:sp>
      <p:cxnSp>
        <p:nvCxnSpPr>
          <p:cNvPr id="32" name=""/>
          <p:cNvCxnSpPr>
            <a:endCxn id="33" idx="2"/>
          </p:cNvCxnSpPr>
          <p:nvPr/>
        </p:nvCxnSpPr>
        <p:spPr>
          <a:xfrm rot="0" flipH="true" flipV="true">
            <a:off x="4778396" y="4305228"/>
            <a:ext cx="720087" cy="468799"/>
          </a:xfrm>
          <a:prstGeom prst="straightConnector1"/>
          <a:ln w="12700" cmpd="sng">
            <a:solidFill>
              <a:srgbClr val="92D050">
                <a:alpha val="100000"/>
              </a:srgbClr>
            </a:solidFill>
            <a:prstDash val="solid"/>
            <a:headEnd type="arrow" w="med" len="med"/>
          </a:ln>
        </p:spPr>
      </p:cxnSp>
      <p:sp>
        <p:nvSpPr>
          <p:cNvPr id="33" name=""/>
          <p:cNvSpPr txBox="true"/>
          <p:nvPr/>
        </p:nvSpPr>
        <p:spPr>
          <a:xfrm rot="0" flipH="false" flipV="false">
            <a:off x="3746521" y="3663878"/>
            <a:ext cx="2063750" cy="64135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多头在这里放弃了</a:t>
            </a:r>
            <a:endParaRPr/>
          </a:p>
          <a:p>
            <a:pPr/>
            <a:r>
              <a:rPr lang="zh-CN"/>
              <a:t>这里有个</a:t>
            </a:r>
            <a:r>
              <a:rPr lang="en-US"/>
              <a:t>wedge</a:t>
            </a:r>
            <a:endParaRPr/>
          </a:p>
        </p:txBody>
      </p:sp>
      <p:sp>
        <p:nvSpPr>
          <p:cNvPr id="34" name=""/>
          <p:cNvSpPr txBox="true"/>
          <p:nvPr/>
        </p:nvSpPr>
        <p:spPr>
          <a:xfrm rot="0" flipH="false" flipV="false">
            <a:off x="6664016" y="6021654"/>
            <a:ext cx="750311" cy="914400"/>
          </a:xfrm>
          <a:prstGeom prst="rect">
            <a:avLst/>
          </a:prstGeom>
          <a:solidFill>
            <a:srgbClr val="FFC00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多头</a:t>
            </a:r>
            <a:endParaRPr/>
          </a:p>
          <a:p>
            <a:pPr/>
            <a:r>
              <a:rPr lang="zh-CN"/>
              <a:t>重新</a:t>
            </a:r>
            <a:endParaRPr/>
          </a:p>
          <a:p>
            <a:pPr/>
            <a:r>
              <a:rPr lang="zh-CN"/>
              <a:t>买入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9" name=""/>
          <p:cNvSpPr txBox="true"/>
          <p:nvPr/>
        </p:nvSpPr>
        <p:spPr>
          <a:xfrm rot="0" flipH="false" flipV="false">
            <a:off x="10894577" y="4311650"/>
            <a:ext cx="2564500" cy="457200"/>
          </a:xfrm>
          <a:prstGeom prst="rect">
            <a:avLst/>
          </a:prstGeom>
          <a:solidFill>
            <a:schemeClr val="accent5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第一次突破</a:t>
            </a:r>
            <a:r>
              <a:rPr lang="en-US" sz="1200"/>
              <a:t>TL</a:t>
            </a:r>
            <a:r>
              <a:rPr lang="zh-CN" sz="1200"/>
              <a:t>后，连续阳线，不是好的跟随。上上下下，</a:t>
            </a:r>
            <a:r>
              <a:rPr lang="en-US" sz="1200"/>
              <a:t>TR</a:t>
            </a:r>
            <a:r>
              <a:rPr lang="zh-CN" sz="1200"/>
              <a:t>的特征</a:t>
            </a:r>
            <a:endParaRPr/>
          </a:p>
        </p:txBody>
      </p:sp>
      <p:sp>
        <p:nvSpPr>
          <p:cNvPr id="40" name=""/>
          <p:cNvSpPr txBox="true"/>
          <p:nvPr/>
        </p:nvSpPr>
        <p:spPr>
          <a:xfrm rot="0" flipH="false" flipV="false">
            <a:off x="12448248" y="1765300"/>
            <a:ext cx="1778000" cy="64135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是</a:t>
            </a:r>
            <a:r>
              <a:rPr lang="en-US" sz="1200"/>
              <a:t>bear swing</a:t>
            </a:r>
            <a:endParaRPr/>
          </a:p>
          <a:p>
            <a:pPr/>
            <a:r>
              <a:rPr lang="zh-CN" sz="1200"/>
              <a:t>但不是</a:t>
            </a:r>
            <a:r>
              <a:rPr lang="en-US" sz="1200"/>
              <a:t>bear trend</a:t>
            </a:r>
            <a:endParaRPr/>
          </a:p>
          <a:p>
            <a:pPr/>
            <a:r>
              <a:rPr lang="en-US" sz="1200"/>
              <a:t>TR</a:t>
            </a:r>
            <a:r>
              <a:rPr lang="zh-CN" sz="1200"/>
              <a:t>依然有</a:t>
            </a:r>
            <a:r>
              <a:rPr lang="en-US" sz="1200"/>
              <a:t>bear setup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5" name=""/>
          <p:cNvSpPr txBox="true"/>
          <p:nvPr/>
        </p:nvSpPr>
        <p:spPr>
          <a:xfrm rot="0" flipH="false" flipV="false">
            <a:off x="4558513" y="2317019"/>
            <a:ext cx="3357014" cy="1187450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空头</a:t>
            </a:r>
            <a:r>
              <a:rPr lang="en-US"/>
              <a:t>sell LH</a:t>
            </a:r>
            <a:endParaRPr/>
          </a:p>
          <a:p>
            <a:pPr/>
            <a:endParaRPr lang="zh-CN"/>
          </a:p>
          <a:p>
            <a:pPr/>
            <a:r>
              <a:rPr lang="zh-CN"/>
              <a:t>一旦形成</a:t>
            </a:r>
            <a:r>
              <a:rPr lang="en-US"/>
              <a:t>LL</a:t>
            </a:r>
            <a:endParaRPr/>
          </a:p>
          <a:p>
            <a:pPr/>
            <a:r>
              <a:rPr lang="zh-CN"/>
              <a:t>此时可以确定</a:t>
            </a:r>
            <a:r>
              <a:rPr lang="en-US"/>
              <a:t>bull trend</a:t>
            </a:r>
            <a:r>
              <a:rPr lang="zh-CN"/>
              <a:t>已经</a:t>
            </a:r>
            <a:r>
              <a:rPr lang="en-US"/>
              <a:t>over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0" name=""/>
          <p:cNvSpPr txBox="true"/>
          <p:nvPr/>
        </p:nvSpPr>
        <p:spPr>
          <a:xfrm rot="0" flipH="false" flipV="false">
            <a:off x="11404375" y="5990803"/>
            <a:ext cx="1146821" cy="368300"/>
          </a:xfrm>
          <a:prstGeom prst="rect">
            <a:avLst/>
          </a:prstGeom>
          <a:solidFill>
            <a:srgbClr val="92D05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空头放弃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4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5" name=""/>
          <p:cNvSpPr txBox="true"/>
          <p:nvPr/>
        </p:nvSpPr>
        <p:spPr>
          <a:xfrm rot="0" flipH="false" flipV="false">
            <a:off x="685800" y="1135105"/>
            <a:ext cx="3028950" cy="118745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卖</a:t>
            </a:r>
            <a:r>
              <a:rPr lang="en-US"/>
              <a:t>HH</a:t>
            </a:r>
            <a:r>
              <a:rPr lang="zh-CN"/>
              <a:t>还是</a:t>
            </a:r>
            <a:r>
              <a:rPr lang="en-US"/>
              <a:t>LH</a:t>
            </a:r>
            <a:endParaRPr/>
          </a:p>
          <a:p>
            <a:pPr/>
            <a:r>
              <a:rPr lang="zh-CN"/>
              <a:t>要看买卖压是否够强，让人相信下一次就是</a:t>
            </a:r>
            <a:r>
              <a:rPr lang="en-US"/>
              <a:t>MTR</a:t>
            </a:r>
            <a:r>
              <a:rPr lang="zh-CN"/>
              <a:t>，不然也只能做</a:t>
            </a:r>
            <a:r>
              <a:rPr lang="en-US"/>
              <a:t>scalp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7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2024-11-18T11:03:40Z</dcterms:created>
  <dcterms:modified xsi:type="dcterms:W3CDTF">2024-11-18T11:03:40Z</dcterms:modified>
</cp:coreProperties>
</file>