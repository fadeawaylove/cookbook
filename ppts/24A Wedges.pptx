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9" Type="http://schemas.openxmlformats.org/officeDocument/2006/relationships/slide" Target="slides/slide9.xml" /><Relationship Id="rId3" Type="http://schemas.openxmlformats.org/officeDocument/2006/relationships/slide" Target="slides/slide3.xml" /><Relationship Id="rId18" Type="http://schemas.openxmlformats.org/officeDocument/2006/relationships/viewProps" Target="viewProps.xml" /><Relationship Id="rId5" Type="http://schemas.openxmlformats.org/officeDocument/2006/relationships/slide" Target="slides/slide5.xml" /><Relationship Id="rId14" Type="http://schemas.openxmlformats.org/officeDocument/2006/relationships/slide" Target="slides/slide14.xml" /><Relationship Id="rId1" Type="http://schemas.openxmlformats.org/officeDocument/2006/relationships/slide" Target="slides/slide1.xml" /><Relationship Id="rId17" Type="http://schemas.openxmlformats.org/officeDocument/2006/relationships/tableStyles" Target="tableStyles.xml" /><Relationship Id="rId15" Type="http://schemas.openxmlformats.org/officeDocument/2006/relationships/slide" Target="slides/slide15.xml" /><Relationship Id="rId16" Type="http://schemas.openxmlformats.org/officeDocument/2006/relationships/presProps" Target="presProps.xml" /><Relationship Id="rId6" Type="http://schemas.openxmlformats.org/officeDocument/2006/relationships/slide" Target="slides/slide6.xml" /><Relationship Id="rId11" Type="http://schemas.openxmlformats.org/officeDocument/2006/relationships/slide" Target="slides/slide11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4" Type="http://schemas.openxmlformats.org/officeDocument/2006/relationships/slide" Target="slides/slide4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9" Type="http://schemas.openxmlformats.org/officeDocument/2006/relationships/slideLayout" Target="../slideLayouts/slideLayout10.xml" /><Relationship Id="rId1" Type="http://schemas.openxmlformats.org/officeDocument/2006/relationships/slideLayout" Target="../slideLayouts/slideLayout2.xml" /><Relationship Id="rId5" Type="http://schemas.openxmlformats.org/officeDocument/2006/relationships/slideLayout" Target="../slideLayouts/slideLayout6.xml" /><Relationship Id="rId2" Type="http://schemas.openxmlformats.org/officeDocument/2006/relationships/slideLayout" Target="../slideLayouts/slideLayout3.xml" /><Relationship Id="rId7" Type="http://schemas.openxmlformats.org/officeDocument/2006/relationships/slideLayout" Target="../slideLayouts/slideLayout8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8" Type="http://schemas.openxmlformats.org/officeDocument/2006/relationships/slideLayout" Target="../slideLayouts/slideLayout9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5" name=""/>
          <p:cNvSpPr txBox="true"/>
          <p:nvPr/>
        </p:nvSpPr>
        <p:spPr>
          <a:xfrm rot="0" flipH="false" flipV="false">
            <a:off x="2276110" y="884729"/>
            <a:ext cx="5039090" cy="368300"/>
          </a:xfrm>
          <a:prstGeom prst="rect">
            <a:avLst/>
          </a:prstGeom>
          <a:solidFill>
            <a:schemeClr val="accent6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Wedge</a:t>
            </a:r>
            <a:r>
              <a:rPr lang="zh-CN"/>
              <a:t>有两种形式，趋势中的</a:t>
            </a:r>
            <a:r>
              <a:rPr lang="en-US"/>
              <a:t>Flag</a:t>
            </a:r>
            <a:r>
              <a:rPr lang="zh-CN"/>
              <a:t>或者主趋势反转</a:t>
            </a:r>
            <a:endParaRPr/>
          </a:p>
        </p:txBody>
      </p:sp>
      <p:sp>
        <p:nvSpPr>
          <p:cNvPr id="46" name=""/>
          <p:cNvSpPr txBox="true"/>
          <p:nvPr/>
        </p:nvSpPr>
        <p:spPr>
          <a:xfrm rot="0" flipH="false" flipV="false">
            <a:off x="5400085" y="2760242"/>
            <a:ext cx="2061220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Bull Channel</a:t>
            </a:r>
            <a:r>
              <a:rPr lang="zh-CN"/>
              <a:t>也成了</a:t>
            </a:r>
            <a:r>
              <a:rPr lang="en-US"/>
              <a:t>Bull Leg in TR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0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1" name=""/>
          <p:cNvSpPr txBox="true"/>
          <p:nvPr/>
        </p:nvSpPr>
        <p:spPr>
          <a:xfrm rot="0">
            <a:off x="593416" y="949465"/>
            <a:ext cx="1778000" cy="641350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楔形：形态上就是倾斜的三角形</a:t>
            </a:r>
            <a:endParaRPr/>
          </a:p>
        </p:txBody>
      </p:sp>
      <p:sp>
        <p:nvSpPr>
          <p:cNvPr id="52" name=""/>
          <p:cNvSpPr txBox="true"/>
          <p:nvPr/>
        </p:nvSpPr>
        <p:spPr>
          <a:xfrm rot="0" flipH="false" flipV="false">
            <a:off x="5027851" y="2276559"/>
            <a:ext cx="1952428" cy="9144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多次尝试突破前高</a:t>
            </a:r>
            <a:endParaRPr/>
          </a:p>
          <a:p>
            <a:pPr/>
            <a:r>
              <a:rPr lang="zh-CN"/>
              <a:t>然后失败</a:t>
            </a:r>
            <a:endParaRPr/>
          </a:p>
          <a:p>
            <a:pPr/>
            <a:r>
              <a:rPr lang="zh-CN"/>
              <a:t>最终放弃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1" name=""/>
          <p:cNvSpPr txBox="true"/>
          <p:nvPr/>
        </p:nvSpPr>
        <p:spPr>
          <a:xfrm rot="0" flipH="false" flipV="false">
            <a:off x="11177798" y="2778265"/>
            <a:ext cx="1947932" cy="914400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抢着买（</a:t>
            </a:r>
            <a:r>
              <a:rPr lang="en-US"/>
              <a:t>FOMO</a:t>
            </a:r>
            <a:r>
              <a:rPr lang="zh-CN"/>
              <a:t>）</a:t>
            </a:r>
            <a:endParaRPr/>
          </a:p>
          <a:p>
            <a:pPr/>
            <a:r>
              <a:rPr lang="zh-CN"/>
              <a:t>一旦下跌</a:t>
            </a:r>
            <a:endParaRPr/>
          </a:p>
          <a:p>
            <a:pPr/>
            <a:r>
              <a:rPr lang="zh-CN"/>
              <a:t>恐慌抛售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5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9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3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" name=""/>
          <p:cNvSpPr txBox="true"/>
          <p:nvPr/>
        </p:nvSpPr>
        <p:spPr>
          <a:xfrm rot="0" flipH="false" flipV="false">
            <a:off x="7123689" y="3517900"/>
            <a:ext cx="840895" cy="368300"/>
          </a:xfrm>
          <a:prstGeom prst="rect">
            <a:avLst/>
          </a:prstGeom>
          <a:solidFill>
            <a:schemeClr val="accent6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FOMO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8" name=""/>
          <p:cNvSpPr txBox="true"/>
          <p:nvPr/>
        </p:nvSpPr>
        <p:spPr>
          <a:xfrm rot="0" flipH="false" flipV="false">
            <a:off x="4056807" y="1370252"/>
            <a:ext cx="2413000" cy="641350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Wedge</a:t>
            </a:r>
            <a:r>
              <a:rPr lang="zh-CN"/>
              <a:t>反转的概率</a:t>
            </a:r>
            <a:r>
              <a:rPr lang="en-US"/>
              <a:t>75%</a:t>
            </a:r>
            <a:r>
              <a:rPr lang="zh-CN"/>
              <a:t>，至少是小反转</a:t>
            </a:r>
            <a:endParaRPr/>
          </a:p>
        </p:txBody>
      </p:sp>
      <p:sp>
        <p:nvSpPr>
          <p:cNvPr id="19" name=""/>
          <p:cNvSpPr txBox="true"/>
          <p:nvPr/>
        </p:nvSpPr>
        <p:spPr>
          <a:xfrm rot="0" flipH="false" flipV="false">
            <a:off x="3045303" y="6783823"/>
            <a:ext cx="2817096" cy="641350"/>
          </a:xfrm>
          <a:prstGeom prst="rect">
            <a:avLst/>
          </a:prstGeom>
          <a:solidFill>
            <a:srgbClr val="FAC09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这个基本水平，称为三角形</a:t>
            </a:r>
            <a:endParaRPr/>
          </a:p>
          <a:p>
            <a:pPr/>
            <a:r>
              <a:rPr lang="zh-CN"/>
              <a:t>同时也是</a:t>
            </a:r>
            <a:r>
              <a:rPr lang="en-US"/>
              <a:t>HL MTR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3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4" name=""/>
          <p:cNvSpPr txBox="true"/>
          <p:nvPr/>
        </p:nvSpPr>
        <p:spPr>
          <a:xfrm rot="0" flipH="false" flipV="false">
            <a:off x="310194" y="852361"/>
            <a:ext cx="4068046" cy="368300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Wedge</a:t>
            </a:r>
            <a:r>
              <a:rPr lang="zh-CN"/>
              <a:t>就是三角形，产生于一样的力量</a:t>
            </a:r>
            <a:endParaRPr/>
          </a:p>
        </p:txBody>
      </p:sp>
      <p:sp>
        <p:nvSpPr>
          <p:cNvPr id="25" name=""/>
          <p:cNvSpPr txBox="true"/>
          <p:nvPr/>
        </p:nvSpPr>
        <p:spPr>
          <a:xfrm rot="0" flipH="false" flipV="false">
            <a:off x="3660297" y="1604921"/>
            <a:ext cx="2635755" cy="64135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关键在于观察是突破还是突破失败</a:t>
            </a:r>
            <a:endParaRPr/>
          </a:p>
        </p:txBody>
      </p:sp>
      <p:sp>
        <p:nvSpPr>
          <p:cNvPr id="26" name=""/>
          <p:cNvSpPr txBox="true"/>
          <p:nvPr/>
        </p:nvSpPr>
        <p:spPr>
          <a:xfrm rot="0" flipH="false" flipV="false">
            <a:off x="7431635" y="1725571"/>
            <a:ext cx="1421950" cy="5207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/>
              <a:t>突破趋势线失败</a:t>
            </a:r>
            <a:endParaRPr/>
          </a:p>
          <a:p>
            <a:pPr/>
            <a:r>
              <a:rPr lang="zh-CN" sz="1400"/>
              <a:t>形成</a:t>
            </a:r>
            <a:r>
              <a:rPr lang="en-US" sz="1400"/>
              <a:t>HH MTR</a:t>
            </a:r>
            <a:endParaRPr/>
          </a:p>
        </p:txBody>
      </p:sp>
      <p:sp>
        <p:nvSpPr>
          <p:cNvPr id="27" name=""/>
          <p:cNvSpPr txBox="true"/>
          <p:nvPr/>
        </p:nvSpPr>
        <p:spPr>
          <a:xfrm rot="0" flipH="false" flipV="false">
            <a:off x="9130513" y="2130425"/>
            <a:ext cx="1028700" cy="42545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100"/>
              <a:t>突破前高失败</a:t>
            </a:r>
            <a:endParaRPr/>
          </a:p>
          <a:p>
            <a:pPr/>
            <a:r>
              <a:rPr lang="zh-CN" sz="1100"/>
              <a:t>形成</a:t>
            </a:r>
            <a:r>
              <a:rPr lang="en-US" sz="1100"/>
              <a:t>LH MTR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1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2" name=""/>
          <p:cNvSpPr txBox="true"/>
          <p:nvPr/>
        </p:nvSpPr>
        <p:spPr>
          <a:xfrm rot="0" flipH="false" flipV="false">
            <a:off x="1240779" y="925189"/>
            <a:ext cx="6531621" cy="641350"/>
          </a:xfrm>
          <a:prstGeom prst="rect">
            <a:avLst/>
          </a:prstGeom>
          <a:solidFill>
            <a:schemeClr val="accent1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Wedge</a:t>
            </a:r>
            <a:r>
              <a:rPr lang="zh-CN"/>
              <a:t>很常见，但是很少非常完美，大多数看起来都不像</a:t>
            </a:r>
            <a:r>
              <a:rPr lang="en-US"/>
              <a:t>Wedge</a:t>
            </a:r>
            <a:endParaRPr/>
          </a:p>
          <a:p>
            <a:pPr/>
            <a:r>
              <a:rPr lang="zh-CN"/>
              <a:t>但是要抓住核心点：</a:t>
            </a:r>
            <a:r>
              <a:rPr lang="en-US"/>
              <a:t>3</a:t>
            </a:r>
            <a:r>
              <a:rPr lang="zh-CN"/>
              <a:t>次力量的推动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2024-11-18T11:02:52Z</dcterms:created>
  <dcterms:modified xsi:type="dcterms:W3CDTF">2024-11-18T11:02:52Z</dcterms:modified>
</cp:coreProperties>
</file>