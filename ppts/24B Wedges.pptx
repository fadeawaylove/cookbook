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4" Type="http://schemas.openxmlformats.org/officeDocument/2006/relationships/viewProps" Target="viewProps.xml" /><Relationship Id="rId23" Type="http://schemas.openxmlformats.org/officeDocument/2006/relationships/tableStyles" Target="tableStyles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0" Type="http://schemas.openxmlformats.org/officeDocument/2006/relationships/slide" Target="slides/slide20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1" Type="http://schemas.openxmlformats.org/officeDocument/2006/relationships/slide" Target="slides/slide21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0" name=""/>
          <p:cNvSpPr txBox="true"/>
          <p:nvPr/>
        </p:nvSpPr>
        <p:spPr>
          <a:xfrm rot="0" flipH="false" flipV="false">
            <a:off x="5481005" y="1022294"/>
            <a:ext cx="3550155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形态很少完美</a:t>
            </a:r>
            <a:endParaRPr/>
          </a:p>
          <a:p>
            <a:pPr/>
            <a:r>
              <a:rPr lang="zh-CN"/>
              <a:t>但是</a:t>
            </a:r>
            <a:r>
              <a:rPr lang="en-US"/>
              <a:t>Wedge</a:t>
            </a:r>
            <a:r>
              <a:rPr lang="zh-CN"/>
              <a:t>越完美，反转概率越高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1" name=""/>
          <p:cNvSpPr txBox="true"/>
          <p:nvPr/>
        </p:nvSpPr>
        <p:spPr>
          <a:xfrm rot="0" flipH="false" flipV="false">
            <a:off x="439218" y="876637"/>
            <a:ext cx="4132782" cy="368299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腿的数量比形态更重要（推动的次数）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5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6" name=""/>
          <p:cNvSpPr txBox="true"/>
          <p:nvPr/>
        </p:nvSpPr>
        <p:spPr>
          <a:xfrm rot="0" flipH="false" flipV="false">
            <a:off x="4736538" y="2130425"/>
            <a:ext cx="2457730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大多数通道都是</a:t>
            </a:r>
            <a:r>
              <a:rPr lang="en-US"/>
              <a:t>Wedge</a:t>
            </a:r>
            <a:endParaRPr/>
          </a:p>
        </p:txBody>
      </p:sp>
      <p:sp>
        <p:nvSpPr>
          <p:cNvPr id="97" name=""/>
          <p:cNvSpPr txBox="true"/>
          <p:nvPr/>
        </p:nvSpPr>
        <p:spPr>
          <a:xfrm rot="0" flipH="false" flipV="false">
            <a:off x="310194" y="6840468"/>
            <a:ext cx="2398614" cy="64135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很多</a:t>
            </a:r>
            <a:r>
              <a:rPr lang="en-US"/>
              <a:t>Spike Channel</a:t>
            </a:r>
            <a:r>
              <a:rPr lang="zh-CN"/>
              <a:t>形态</a:t>
            </a:r>
            <a:endParaRPr/>
          </a:p>
          <a:p>
            <a:pPr/>
            <a:r>
              <a:rPr lang="zh-CN"/>
              <a:t>以</a:t>
            </a:r>
            <a:r>
              <a:rPr lang="en-US"/>
              <a:t>Wedge</a:t>
            </a:r>
            <a:r>
              <a:rPr lang="zh-CN"/>
              <a:t>结束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0" name=""/>
          <p:cNvSpPr txBox="true"/>
          <p:nvPr/>
        </p:nvSpPr>
        <p:spPr>
          <a:xfrm rot="0" flipH="false" flipV="false">
            <a:off x="8458200" y="3565525"/>
            <a:ext cx="1778000" cy="6413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虽然最后到了目标位，但是不停的</a:t>
            </a:r>
            <a:r>
              <a:rPr lang="en-US" sz="1200"/>
              <a:t>TTR</a:t>
            </a:r>
            <a:r>
              <a:rPr lang="zh-CN" sz="1200"/>
              <a:t>的时候就该离场了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949466" y="3368984"/>
            <a:ext cx="5429250" cy="64135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市场尝试</a:t>
            </a:r>
            <a:r>
              <a:rPr lang="en-US"/>
              <a:t>3</a:t>
            </a:r>
            <a:r>
              <a:rPr lang="zh-CN"/>
              <a:t>、</a:t>
            </a:r>
            <a:r>
              <a:rPr lang="en-US"/>
              <a:t>4</a:t>
            </a:r>
            <a:r>
              <a:rPr lang="zh-CN"/>
              <a:t>次向上突破了，但是发现更多人卖出</a:t>
            </a:r>
            <a:endParaRPr/>
          </a:p>
          <a:p>
            <a:pPr/>
            <a:r>
              <a:rPr lang="zh-CN"/>
              <a:t>多空双方一致认为价格太高了</a:t>
            </a:r>
            <a:endParaRPr/>
          </a:p>
        </p:txBody>
      </p:sp>
      <p:sp>
        <p:nvSpPr>
          <p:cNvPr id="10" name=""/>
          <p:cNvSpPr txBox="true"/>
          <p:nvPr/>
        </p:nvSpPr>
        <p:spPr>
          <a:xfrm rot="0" flipH="false" flipV="false">
            <a:off x="11372007" y="1362159"/>
            <a:ext cx="177800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每次创新高</a:t>
            </a:r>
            <a:endParaRPr/>
          </a:p>
          <a:p>
            <a:pPr/>
            <a:r>
              <a:rPr lang="zh-CN"/>
              <a:t>市场都尝试反转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false" flipV="false">
            <a:off x="10878393" y="1492671"/>
            <a:ext cx="113288" cy="380325"/>
          </a:xfrm>
          <a:prstGeom prst="downArrow">
            <a:avLst/>
          </a:prstGeom>
          <a:solidFill>
            <a:srgbClr val="92D050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12" name=""/>
          <p:cNvSpPr/>
          <p:nvPr/>
        </p:nvSpPr>
        <p:spPr>
          <a:xfrm rot="0" flipH="false" flipV="false">
            <a:off x="11315363" y="2130425"/>
            <a:ext cx="113288" cy="380325"/>
          </a:xfrm>
          <a:prstGeom prst="downArrow">
            <a:avLst/>
          </a:prstGeom>
          <a:solidFill>
            <a:srgbClr val="92D050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7406910" y="4882195"/>
            <a:ext cx="3372130" cy="64135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市场转变的时候</a:t>
            </a:r>
            <a:endParaRPr/>
          </a:p>
          <a:p>
            <a:pPr/>
            <a:r>
              <a:rPr lang="en-US"/>
              <a:t>Bull Trend</a:t>
            </a:r>
            <a:r>
              <a:rPr lang="zh-CN"/>
              <a:t>和</a:t>
            </a:r>
            <a:r>
              <a:rPr lang="en-US"/>
              <a:t>Bear Trend</a:t>
            </a:r>
            <a:r>
              <a:rPr lang="zh-CN"/>
              <a:t>同时存在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false" flipV="false">
            <a:off x="11962726" y="4762500"/>
            <a:ext cx="145656" cy="299405"/>
          </a:xfrm>
          <a:prstGeom prst="upArrow">
            <a:avLst/>
          </a:prstGeom>
          <a:solidFill>
            <a:srgbClr val="FF0000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19" name=""/>
          <p:cNvSpPr txBox="true"/>
          <p:nvPr/>
        </p:nvSpPr>
        <p:spPr>
          <a:xfrm rot="0" flipH="false" flipV="false">
            <a:off x="685800" y="6994215"/>
            <a:ext cx="2603387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信号</a:t>
            </a:r>
            <a:r>
              <a:rPr lang="en-US"/>
              <a:t>K</a:t>
            </a:r>
            <a:r>
              <a:rPr lang="zh-CN"/>
              <a:t>是阴线，窄通道，最好等待二次入场机会</a:t>
            </a:r>
            <a:endParaRPr/>
          </a:p>
        </p:txBody>
      </p:sp>
      <p:cxnSp>
        <p:nvCxnSpPr>
          <p:cNvPr id="20" name=""/>
          <p:cNvCxnSpPr>
            <a:stCxn id="19" idx="0"/>
          </p:cNvCxnSpPr>
          <p:nvPr/>
        </p:nvCxnSpPr>
        <p:spPr>
          <a:xfrm rot="0" flipH="false" flipV="true">
            <a:off x="1987494" y="6816191"/>
            <a:ext cx="1688987" cy="178023"/>
          </a:xfrm>
          <a:prstGeom prst="straightConnector1"/>
          <a:ln w="9525">
            <a:solidFill>
              <a:srgbClr val="000000">
                <a:alpha val="100000"/>
              </a:srgbClr>
            </a:solidFill>
            <a:prstDash val="dash"/>
          </a:ln>
        </p:spPr>
      </p:cxnSp>
      <p:sp>
        <p:nvSpPr>
          <p:cNvPr id="21" name=""/>
          <p:cNvSpPr/>
          <p:nvPr/>
        </p:nvSpPr>
        <p:spPr>
          <a:xfrm rot="0" flipH="false" flipV="false">
            <a:off x="6657246" y="5768808"/>
            <a:ext cx="145656" cy="299405"/>
          </a:xfrm>
          <a:prstGeom prst="upArrow">
            <a:avLst/>
          </a:prstGeom>
          <a:solidFill>
            <a:srgbClr val="FF0000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"/>
          <p:cNvSpPr txBox="true"/>
          <p:nvPr/>
        </p:nvSpPr>
        <p:spPr>
          <a:xfrm rot="0" flipH="false" flipV="false">
            <a:off x="1354067" y="957557"/>
            <a:ext cx="4650672" cy="368300"/>
          </a:xfrm>
          <a:prstGeom prst="rect">
            <a:avLst/>
          </a:prstGeom>
          <a:solidFill>
            <a:schemeClr val="accent5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多头太渴望买入：</a:t>
            </a:r>
            <a:r>
              <a:rPr lang="en-US"/>
              <a:t>3rd Leg </a:t>
            </a:r>
            <a:r>
              <a:rPr lang="zh-CN"/>
              <a:t>为触达就买起来了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5" name=""/>
          <p:cNvSpPr txBox="true"/>
          <p:nvPr/>
        </p:nvSpPr>
        <p:spPr>
          <a:xfrm rot="0" flipH="false" flipV="false">
            <a:off x="2147087" y="1524000"/>
            <a:ext cx="3898394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多空双方都觉得</a:t>
            </a:r>
            <a:r>
              <a:rPr lang="en-US"/>
              <a:t>Wedge Bottom</a:t>
            </a:r>
            <a:r>
              <a:rPr lang="zh-CN"/>
              <a:t>会形成</a:t>
            </a:r>
            <a:endParaRPr/>
          </a:p>
          <a:p>
            <a:pPr/>
            <a:r>
              <a:rPr lang="zh-CN"/>
              <a:t>多方提前买，空方提前止盈</a:t>
            </a:r>
            <a:endParaRPr/>
          </a:p>
        </p:txBody>
      </p:sp>
      <p:sp>
        <p:nvSpPr>
          <p:cNvPr id="36" name=""/>
          <p:cNvSpPr txBox="true"/>
          <p:nvPr/>
        </p:nvSpPr>
        <p:spPr>
          <a:xfrm rot="0" flipH="false" flipV="false">
            <a:off x="12383511" y="6007774"/>
            <a:ext cx="1972208" cy="8255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这个阳线没有下影线，说明前一根一收完，就被买起来，所以是非常好的做多信号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1" name=""/>
          <p:cNvSpPr txBox="true"/>
          <p:nvPr/>
        </p:nvSpPr>
        <p:spPr>
          <a:xfrm rot="0" flipH="false" flipV="false">
            <a:off x="9680772" y="5108771"/>
            <a:ext cx="1778000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连续三根阳线，第一次反转大概率失败，所以这里最好不要做空</a:t>
            </a:r>
            <a:endParaRPr/>
          </a:p>
        </p:txBody>
      </p:sp>
      <p:cxnSp>
        <p:nvCxnSpPr>
          <p:cNvPr id="42" name=""/>
          <p:cNvCxnSpPr/>
          <p:nvPr/>
        </p:nvCxnSpPr>
        <p:spPr>
          <a:xfrm rot="0" flipH="true" flipV="true">
            <a:off x="10488852" y="4016062"/>
            <a:ext cx="72828" cy="1092707"/>
          </a:xfrm>
          <a:prstGeom prst="straightConnector1"/>
          <a:ln w="9525">
            <a:solidFill>
              <a:srgbClr val="92D050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43" name=""/>
          <p:cNvSpPr txBox="true"/>
          <p:nvPr/>
        </p:nvSpPr>
        <p:spPr>
          <a:xfrm rot="0" flipH="false" flipV="false">
            <a:off x="9446103" y="941374"/>
            <a:ext cx="2749044" cy="9144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失败的双顶</a:t>
            </a:r>
            <a:endParaRPr/>
          </a:p>
          <a:p>
            <a:pPr/>
            <a:r>
              <a:rPr lang="zh-CN"/>
              <a:t>本质也是三次向上推动</a:t>
            </a:r>
            <a:endParaRPr/>
          </a:p>
          <a:p>
            <a:pPr/>
            <a:r>
              <a:rPr lang="zh-CN"/>
              <a:t>所以也是</a:t>
            </a:r>
            <a:r>
              <a:rPr lang="en-US"/>
              <a:t>Wedge</a:t>
            </a:r>
            <a:endParaRPr/>
          </a:p>
        </p:txBody>
      </p:sp>
      <p:sp>
        <p:nvSpPr>
          <p:cNvPr id="44" name=""/>
          <p:cNvSpPr txBox="true"/>
          <p:nvPr/>
        </p:nvSpPr>
        <p:spPr>
          <a:xfrm rot="0" flipH="false" flipV="false">
            <a:off x="11962726" y="3517900"/>
            <a:ext cx="1357214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L2 Bear Flag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4101988" y="747165"/>
            <a:ext cx="3213212" cy="5207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不要乱作反转，要看环境是不是反转的环境，</a:t>
            </a:r>
            <a:r>
              <a:rPr lang="en-US" sz="1400"/>
              <a:t>Legs</a:t>
            </a:r>
            <a:r>
              <a:rPr lang="zh-CN" sz="1400"/>
              <a:t>也要明显，不然会吃大亏</a:t>
            </a:r>
            <a:endParaRPr/>
          </a:p>
        </p:txBody>
      </p:sp>
      <p:sp>
        <p:nvSpPr>
          <p:cNvPr id="50" name=""/>
          <p:cNvSpPr txBox="true"/>
          <p:nvPr/>
        </p:nvSpPr>
        <p:spPr>
          <a:xfrm rot="0" flipH="false" flipV="false">
            <a:off x="1760917" y="5727812"/>
            <a:ext cx="1740349" cy="73025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400"/>
              <a:t>TR</a:t>
            </a:r>
            <a:r>
              <a:rPr lang="zh-CN" sz="1400"/>
              <a:t>中</a:t>
            </a:r>
            <a:endParaRPr/>
          </a:p>
          <a:p>
            <a:pPr/>
            <a:r>
              <a:rPr lang="zh-CN" sz="1400"/>
              <a:t>没有什么可以反转</a:t>
            </a:r>
            <a:endParaRPr/>
          </a:p>
          <a:p>
            <a:pPr/>
            <a:r>
              <a:rPr lang="en-US" sz="1400"/>
              <a:t>Legs</a:t>
            </a:r>
            <a:r>
              <a:rPr lang="zh-CN" sz="1400"/>
              <a:t>也太弱了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11906081" y="1524000"/>
            <a:ext cx="1470502" cy="8255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小突破的小突破</a:t>
            </a:r>
            <a:endParaRPr/>
          </a:p>
          <a:p>
            <a:pPr/>
            <a:r>
              <a:rPr lang="zh-CN" sz="1200"/>
              <a:t>基本水平</a:t>
            </a:r>
            <a:endParaRPr/>
          </a:p>
          <a:p>
            <a:pPr/>
            <a:r>
              <a:rPr lang="zh-CN" sz="1200"/>
              <a:t>更应该看作</a:t>
            </a:r>
            <a:r>
              <a:rPr lang="en-US" sz="1200"/>
              <a:t>TR</a:t>
            </a:r>
            <a:endParaRPr/>
          </a:p>
          <a:p>
            <a:pPr/>
            <a:r>
              <a:rPr lang="en-US" sz="1200"/>
              <a:t>60%</a:t>
            </a:r>
            <a:r>
              <a:rPr lang="zh-CN" sz="1200"/>
              <a:t>概率向上</a:t>
            </a:r>
            <a:r>
              <a:rPr lang="en-US" sz="1200"/>
              <a:t>MM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0" name=""/>
          <p:cNvSpPr txBox="true"/>
          <p:nvPr/>
        </p:nvSpPr>
        <p:spPr>
          <a:xfrm rot="0" flipH="false" flipV="false">
            <a:off x="3603653" y="6541061"/>
            <a:ext cx="1778000" cy="82550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一样的道理</a:t>
            </a:r>
            <a:endParaRPr/>
          </a:p>
          <a:p>
            <a:pPr/>
            <a:r>
              <a:rPr lang="zh-CN" sz="1200"/>
              <a:t>连续三根阴线</a:t>
            </a:r>
            <a:endParaRPr/>
          </a:p>
          <a:p>
            <a:pPr/>
            <a:r>
              <a:rPr lang="zh-CN" sz="1200"/>
              <a:t>第一次反转大概率失败</a:t>
            </a:r>
            <a:endParaRPr/>
          </a:p>
          <a:p>
            <a:pPr/>
            <a:r>
              <a:rPr lang="zh-CN" sz="1200"/>
              <a:t>所以这里不能</a:t>
            </a:r>
            <a:r>
              <a:rPr lang="en-US" sz="1200"/>
              <a:t>Buy Stop</a:t>
            </a:r>
            <a:endParaRPr/>
          </a:p>
        </p:txBody>
      </p:sp>
      <p:cxnSp>
        <p:nvCxnSpPr>
          <p:cNvPr id="61" name=""/>
          <p:cNvCxnSpPr>
            <a:stCxn id="60" idx="0"/>
          </p:cNvCxnSpPr>
          <p:nvPr/>
        </p:nvCxnSpPr>
        <p:spPr>
          <a:xfrm rot="0" flipH="false" flipV="true">
            <a:off x="4492653" y="5808402"/>
            <a:ext cx="620494" cy="732659"/>
          </a:xfrm>
          <a:prstGeom prst="straightConnector1"/>
          <a:ln w="6350">
            <a:solidFill>
              <a:schemeClr val="accent3">
                <a:lumMod val="75000"/>
                <a:alpha val="100000"/>
              </a:schemeClr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4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2024-11-18T11:02:43Z</dcterms:created>
  <dcterms:modified xsi:type="dcterms:W3CDTF">2024-11-18T11:02:43Z</dcterms:modified>
</cp:coreProperties>
</file>