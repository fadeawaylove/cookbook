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viewProps.xml" ContentType="application/vnd.openxmlformats-officedocument.presentationml.viewProps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s/slide23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1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7.xml" ContentType="application/vnd.openxmlformats-officedocument.presentationml.slide+xml"/>
  <Override PartName="/ppt/theme/theme1.xml" ContentType="application/vnd.openxmlformats-officedocument.them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25" Type="http://schemas.openxmlformats.org/officeDocument/2006/relationships/tableStyles" Target="tableStyles.xml" /><Relationship Id="rId9" Type="http://schemas.openxmlformats.org/officeDocument/2006/relationships/slide" Target="slides/slide9.xml" /><Relationship Id="rId24" Type="http://schemas.openxmlformats.org/officeDocument/2006/relationships/presProps" Target="presProps.xml" /><Relationship Id="rId8" Type="http://schemas.openxmlformats.org/officeDocument/2006/relationships/slide" Target="slides/slide8.xml" /><Relationship Id="rId26" Type="http://schemas.openxmlformats.org/officeDocument/2006/relationships/viewProps" Target="viewProps.xml" /><Relationship Id="rId23" Type="http://schemas.openxmlformats.org/officeDocument/2006/relationships/slide" Target="slides/slide23.xml" /><Relationship Id="rId12" Type="http://schemas.openxmlformats.org/officeDocument/2006/relationships/slide" Target="slides/slide12.xml" /><Relationship Id="rId15" Type="http://schemas.openxmlformats.org/officeDocument/2006/relationships/slide" Target="slides/slide15.xml" /><Relationship Id="rId6" Type="http://schemas.openxmlformats.org/officeDocument/2006/relationships/slide" Target="slides/slide6.xml" /><Relationship Id="rId10" Type="http://schemas.openxmlformats.org/officeDocument/2006/relationships/slide" Target="slides/slide10.xml" /><Relationship Id="rId21" Type="http://schemas.openxmlformats.org/officeDocument/2006/relationships/slide" Target="slides/slide21.xml" /><Relationship Id="rId13" Type="http://schemas.openxmlformats.org/officeDocument/2006/relationships/slide" Target="slides/slide13.xml" /><Relationship Id="rId0" Type="http://schemas.openxmlformats.org/officeDocument/2006/relationships/slideMaster" Target="slideMasters/slideMaster1.xml" /><Relationship Id="rId3" Type="http://schemas.openxmlformats.org/officeDocument/2006/relationships/slide" Target="slides/slide3.xml" /><Relationship Id="rId1" Type="http://schemas.openxmlformats.org/officeDocument/2006/relationships/slide" Target="slides/slide1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22" Type="http://schemas.openxmlformats.org/officeDocument/2006/relationships/slide" Target="slides/slide22.xml" /><Relationship Id="rId7" Type="http://schemas.openxmlformats.org/officeDocument/2006/relationships/slide" Target="slides/slide7.xml" /><Relationship Id="rId17" Type="http://schemas.openxmlformats.org/officeDocument/2006/relationships/slide" Target="slides/slide17.xml" /><Relationship Id="rId20" Type="http://schemas.openxmlformats.org/officeDocument/2006/relationships/slide" Target="slides/slide20.xml" /><Relationship Id="rId18" Type="http://schemas.openxmlformats.org/officeDocument/2006/relationships/slide" Target="slides/slide18.xml" /><Relationship Id="rId11" Type="http://schemas.openxmlformats.org/officeDocument/2006/relationships/slide" Target="slides/slide11.xml" /><Relationship Id="rId19" Type="http://schemas.openxmlformats.org/officeDocument/2006/relationships/slide" Target="slides/slide19.xml" /><Relationship Id="rId2" Type="http://schemas.openxmlformats.org/officeDocument/2006/relationships/slide" Target="slides/slide2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4" Type="http://schemas.openxmlformats.org/officeDocument/2006/relationships/slideLayout" Target="../slideLayouts/slideLayout5.xml" /><Relationship Id="rId9" Type="http://schemas.openxmlformats.org/officeDocument/2006/relationships/slideLayout" Target="../slideLayouts/slideLayout10.xml" /><Relationship Id="rId1" Type="http://schemas.openxmlformats.org/officeDocument/2006/relationships/slideLayout" Target="../slideLayouts/slideLayout2.xml" /><Relationship Id="rId10" Type="http://schemas.openxmlformats.org/officeDocument/2006/relationships/slideLayout" Target="../slideLayouts/slideLayout11.xml" /><Relationship Id="rId0" Type="http://schemas.openxmlformats.org/officeDocument/2006/relationships/slideLayout" Target="../slideLayouts/slideLayout1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5" Type="http://schemas.openxmlformats.org/officeDocument/2006/relationships/slideLayout" Target="../slideLayouts/slideLayout6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21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22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3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1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62" name=""/>
          <p:cNvSpPr txBox="true"/>
          <p:nvPr/>
        </p:nvSpPr>
        <p:spPr>
          <a:xfrm rot="0" flipH="false" flipV="false">
            <a:off x="5780410" y="965650"/>
            <a:ext cx="1778000" cy="641350"/>
          </a:xfrm>
          <a:prstGeom prst="rect">
            <a:avLst/>
          </a:prstGeom>
          <a:solidFill>
            <a:schemeClr val="tx2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如果出现在开盘</a:t>
            </a:r>
            <a:endParaRPr/>
          </a:p>
          <a:p>
            <a:pPr/>
            <a:r>
              <a:rPr lang="zh-CN"/>
              <a:t>更可能反转</a:t>
            </a:r>
            <a:endParaRPr/>
          </a:p>
        </p:txBody>
      </p:sp>
      <p:sp>
        <p:nvSpPr>
          <p:cNvPr id="63" name=""/>
          <p:cNvSpPr txBox="true"/>
          <p:nvPr/>
        </p:nvSpPr>
        <p:spPr>
          <a:xfrm rot="0" flipH="false" flipV="false">
            <a:off x="5157324" y="3600450"/>
            <a:ext cx="1778000" cy="36830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也就是说有</a:t>
            </a:r>
            <a:r>
              <a:rPr lang="en-US"/>
              <a:t>Gap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3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7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88" name=""/>
          <p:cNvSpPr txBox="true"/>
          <p:nvPr/>
        </p:nvSpPr>
        <p:spPr>
          <a:xfrm rot="0" flipH="false" flipV="false">
            <a:off x="4615157" y="957557"/>
            <a:ext cx="2101681" cy="368299"/>
          </a:xfrm>
          <a:prstGeom prst="rect">
            <a:avLst/>
          </a:prstGeom>
          <a:solidFill>
            <a:schemeClr val="tx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反转可以来得很快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2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93" name=""/>
          <p:cNvSpPr txBox="true"/>
          <p:nvPr/>
        </p:nvSpPr>
        <p:spPr>
          <a:xfrm rot="0" flipH="false" flipV="false">
            <a:off x="7851972" y="755257"/>
            <a:ext cx="2498191" cy="64135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AIS</a:t>
            </a:r>
            <a:r>
              <a:rPr lang="zh-CN"/>
              <a:t>的时候</a:t>
            </a:r>
            <a:r>
              <a:rPr lang="en-US"/>
              <a:t> </a:t>
            </a:r>
            <a:endParaRPr/>
          </a:p>
          <a:p>
            <a:pPr/>
            <a:r>
              <a:rPr lang="zh-CN"/>
              <a:t>可以直接</a:t>
            </a:r>
            <a:r>
              <a:rPr lang="en-US"/>
              <a:t>sell close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7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1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02" name=""/>
          <p:cNvSpPr txBox="true"/>
          <p:nvPr/>
        </p:nvSpPr>
        <p:spPr>
          <a:xfrm rot="0" flipH="false" flipV="false">
            <a:off x="10645298" y="269735"/>
            <a:ext cx="3072725" cy="368299"/>
          </a:xfrm>
          <a:prstGeom prst="rect">
            <a:avLst/>
          </a:prstGeom>
          <a:solidFill>
            <a:schemeClr val="accent4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抛物线楔形可以是尖峰通道</a:t>
            </a:r>
            <a:endParaRPr/>
          </a:p>
        </p:txBody>
      </p:sp>
      <p:sp>
        <p:nvSpPr>
          <p:cNvPr id="103" name=""/>
          <p:cNvSpPr txBox="true"/>
          <p:nvPr/>
        </p:nvSpPr>
        <p:spPr>
          <a:xfrm rot="0" flipH="false" flipV="false">
            <a:off x="4496475" y="2584056"/>
            <a:ext cx="1341030" cy="368300"/>
          </a:xfrm>
          <a:prstGeom prst="rect">
            <a:avLst/>
          </a:prstGeom>
          <a:solidFill>
            <a:schemeClr val="accent1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识别</a:t>
            </a:r>
            <a:r>
              <a:rPr lang="en-US"/>
              <a:t>K</a:t>
            </a:r>
            <a:r>
              <a:rPr lang="zh-CN"/>
              <a:t>线</a:t>
            </a:r>
            <a:r>
              <a:rPr lang="en-US"/>
              <a:t>PB</a:t>
            </a:r>
            <a:endParaRPr/>
          </a:p>
        </p:txBody>
      </p:sp>
      <p:sp>
        <p:nvSpPr>
          <p:cNvPr id="104" name=""/>
          <p:cNvSpPr txBox="true"/>
          <p:nvPr/>
        </p:nvSpPr>
        <p:spPr>
          <a:xfrm rot="0" flipH="false" flipV="false">
            <a:off x="6231317" y="1114425"/>
            <a:ext cx="1727200" cy="73025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1400"/>
              <a:t>买收盘的多头</a:t>
            </a:r>
            <a:endParaRPr/>
          </a:p>
          <a:p>
            <a:pPr/>
            <a:r>
              <a:rPr lang="zh-CN" sz="1400"/>
              <a:t>没有机会打平出局</a:t>
            </a:r>
            <a:endParaRPr/>
          </a:p>
          <a:p>
            <a:pPr/>
            <a:r>
              <a:rPr lang="zh-CN" sz="1400"/>
              <a:t>然后放弃，</a:t>
            </a:r>
            <a:r>
              <a:rPr lang="zh-CN" sz="1400"/>
              <a:t>迅速下跌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8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12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13" name=""/>
          <p:cNvSpPr txBox="true"/>
          <p:nvPr/>
        </p:nvSpPr>
        <p:spPr>
          <a:xfrm rot="0" flipH="false" flipV="false">
            <a:off x="4671802" y="868546"/>
            <a:ext cx="2750954" cy="64135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需要极端的运动（</a:t>
            </a:r>
            <a:r>
              <a:rPr lang="en-US"/>
              <a:t>climax</a:t>
            </a:r>
            <a:r>
              <a:rPr lang="zh-CN"/>
              <a:t>）</a:t>
            </a:r>
            <a:endParaRPr/>
          </a:p>
          <a:p>
            <a:pPr/>
            <a:r>
              <a:rPr lang="zh-CN"/>
              <a:t>从而价格太高或者太低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3" name=""/>
          <p:cNvSpPr txBox="true"/>
          <p:nvPr/>
        </p:nvSpPr>
        <p:spPr>
          <a:xfrm rot="0" flipH="false" flipV="false">
            <a:off x="593416" y="925190"/>
            <a:ext cx="3153646" cy="368299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需要极端买卖作为力竭的信号</a:t>
            </a:r>
            <a:endParaRPr/>
          </a:p>
        </p:txBody>
      </p:sp>
      <p:sp>
        <p:nvSpPr>
          <p:cNvPr id="14" name=""/>
          <p:cNvSpPr txBox="true"/>
          <p:nvPr/>
        </p:nvSpPr>
        <p:spPr>
          <a:xfrm rot="0" flipH="false" flipV="false">
            <a:off x="3747062" y="4629150"/>
            <a:ext cx="1778000" cy="914400"/>
          </a:xfrm>
          <a:prstGeom prst="rect">
            <a:avLst/>
          </a:prstGeom>
          <a:solidFill>
            <a:schemeClr val="accent6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想做多</a:t>
            </a:r>
            <a:endParaRPr/>
          </a:p>
          <a:p>
            <a:pPr/>
            <a:r>
              <a:rPr lang="zh-CN"/>
              <a:t>先看看左边多少根连续的阴线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false" flipV="false">
            <a:off x="7122116" y="4310526"/>
            <a:ext cx="129472" cy="258945"/>
          </a:xfrm>
          <a:prstGeom prst="downArrow">
            <a:avLst/>
          </a:prstGeom>
          <a:solidFill>
            <a:schemeClr val="accent3">
              <a:lumMod val="75000"/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9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0" name=""/>
          <p:cNvSpPr txBox="true"/>
          <p:nvPr/>
        </p:nvSpPr>
        <p:spPr>
          <a:xfrm rot="0" flipH="false" flipV="false">
            <a:off x="3765494" y="925189"/>
            <a:ext cx="2263522" cy="368299"/>
          </a:xfrm>
          <a:prstGeom prst="rect">
            <a:avLst/>
          </a:prstGeom>
          <a:solidFill>
            <a:schemeClr val="accent5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抛物线楔形成为牛旗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9" name=""/>
          <p:cNvSpPr txBox="true"/>
          <p:nvPr/>
        </p:nvSpPr>
        <p:spPr>
          <a:xfrm rot="0" flipH="false" flipV="false">
            <a:off x="2737805" y="1809750"/>
            <a:ext cx="2465823" cy="64135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在更高级别的周期</a:t>
            </a:r>
            <a:endParaRPr/>
          </a:p>
          <a:p>
            <a:pPr/>
            <a:r>
              <a:rPr lang="zh-CN"/>
              <a:t>这是</a:t>
            </a:r>
            <a:r>
              <a:rPr lang="en-US"/>
              <a:t>BO</a:t>
            </a:r>
            <a:r>
              <a:rPr lang="zh-CN"/>
              <a:t>，连续的阴线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3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4" name=""/>
          <p:cNvSpPr txBox="true"/>
          <p:nvPr/>
        </p:nvSpPr>
        <p:spPr>
          <a:xfrm rot="0" flipH="false" flipV="false">
            <a:off x="6227047" y="973742"/>
            <a:ext cx="2231153" cy="64135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强趋势</a:t>
            </a:r>
            <a:endParaRPr/>
          </a:p>
          <a:p>
            <a:pPr/>
            <a:r>
              <a:rPr lang="en-US"/>
              <a:t>Wedge</a:t>
            </a:r>
            <a:r>
              <a:rPr lang="zh-CN"/>
              <a:t>反转</a:t>
            </a:r>
            <a:r>
              <a:rPr lang="en-US"/>
              <a:t>80%</a:t>
            </a:r>
            <a:r>
              <a:rPr lang="zh-CN"/>
              <a:t>失败</a:t>
            </a:r>
            <a:endParaRPr/>
          </a:p>
        </p:txBody>
      </p:sp>
      <p:sp>
        <p:nvSpPr>
          <p:cNvPr id="35" name=""/>
          <p:cNvSpPr txBox="true"/>
          <p:nvPr/>
        </p:nvSpPr>
        <p:spPr>
          <a:xfrm rot="0" flipH="false" flipV="false">
            <a:off x="9025317" y="3600450"/>
            <a:ext cx="1373398" cy="368300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看不到卖压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false" flipV="false">
            <a:off x="1993339" y="7463554"/>
            <a:ext cx="109242" cy="367479"/>
          </a:xfrm>
          <a:prstGeom prst="upArrow">
            <a:avLst/>
          </a:prstGeom>
          <a:solidFill>
            <a:srgbClr val="FF0000">
              <a:alpha val="100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endParaRPr/>
          </a:p>
        </p:txBody>
      </p:sp>
      <p:sp>
        <p:nvSpPr>
          <p:cNvPr id="37" name=""/>
          <p:cNvSpPr txBox="true"/>
          <p:nvPr/>
        </p:nvSpPr>
        <p:spPr>
          <a:xfrm rot="0" flipH="false" flipV="false">
            <a:off x="7342624" y="4070350"/>
            <a:ext cx="5281851" cy="36830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只是有好的卖出信号，不足以消除坏的做空前提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1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2" name=""/>
          <p:cNvSpPr txBox="true"/>
          <p:nvPr/>
        </p:nvSpPr>
        <p:spPr>
          <a:xfrm rot="0" flipH="false" flipV="false">
            <a:off x="358747" y="3886200"/>
            <a:ext cx="2591361" cy="91440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缺少连续的趋势阴线</a:t>
            </a:r>
            <a:endParaRPr/>
          </a:p>
          <a:p>
            <a:pPr/>
            <a:r>
              <a:rPr lang="zh-CN"/>
              <a:t>但是不断的创造</a:t>
            </a:r>
            <a:r>
              <a:rPr lang="en-US"/>
              <a:t>gap</a:t>
            </a:r>
            <a:endParaRPr/>
          </a:p>
          <a:p>
            <a:pPr/>
            <a:r>
              <a:rPr lang="zh-CN"/>
              <a:t>所以是</a:t>
            </a:r>
            <a:r>
              <a:rPr lang="en-US"/>
              <a:t>small PB</a:t>
            </a:r>
            <a:r>
              <a:rPr lang="zh-CN"/>
              <a:t>下降</a:t>
            </a:r>
            <a:r>
              <a:rPr lang="zh-CN"/>
              <a:t>趋势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6" name="Picture 3" descr="Slide 1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7" name=""/>
          <p:cNvSpPr txBox="true"/>
          <p:nvPr/>
        </p:nvSpPr>
        <p:spPr>
          <a:xfrm rot="0" flipH="false" flipV="false">
            <a:off x="4963115" y="6824283"/>
            <a:ext cx="1778000" cy="368300"/>
          </a:xfrm>
          <a:prstGeom prst="rect">
            <a:avLst/>
          </a:prstGeom>
          <a:solidFill>
            <a:schemeClr val="accent4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缺口开始被补上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1" name="Picture 3" descr="Slide 1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2" name=""/>
          <p:cNvSpPr txBox="true"/>
          <p:nvPr/>
        </p:nvSpPr>
        <p:spPr>
          <a:xfrm rot="0" flipH="false" flipV="false">
            <a:off x="2009522" y="5116864"/>
            <a:ext cx="2851150" cy="45720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 sz="1200"/>
              <a:t>1.</a:t>
            </a:r>
            <a:r>
              <a:rPr lang="zh-CN" sz="1200"/>
              <a:t>下降趋势中的</a:t>
            </a:r>
            <a:r>
              <a:rPr lang="en-US" sz="1200"/>
              <a:t>LH</a:t>
            </a:r>
            <a:r>
              <a:rPr lang="zh-CN" sz="1200"/>
              <a:t>（也是</a:t>
            </a:r>
            <a:r>
              <a:rPr lang="en-US" sz="1200"/>
              <a:t>Wedge</a:t>
            </a:r>
            <a:r>
              <a:rPr lang="zh-CN" sz="1200"/>
              <a:t>的顶点）</a:t>
            </a:r>
            <a:endParaRPr/>
          </a:p>
          <a:p>
            <a:pPr/>
            <a:r>
              <a:rPr lang="en-US" sz="1200"/>
              <a:t>2.</a:t>
            </a:r>
            <a:r>
              <a:rPr lang="zh-CN" sz="1200"/>
              <a:t>底部区间的</a:t>
            </a:r>
            <a:r>
              <a:rPr lang="en-US" sz="1200"/>
              <a:t>MM</a:t>
            </a:r>
            <a:r>
              <a:rPr lang="zh-CN" sz="1200"/>
              <a:t>距离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Slide 1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7" name=""/>
          <p:cNvSpPr txBox="true"/>
          <p:nvPr/>
        </p:nvSpPr>
        <p:spPr>
          <a:xfrm rot="0" flipH="false" flipV="false">
            <a:off x="6410016" y="4441825"/>
            <a:ext cx="2449638" cy="64135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1200"/>
              <a:t>突破不代表立马趋势反转</a:t>
            </a:r>
            <a:endParaRPr/>
          </a:p>
          <a:p>
            <a:pPr/>
            <a:r>
              <a:rPr lang="zh-CN" sz="1200"/>
              <a:t>更多的形成</a:t>
            </a:r>
            <a:r>
              <a:rPr lang="en-US" sz="1200"/>
              <a:t>TR</a:t>
            </a:r>
            <a:endParaRPr/>
          </a:p>
          <a:p>
            <a:pPr/>
            <a:r>
              <a:rPr lang="zh-CN" sz="1200"/>
              <a:t>一但</a:t>
            </a:r>
            <a:r>
              <a:rPr lang="en-US" sz="1200"/>
              <a:t>TR</a:t>
            </a:r>
            <a:r>
              <a:rPr lang="zh-CN" sz="1200"/>
              <a:t>形成，有可能就会形成</a:t>
            </a:r>
            <a:r>
              <a:rPr lang="en-US" sz="1200"/>
              <a:t>MTR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7" name="Picture 3" descr="Slide 2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1" name="Picture 3" descr="Slide 2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5" name="Picture 3" descr="Slide 2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9" name="Picture 3" descr="Slide 2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2024-11-18T11:02:28Z</dcterms:created>
  <dcterms:modified xsi:type="dcterms:W3CDTF">2024-11-18T11:02:28Z</dcterms:modified>
</cp:coreProperties>
</file>