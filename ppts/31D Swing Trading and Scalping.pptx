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s/slide21.xml" ContentType="application/vnd.openxmlformats-officedocument.presentationml.slide+xml"/>
  <Override PartName="/ppt/slides/slide18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4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viewProps.xml" ContentType="application/vnd.openxmlformats-officedocument.presentationml.viewProps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23" Type="http://schemas.openxmlformats.org/officeDocument/2006/relationships/tableStyles" Target="tableStyles.xml" /><Relationship Id="rId13" Type="http://schemas.openxmlformats.org/officeDocument/2006/relationships/slide" Target="slides/slide13.xml" /><Relationship Id="rId2" Type="http://schemas.openxmlformats.org/officeDocument/2006/relationships/slide" Target="slides/slide2.xml" /><Relationship Id="rId12" Type="http://schemas.openxmlformats.org/officeDocument/2006/relationships/slide" Target="slides/slide12.xml" /><Relationship Id="rId24" Type="http://schemas.openxmlformats.org/officeDocument/2006/relationships/viewProps" Target="viewProps.xml" /><Relationship Id="rId10" Type="http://schemas.openxmlformats.org/officeDocument/2006/relationships/slide" Target="slides/slide10.xml" /><Relationship Id="rId19" Type="http://schemas.openxmlformats.org/officeDocument/2006/relationships/slide" Target="slides/slide19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0" Type="http://schemas.openxmlformats.org/officeDocument/2006/relationships/slideMaster" Target="slideMasters/slideMaster1.xml" /><Relationship Id="rId20" Type="http://schemas.openxmlformats.org/officeDocument/2006/relationships/slide" Target="slides/slide20.xml" /><Relationship Id="rId14" Type="http://schemas.openxmlformats.org/officeDocument/2006/relationships/slide" Target="slides/slide14.xml" /><Relationship Id="rId22" Type="http://schemas.openxmlformats.org/officeDocument/2006/relationships/presProps" Target="presProps.xml" /><Relationship Id="rId17" Type="http://schemas.openxmlformats.org/officeDocument/2006/relationships/slide" Target="slides/slide17.xml" /><Relationship Id="rId9" Type="http://schemas.openxmlformats.org/officeDocument/2006/relationships/slide" Target="slides/slide9.xml" /><Relationship Id="rId18" Type="http://schemas.openxmlformats.org/officeDocument/2006/relationships/slide" Target="slides/slide18.xml" /><Relationship Id="rId21" Type="http://schemas.openxmlformats.org/officeDocument/2006/relationships/slide" Target="slides/slide21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9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8" Type="http://schemas.openxmlformats.org/officeDocument/2006/relationships/slideLayout" Target="../slideLayouts/slideLayout9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"/>
          <p:cNvSpPr txBox="true"/>
          <p:nvPr/>
        </p:nvSpPr>
        <p:spPr>
          <a:xfrm rot="0" flipH="false" flipV="false">
            <a:off x="3320432" y="4394200"/>
            <a:ext cx="7232031" cy="3683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本来想</a:t>
            </a:r>
            <a:r>
              <a:rPr lang="en-US"/>
              <a:t>scalp</a:t>
            </a:r>
            <a:r>
              <a:rPr lang="zh-CN"/>
              <a:t>，然后做反了，就想将这笔改为做</a:t>
            </a:r>
            <a:r>
              <a:rPr lang="en-US"/>
              <a:t>swing</a:t>
            </a:r>
            <a:r>
              <a:rPr lang="zh-CN"/>
              <a:t>，这是亏钱的策略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4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5" name=""/>
          <p:cNvSpPr txBox="true"/>
          <p:nvPr/>
        </p:nvSpPr>
        <p:spPr>
          <a:xfrm rot="0" flipH="false" flipV="false">
            <a:off x="196906" y="925190"/>
            <a:ext cx="4472647" cy="368300"/>
          </a:xfrm>
          <a:prstGeom prst="rect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如果</a:t>
            </a:r>
            <a:r>
              <a:rPr lang="en-US"/>
              <a:t>swing</a:t>
            </a:r>
            <a:r>
              <a:rPr lang="zh-CN"/>
              <a:t>的前提不再存在，那就</a:t>
            </a:r>
            <a:r>
              <a:rPr lang="en-US"/>
              <a:t>scalp</a:t>
            </a:r>
            <a:r>
              <a:rPr lang="zh-CN"/>
              <a:t>出局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7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1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5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9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0" name=""/>
          <p:cNvSpPr txBox="true"/>
          <p:nvPr/>
        </p:nvSpPr>
        <p:spPr>
          <a:xfrm rot="0" flipH="false" flipV="false">
            <a:off x="175196" y="5734076"/>
            <a:ext cx="4400550" cy="1250950"/>
          </a:xfrm>
          <a:solidFill>
            <a:schemeClr val="tx2">
              <a:lumMod val="20000"/>
              <a:lumOff val="80000"/>
              <a:alpha val="100000"/>
            </a:schemeClr>
          </a:solidFill>
        </p:spPr>
        <p:txBody>
          <a:bodyPr>
            <a:spAutoFit/>
          </a:bodyPr>
          <a:p>
            <a:pPr/>
            <a:r>
              <a:rPr sz="1400">
                <a:solidFill>
                  <a:srgbClr val="FF0000">
                    <a:alpha val="100000"/>
                  </a:srgbClr>
                </a:solidFill>
              </a:rPr>
              <a:t>连续的阴线，所以是</a:t>
            </a:r>
            <a:r>
              <a:rPr sz="1400">
                <a:solidFill>
                  <a:srgbClr val="FF0000">
                    <a:alpha val="100000"/>
                  </a:srgbClr>
                </a:solidFill>
              </a:rPr>
              <a:t>AIS</a:t>
            </a:r>
            <a:r>
              <a:rPr sz="1400">
                <a:solidFill>
                  <a:srgbClr val="FF0000">
                    <a:alpha val="100000"/>
                  </a:srgbClr>
                </a:solidFill>
              </a:rPr>
              <a:t>，卖收盘</a:t>
            </a:r>
            <a:endParaRPr/>
          </a:p>
          <a:p>
            <a:pPr/>
            <a:r>
              <a:rPr sz="1400">
                <a:solidFill>
                  <a:srgbClr val="FF0000">
                    <a:alpha val="100000"/>
                  </a:srgbClr>
                </a:solidFill>
              </a:rPr>
              <a:t>但是卖的时候并不知道这是最后一根阴线</a:t>
            </a:r>
            <a:endParaRPr/>
          </a:p>
          <a:p>
            <a:pPr/>
            <a:br>
              <a:rPr/>
            </a:br>
            <a:r>
              <a:rPr sz="1400">
                <a:solidFill>
                  <a:srgbClr val="FF0000">
                    <a:alpha val="100000"/>
                  </a:srgbClr>
                </a:solidFill>
              </a:rPr>
              <a:t>强势下降，所以哪怕反转向上，</a:t>
            </a:r>
            <a:endParaRPr/>
          </a:p>
          <a:p>
            <a:pPr/>
            <a:r>
              <a:rPr sz="1400">
                <a:solidFill>
                  <a:srgbClr val="FF0000">
                    <a:alpha val="100000"/>
                  </a:srgbClr>
                </a:solidFill>
              </a:rPr>
              <a:t>更有可能回调变为一个</a:t>
            </a:r>
            <a:r>
              <a:rPr sz="1400">
                <a:solidFill>
                  <a:srgbClr val="FF0000">
                    <a:alpha val="100000"/>
                  </a:srgbClr>
                </a:solidFill>
              </a:rPr>
              <a:t>Bull Leg</a:t>
            </a:r>
            <a:r>
              <a:rPr sz="1400">
                <a:solidFill>
                  <a:srgbClr val="FF0000">
                    <a:alpha val="100000"/>
                  </a:srgbClr>
                </a:solidFill>
              </a:rPr>
              <a:t>（</a:t>
            </a:r>
            <a:r>
              <a:rPr sz="1400">
                <a:solidFill>
                  <a:srgbClr val="FF0000">
                    <a:alpha val="100000"/>
                  </a:srgbClr>
                </a:solidFill>
              </a:rPr>
              <a:t>Bear Flag</a:t>
            </a:r>
            <a:r>
              <a:rPr sz="1400">
                <a:solidFill>
                  <a:srgbClr val="FF0000">
                    <a:alpha val="100000"/>
                  </a:srgbClr>
                </a:solidFill>
              </a:rPr>
              <a:t>）</a:t>
            </a:r>
            <a:endParaRPr/>
          </a:p>
          <a:p>
            <a:pPr/>
            <a:r>
              <a:rPr sz="1400">
                <a:solidFill>
                  <a:srgbClr val="FF0000">
                    <a:alpha val="100000"/>
                  </a:srgbClr>
                </a:solidFill>
              </a:rPr>
              <a:t>更有可能趋势恢复测试前低，而不是反转向上到起跌点</a:t>
            </a:r>
            <a:endParaRPr/>
          </a:p>
        </p:txBody>
      </p:sp>
      <p:sp>
        <p:nvSpPr>
          <p:cNvPr id="81" name=""/>
          <p:cNvSpPr txBox="true"/>
          <p:nvPr/>
        </p:nvSpPr>
        <p:spPr>
          <a:xfrm>
            <a:off x="3657600" y="3797300"/>
            <a:ext cx="7315200" cy="368300"/>
          </a:xfrm>
          <a:solidFill>
            <a:schemeClr val="accent4">
              <a:lumMod val="20000"/>
              <a:lumOff val="80000"/>
              <a:alpha val="100000"/>
            </a:schemeClr>
          </a:solidFill>
          <a:ln w="12700">
            <a:solidFill>
              <a:schemeClr val="tx2">
                <a:lumMod val="20000"/>
                <a:lumOff val="80000"/>
                <a:alpha val="100000"/>
              </a:schemeClr>
            </a:solidFill>
          </a:ln>
        </p:spPr>
        <p:txBody>
          <a:bodyPr>
            <a:spAutoFit/>
          </a:bodyPr>
          <a:p>
            <a:pPr/>
            <a:endParaRPr/>
          </a:p>
        </p:txBody>
      </p:sp>
      <p:sp>
        <p:nvSpPr>
          <p:cNvPr id="82" name=""/>
          <p:cNvSpPr txBox="true"/>
          <p:nvPr/>
        </p:nvSpPr>
        <p:spPr>
          <a:xfrm rot="0" flipH="false" flipV="false">
            <a:off x="3143250" y="4629150"/>
            <a:ext cx="4629150" cy="520700"/>
          </a:xfrm>
          <a:prstGeom prst="rect">
            <a:avLst/>
          </a:prstGeom>
          <a:solidFill>
            <a:schemeClr val="tx2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sz="1400"/>
              <a:t>加仓的交易者必须交易的非常小</a:t>
            </a:r>
            <a:r>
              <a:rPr sz="1400"/>
              <a:t>
</a:t>
            </a:r>
            <a:r>
              <a:rPr sz="1400"/>
              <a:t>因为不管怎么样</a:t>
            </a:r>
            <a:r>
              <a:rPr lang="zh-CN" sz="1400"/>
              <a:t>每次交易亏损不能大于总资金的</a:t>
            </a:r>
            <a:r>
              <a:rPr lang="en-US" sz="1400"/>
              <a:t>1%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6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7" name=""/>
          <p:cNvSpPr txBox="true"/>
          <p:nvPr/>
        </p:nvSpPr>
        <p:spPr>
          <a:xfrm rot="0" flipH="false" flipV="false">
            <a:off x="2039343" y="932442"/>
            <a:ext cx="2698750" cy="368300"/>
          </a:xfrm>
          <a:solidFill>
            <a:schemeClr val="accent2">
              <a:lumMod val="60000"/>
              <a:lumOff val="40000"/>
              <a:alpha val="100000"/>
            </a:schemeClr>
          </a:solidFill>
        </p:spPr>
        <p:txBody>
          <a:bodyPr>
            <a:spAutoFit/>
          </a:bodyPr>
          <a:p>
            <a:pPr/>
            <a:r>
              <a:rPr>
                <a:solidFill>
                  <a:srgbClr val="ff0000">
                    <a:alpha val="100000"/>
                  </a:srgbClr>
                </a:solidFill>
              </a:rPr>
              <a:t>再更高的价格二次加仓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1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5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6" name=""/>
          <p:cNvSpPr txBox="true"/>
          <p:nvPr/>
        </p:nvSpPr>
        <p:spPr>
          <a:xfrm rot="0" flipH="false" flipV="false">
            <a:off x="4777932" y="1058710"/>
            <a:ext cx="7854950" cy="368300"/>
          </a:xfrm>
          <a:solidFill>
            <a:schemeClr val="accent4">
              <a:lumMod val="60000"/>
              <a:lumOff val="40000"/>
              <a:alpha val="100000"/>
            </a:schemeClr>
          </a:solidFill>
        </p:spPr>
        <p:txBody>
          <a:bodyPr>
            <a:spAutoFit/>
          </a:bodyPr>
          <a:p>
            <a:pPr/>
            <a:r>
              <a:rPr>
                <a:solidFill>
                  <a:schemeClr val="accent3">
                    <a:lumMod val="50000"/>
                    <a:alpha val="100000"/>
                  </a:schemeClr>
                </a:solidFill>
              </a:rPr>
              <a:t>强势空头突破的时候，先向下</a:t>
            </a:r>
            <a:r>
              <a:rPr>
                <a:solidFill>
                  <a:schemeClr val="accent3">
                    <a:lumMod val="50000"/>
                    <a:alpha val="100000"/>
                  </a:schemeClr>
                </a:solidFill>
              </a:rPr>
              <a:t>X ticks</a:t>
            </a:r>
            <a:r>
              <a:rPr>
                <a:solidFill>
                  <a:schemeClr val="accent3">
                    <a:lumMod val="50000"/>
                    <a:alpha val="100000"/>
                  </a:schemeClr>
                </a:solidFill>
              </a:rPr>
              <a:t>（在向上</a:t>
            </a:r>
            <a:r>
              <a:rPr>
                <a:solidFill>
                  <a:schemeClr val="accent3">
                    <a:lumMod val="50000"/>
                    <a:alpha val="100000"/>
                  </a:schemeClr>
                </a:solidFill>
              </a:rPr>
              <a:t>X ticks</a:t>
            </a:r>
            <a:r>
              <a:rPr>
                <a:solidFill>
                  <a:schemeClr val="accent3">
                    <a:lumMod val="50000"/>
                    <a:alpha val="100000"/>
                  </a:schemeClr>
                </a:solidFill>
              </a:rPr>
              <a:t>之前）的概率是</a:t>
            </a:r>
            <a:r>
              <a:rPr>
                <a:solidFill>
                  <a:schemeClr val="accent3">
                    <a:lumMod val="50000"/>
                    <a:alpha val="100000"/>
                  </a:schemeClr>
                </a:solidFill>
              </a:rPr>
              <a:t>60%-80%</a:t>
            </a:r>
            <a:endParaRPr/>
          </a:p>
        </p:txBody>
      </p:sp>
      <p:sp>
        <p:nvSpPr>
          <p:cNvPr id="97" name=""/>
          <p:cNvSpPr txBox="true"/>
          <p:nvPr/>
        </p:nvSpPr>
        <p:spPr>
          <a:xfrm rot="0" flipH="false" flipV="false">
            <a:off x="172122" y="6464946"/>
            <a:ext cx="5715000" cy="368300"/>
          </a:xfrm>
          <a:effectLst>
            <a:reflection blurRad="0" stA="52000" endA="300" endPos="35000" dist="0" dir="5400000" sy="-100000" rotWithShape="false"/>
          </a:effectLst>
        </p:spPr>
        <p:txBody>
          <a:bodyPr>
            <a:spAutoFit/>
          </a:bodyPr>
          <a:p>
            <a:pPr/>
            <a:r>
              <a:rPr>
                <a:solidFill>
                  <a:srgbClr val="B3A2C7">
                    <a:alpha val="100000"/>
                  </a:srgbClr>
                </a:solidFill>
              </a:rPr>
              <a:t>60%</a:t>
            </a:r>
            <a:r>
              <a:rPr>
                <a:solidFill>
                  <a:srgbClr val="B3A2C7">
                    <a:alpha val="100000"/>
                  </a:srgbClr>
                </a:solidFill>
              </a:rPr>
              <a:t>的概率到达突破</a:t>
            </a:r>
            <a:r>
              <a:rPr>
                <a:solidFill>
                  <a:srgbClr val="B3A2C7">
                    <a:alpha val="100000"/>
                  </a:srgbClr>
                </a:solidFill>
              </a:rPr>
              <a:t>K</a:t>
            </a:r>
            <a:r>
              <a:rPr>
                <a:solidFill>
                  <a:srgbClr val="B3A2C7">
                    <a:alpha val="100000"/>
                  </a:srgbClr>
                </a:solidFill>
              </a:rPr>
              <a:t>开盘到当前</a:t>
            </a:r>
            <a:r>
              <a:rPr>
                <a:solidFill>
                  <a:srgbClr val="B3A2C7">
                    <a:alpha val="100000"/>
                  </a:srgbClr>
                </a:solidFill>
              </a:rPr>
              <a:t>K</a:t>
            </a:r>
            <a:r>
              <a:rPr>
                <a:solidFill>
                  <a:srgbClr val="B3A2C7">
                    <a:alpha val="100000"/>
                  </a:srgbClr>
                </a:solidFill>
              </a:rPr>
              <a:t>的收盘的</a:t>
            </a:r>
            <a:r>
              <a:rPr>
                <a:solidFill>
                  <a:srgbClr val="B3A2C7">
                    <a:alpha val="100000"/>
                  </a:srgbClr>
                </a:solidFill>
              </a:rPr>
              <a:t>MM</a:t>
            </a:r>
            <a:r>
              <a:rPr>
                <a:solidFill>
                  <a:srgbClr val="B3A2C7">
                    <a:alpha val="100000"/>
                  </a:srgbClr>
                </a:solidFill>
              </a:rPr>
              <a:t>位置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0" name=""/>
          <p:cNvSpPr txBox="true"/>
          <p:nvPr/>
        </p:nvSpPr>
        <p:spPr>
          <a:xfrm rot="0" flipH="false" flipV="false">
            <a:off x="559397" y="1863287"/>
            <a:ext cx="3898900" cy="368300"/>
          </a:xfrm>
          <a:solidFill>
            <a:schemeClr val="accent3">
              <a:lumMod val="40000"/>
              <a:lumOff val="60000"/>
              <a:alpha val="0"/>
            </a:schemeClr>
          </a:solidFill>
          <a:ln w="12700">
            <a:solidFill>
              <a:schemeClr val="accent3">
                <a:lumMod val="60000"/>
                <a:lumOff val="40000"/>
                <a:alpha val="100000"/>
              </a:schemeClr>
            </a:solidFill>
            <a:prstDash val="solid"/>
          </a:ln>
        </p:spPr>
        <p:txBody>
          <a:bodyPr wrap="square">
            <a:spAutoFit/>
          </a:bodyPr>
          <a:lstStyle/>
          <a:p>
            <a:pPr/>
            <a:r>
              <a:rPr>
                <a:solidFill>
                  <a:schemeClr val="accent2">
                    <a:lumMod val="60000"/>
                    <a:lumOff val="40000"/>
                    <a:alpha val="100000"/>
                  </a:schemeClr>
                </a:solidFill>
                <a:latin typeface="Microsoft YaHei"/>
                <a:ea typeface="Microsoft YaHei"/>
                <a:cs typeface="+mn-cs"/>
              </a:rPr>
              <a:t>买突破K的跟随K的收盘是一个好策略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4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5" name=""/>
          <p:cNvSpPr txBox="true"/>
          <p:nvPr/>
        </p:nvSpPr>
        <p:spPr>
          <a:xfrm rot="0" flipH="false" flipV="false">
            <a:off x="1784233" y="1009682"/>
            <a:ext cx="4737889" cy="3683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强势上涨：重复的剥头皮不像看起来那么容易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9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0" name=""/>
          <p:cNvSpPr txBox="true"/>
          <p:nvPr/>
        </p:nvSpPr>
        <p:spPr>
          <a:xfrm rot="0" flipH="false" flipV="false">
            <a:off x="816044" y="1762126"/>
            <a:ext cx="2704694" cy="368299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强势上涨：波段交易更好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3" name=""/>
          <p:cNvSpPr txBox="true"/>
          <p:nvPr/>
        </p:nvSpPr>
        <p:spPr>
          <a:xfrm rot="0" flipH="false" flipV="false">
            <a:off x="373444" y="926694"/>
            <a:ext cx="4281458" cy="368300"/>
          </a:xfrm>
          <a:prstGeom prst="rect">
            <a:avLst/>
          </a:prstGeom>
          <a:solidFill>
            <a:schemeClr val="accent6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如果波段交易的目标为很快到达：止盈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7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1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2" name=""/>
          <p:cNvSpPr txBox="true"/>
          <p:nvPr/>
        </p:nvSpPr>
        <p:spPr>
          <a:xfrm rot="0" flipH="false" flipV="false">
            <a:off x="318119" y="6694331"/>
            <a:ext cx="5955040" cy="368300"/>
          </a:xfrm>
          <a:prstGeom prst="rect">
            <a:avLst/>
          </a:prstGeom>
          <a:solidFill>
            <a:schemeClr val="accent4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如果看到好的行情启动机会，做波段交易，不要做剥头皮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6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0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9" name="Picture 3" descr="Slide 2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3" name="Picture 3" descr="Slide 2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2024-11-18T10:58:48Z</dcterms:created>
  <dcterms:modified xsi:type="dcterms:W3CDTF">2024-11-18T10:58:48Z</dcterms:modified>
</cp:coreProperties>
</file>