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25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3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0" Type="http://schemas.openxmlformats.org/officeDocument/2006/relationships/viewProps" Target="viewProps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28" Type="http://schemas.openxmlformats.org/officeDocument/2006/relationships/presProps" Target="presProps.xml" /><Relationship Id="rId25" Type="http://schemas.openxmlformats.org/officeDocument/2006/relationships/slide" Target="slides/slide25.xml" /><Relationship Id="rId27" Type="http://schemas.openxmlformats.org/officeDocument/2006/relationships/slide" Target="slides/slide27.xml" /><Relationship Id="rId24" Type="http://schemas.openxmlformats.org/officeDocument/2006/relationships/slide" Target="slides/slide24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3" Type="http://schemas.openxmlformats.org/officeDocument/2006/relationships/slide" Target="slides/slide23.xml" /><Relationship Id="rId14" Type="http://schemas.openxmlformats.org/officeDocument/2006/relationships/slide" Target="slides/slide14.xml" /><Relationship Id="rId26" Type="http://schemas.openxmlformats.org/officeDocument/2006/relationships/slide" Target="slides/slide26.xml" /><Relationship Id="rId21" Type="http://schemas.openxmlformats.org/officeDocument/2006/relationships/slide" Target="slides/slide2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1" Type="http://schemas.openxmlformats.org/officeDocument/2006/relationships/slide" Target="slides/slide1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0" Type="http://schemas.openxmlformats.org/officeDocument/2006/relationships/slideLayout" Target="../slideLayouts/slideLayout1.xml" /><Relationship Id="rId9" Type="http://schemas.openxmlformats.org/officeDocument/2006/relationships/slideLayout" Target="../slideLayouts/slideLayout10.xml" /><Relationship Id="rId2" Type="http://schemas.openxmlformats.org/officeDocument/2006/relationships/slideLayout" Target="../slideLayouts/slideLayout3.xml" /><Relationship Id="rId8" Type="http://schemas.openxmlformats.org/officeDocument/2006/relationships/slideLayout" Target="../slideLayouts/slideLayout9.xml" /><Relationship Id="rId10" Type="http://schemas.openxmlformats.org/officeDocument/2006/relationships/slideLayout" Target="../slideLayouts/slideLayout1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2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2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7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7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7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7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1 B (#2 of 4) 00m0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02 Main Points 00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3" name=""/>
          <p:cNvSpPr txBox="true"/>
          <p:nvPr/>
        </p:nvSpPr>
        <p:spPr>
          <a:xfrm rot="0" flipH="false" flipV="false">
            <a:off x="2118632" y="2325461"/>
            <a:ext cx="1778000" cy="36830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使用波段止损</a:t>
            </a:r>
            <a:endParaRPr/>
          </a:p>
        </p:txBody>
      </p:sp>
      <p:sp>
        <p:nvSpPr>
          <p:cNvPr id="54" name=""/>
          <p:cNvSpPr txBox="true"/>
          <p:nvPr/>
        </p:nvSpPr>
        <p:spPr>
          <a:xfrm rot="0" flipH="false" flipV="false">
            <a:off x="2118632" y="3233057"/>
            <a:ext cx="3223078" cy="368299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如果是通道，向通道一样交易</a:t>
            </a:r>
            <a:endParaRPr/>
          </a:p>
        </p:txBody>
      </p:sp>
      <p:sp>
        <p:nvSpPr>
          <p:cNvPr id="55" name=""/>
          <p:cNvSpPr txBox="true"/>
          <p:nvPr/>
        </p:nvSpPr>
        <p:spPr>
          <a:xfrm rot="0" flipH="false" flipV="false">
            <a:off x="2118632" y="4225018"/>
            <a:ext cx="2243364" cy="368299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solidFill>
              <a:schemeClr val="accent3">
                <a:lumMod val="20000"/>
                <a:lumOff val="80000"/>
                <a:alpha val="100000"/>
              </a:schemeClr>
            </a:solidFill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突破经常跟随着陷阱</a:t>
            </a:r>
            <a:endParaRPr/>
          </a:p>
        </p:txBody>
      </p:sp>
      <p:sp>
        <p:nvSpPr>
          <p:cNvPr id="56" name=""/>
          <p:cNvSpPr txBox="true"/>
          <p:nvPr/>
        </p:nvSpPr>
        <p:spPr>
          <a:xfrm rot="0" flipH="false" flipV="false">
            <a:off x="2118632" y="5270501"/>
            <a:ext cx="3063874" cy="368299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在更小的时间级别早点入场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9" name="Picture 3" descr="03 Even When Scalping  Use Swing Stop 02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0" name=""/>
          <p:cNvSpPr txBox="true"/>
          <p:nvPr/>
        </p:nvSpPr>
        <p:spPr>
          <a:xfrm rot="0" flipH="false" flipV="false">
            <a:off x="8548007" y="4762500"/>
            <a:ext cx="114300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00B050">
                    <a:alpha val="100000"/>
                  </a:srgbClr>
                </a:solidFill>
              </a:rPr>
              <a:t>高</a:t>
            </a:r>
            <a:r>
              <a:rPr lang="en-US">
                <a:solidFill>
                  <a:srgbClr val="00B050">
                    <a:alpha val="100000"/>
                  </a:srgbClr>
                </a:solidFill>
              </a:rPr>
              <a:t>2</a:t>
            </a:r>
            <a:r>
              <a:rPr lang="zh-CN">
                <a:solidFill>
                  <a:srgbClr val="00B050">
                    <a:alpha val="100000"/>
                  </a:srgbClr>
                </a:solidFill>
              </a:rPr>
              <a:t>牛旗</a:t>
            </a:r>
            <a:endParaRPr/>
          </a:p>
        </p:txBody>
      </p:sp>
      <p:sp>
        <p:nvSpPr>
          <p:cNvPr id="91" name=""/>
          <p:cNvSpPr txBox="true"/>
          <p:nvPr/>
        </p:nvSpPr>
        <p:spPr>
          <a:xfrm rot="0" flipH="false" flipV="false">
            <a:off x="7531553" y="1203325"/>
            <a:ext cx="4019550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d83535">
                    <a:alpha val="100000"/>
                  </a:srgbClr>
                </a:solidFill>
              </a:rPr>
              <a:t>剥头皮的时候，使用波段止损，胜率更高，尤其是在可以加仓的时候</a:t>
            </a:r>
            <a:endParaRPr/>
          </a:p>
        </p:txBody>
      </p:sp>
      <p:sp>
        <p:nvSpPr>
          <p:cNvPr id="92" name=""/>
          <p:cNvSpPr txBox="true"/>
          <p:nvPr/>
        </p:nvSpPr>
        <p:spPr>
          <a:xfrm rot="0" flipH="false" flipV="false">
            <a:off x="4482193" y="2253342"/>
            <a:ext cx="3790950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chemeClr val="accent6">
                    <a:lumMod val="75000"/>
                    <a:alpha val="100000"/>
                  </a:schemeClr>
                </a:solidFill>
              </a:rPr>
              <a:t>胜率高的时候，可以拿</a:t>
            </a:r>
            <a:r>
              <a:rPr lang="en-US">
                <a:solidFill>
                  <a:schemeClr val="accent6">
                    <a:lumMod val="75000"/>
                    <a:alpha val="100000"/>
                  </a:schemeClr>
                </a:solidFill>
              </a:rPr>
              <a:t>1</a:t>
            </a:r>
            <a:r>
              <a:rPr lang="zh-CN">
                <a:solidFill>
                  <a:schemeClr val="accent6">
                    <a:lumMod val="75000"/>
                    <a:alpha val="100000"/>
                  </a:schemeClr>
                </a:solidFill>
              </a:rPr>
              <a:t>倍的盈亏比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6" name="Picture 3" descr="04 Positive Trader’s Equation  Always Need 03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0" name="Picture 3" descr="05 Minimum Profit  Rarely Best 06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1" name=""/>
          <p:cNvSpPr txBox="true"/>
          <p:nvPr/>
        </p:nvSpPr>
        <p:spPr>
          <a:xfrm rot="0" flipH="false" flipV="false">
            <a:off x="6086929" y="1809750"/>
            <a:ext cx="3628571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00B050">
                    <a:alpha val="100000"/>
                  </a:srgbClr>
                </a:solidFill>
              </a:rPr>
              <a:t>最小止盈目标，很少是最好。</a:t>
            </a:r>
            <a:endParaRPr/>
          </a:p>
          <a:p>
            <a:pPr/>
            <a:r>
              <a:rPr lang="zh-CN">
                <a:solidFill>
                  <a:srgbClr val="00B050">
                    <a:alpha val="100000"/>
                  </a:srgbClr>
                </a:solidFill>
              </a:rPr>
              <a:t>尤其是明显的等距上涨目标更高。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5" name="Picture 3" descr="06 Scalper  Can Scale In and Use Swing Stop 08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6" name=""/>
          <p:cNvSpPr txBox="true"/>
          <p:nvPr/>
        </p:nvSpPr>
        <p:spPr>
          <a:xfrm rot="0" flipH="false" flipV="false">
            <a:off x="4165305" y="5638800"/>
            <a:ext cx="2160772" cy="641350"/>
          </a:xfrm>
          <a:prstGeom prst="rect">
            <a:avLst/>
          </a:prstGeom>
          <a:solidFill>
            <a:schemeClr val="accent4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止损放在最近一次强势上涨</a:t>
            </a:r>
            <a:r>
              <a:rPr lang="en-US"/>
              <a:t>Leg</a:t>
            </a:r>
            <a:r>
              <a:rPr lang="zh-CN"/>
              <a:t>下面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0" name="Picture 3" descr="07 PB  Pause in Trend 09m0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1" name=""/>
          <p:cNvSpPr txBox="true"/>
          <p:nvPr/>
        </p:nvSpPr>
        <p:spPr>
          <a:xfrm rot="0" flipH="false" flipV="false">
            <a:off x="3599121" y="2130425"/>
            <a:ext cx="1530793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高点不在抬升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5" name="Picture 3" descr="08 Main Points  If Now Channel, Trade Like Channel 09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6" name=""/>
          <p:cNvSpPr txBox="true"/>
          <p:nvPr/>
        </p:nvSpPr>
        <p:spPr>
          <a:xfrm rot="0" flipH="false" flipV="false">
            <a:off x="5465283" y="1988289"/>
            <a:ext cx="3699833" cy="6413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市场循环，突破变为通道，那么就像交易通道一样进行交易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119" name=""/>
          <p:cNvSpPr txBox="true"/>
          <p:nvPr/>
        </p:nvSpPr>
        <p:spPr>
          <a:xfrm rot="0" flipH="false" flipV="false">
            <a:off x="3801140" y="6174637"/>
            <a:ext cx="3003550" cy="368300"/>
          </a:xfrm>
          <a:solidFill>
            <a:schemeClr val="accent1">
              <a:lumMod val="40000"/>
              <a:lumOff val="60000"/>
              <a:alpha val="100000"/>
            </a:schemeClr>
          </a:solidFill>
        </p:spPr>
        <p:txBody>
          <a:bodyPr>
            <a:spAutoFit/>
          </a:bodyPr>
          <a:p>
            <a:pPr/>
            <a:endParaRPr/>
          </a:p>
        </p:txBody>
      </p:sp>
      <p:sp>
        <p:nvSpPr>
          <p:cNvPr id="120" name=""/>
          <p:cNvSpPr txBox="true"/>
          <p:nvPr/>
        </p:nvSpPr>
        <p:spPr>
          <a:xfrm rot="0" flipH="false" flipV="false">
            <a:off x="3992672" y="6262356"/>
            <a:ext cx="3003550" cy="64135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/>
              <a:t>As soon as there's a pullback, the channel phase has begun.</a:t>
            </a:r>
            <a:endParaRPr/>
          </a:p>
        </p:txBody>
      </p:sp>
      <p:sp>
        <p:nvSpPr>
          <p:cNvPr id="121" name=""/>
          <p:cNvSpPr txBox="true"/>
          <p:nvPr/>
        </p:nvSpPr>
        <p:spPr>
          <a:xfrm rot="0" flipH="false" flipV="false">
            <a:off x="6996222" y="6262356"/>
            <a:ext cx="3003550" cy="73025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也就是说，突破过程中，出现明显的回调，那么此时就要意识到，这是通道的</a:t>
            </a:r>
            <a:r>
              <a:rPr lang="zh-CN" sz="1400" b="true"/>
              <a:t>早期特征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Once BO Evolves into Channel  Change Method 11m2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Important Sign of TR  Bear Scalpers Begin to Make Money 13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"/>
          <p:cNvSpPr txBox="true"/>
          <p:nvPr/>
        </p:nvSpPr>
        <p:spPr>
          <a:xfrm rot="0" flipH="false" flipV="false">
            <a:off x="393404" y="903767"/>
            <a:ext cx="8064795" cy="36830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>
                <a:solidFill>
                  <a:srgbClr val="FF0000">
                    <a:alpha val="100000"/>
                  </a:srgbClr>
                </a:solidFill>
              </a:rPr>
              <a:t>交易区间的重要特征，空头剥头皮交易者开始赚钱，他们在新高或者前高做空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12 Bears Make Money Selling with Stops  TR Likely Soon 16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8" name=""/>
          <p:cNvSpPr txBox="true"/>
          <p:nvPr/>
        </p:nvSpPr>
        <p:spPr>
          <a:xfrm rot="0" flipH="false" flipV="false">
            <a:off x="441251" y="1143000"/>
            <a:ext cx="5222948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停损单入场做空都能赚钱，那么交易区间很快到来</a:t>
            </a:r>
            <a:endParaRPr/>
          </a:p>
        </p:txBody>
      </p:sp>
      <p:sp>
        <p:nvSpPr>
          <p:cNvPr id="19" name=""/>
          <p:cNvSpPr txBox="true"/>
          <p:nvPr/>
        </p:nvSpPr>
        <p:spPr>
          <a:xfrm rot="0" flipH="false" flipV="false">
            <a:off x="3702789" y="5638800"/>
            <a:ext cx="3714159" cy="730250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>
                <a:solidFill>
                  <a:srgbClr val="00B050">
                    <a:alpha val="100000"/>
                  </a:srgbClr>
                </a:solidFill>
              </a:rPr>
              <a:t>价格行为变为通道</a:t>
            </a:r>
            <a:endParaRPr/>
          </a:p>
          <a:p>
            <a:pPr/>
            <a:r>
              <a:rPr lang="zh-CN" sz="1400">
                <a:solidFill>
                  <a:srgbClr val="00B050">
                    <a:alpha val="100000"/>
                  </a:srgbClr>
                </a:solidFill>
              </a:rPr>
              <a:t>多头不愿意逢高买，而是回调入场</a:t>
            </a:r>
            <a:endParaRPr/>
          </a:p>
          <a:p>
            <a:pPr/>
            <a:r>
              <a:rPr lang="zh-CN" sz="1400">
                <a:solidFill>
                  <a:srgbClr val="00B050">
                    <a:alpha val="100000"/>
                  </a:srgbClr>
                </a:solidFill>
              </a:rPr>
              <a:t>此时赚钱更难，利润更小，花的时间也会更长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3" name="Picture 3" descr="13 Main Points  Breakout Often Follows Trap 16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  <p:sp>
        <p:nvSpPr>
          <p:cNvPr id="28" name=""/>
          <p:cNvSpPr txBox="true"/>
          <p:nvPr/>
        </p:nvSpPr>
        <p:spPr>
          <a:xfrm rot="0" flipH="false" flipV="false">
            <a:off x="481124" y="975537"/>
            <a:ext cx="4321839" cy="368299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强势多头，帮助创造强卖出信号（陷阱）</a:t>
            </a:r>
            <a:endParaRPr/>
          </a:p>
        </p:txBody>
      </p:sp>
      <p:sp>
        <p:nvSpPr>
          <p:cNvPr id="29" name=""/>
          <p:cNvSpPr txBox="true"/>
          <p:nvPr/>
        </p:nvSpPr>
        <p:spPr>
          <a:xfrm rot="0" flipH="false" flipV="false">
            <a:off x="3108547" y="5806263"/>
            <a:ext cx="3388832" cy="368299"/>
          </a:xfrm>
          <a:prstGeom prst="rect">
            <a:avLst/>
          </a:prstGeom>
          <a:solidFill>
            <a:schemeClr val="accent6">
              <a:lumMod val="75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很明显，卖出设置强于买入设置</a:t>
            </a:r>
            <a:endParaRPr/>
          </a:p>
        </p:txBody>
      </p:sp>
      <p:sp>
        <p:nvSpPr>
          <p:cNvPr id="30" name=""/>
          <p:cNvSpPr txBox="true"/>
          <p:nvPr/>
        </p:nvSpPr>
        <p:spPr>
          <a:xfrm rot="0" flipH="false" flipV="false">
            <a:off x="9133368" y="4253023"/>
            <a:ext cx="3277190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多头阻止这个卖出信号触发，那么就证明了多头的强势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4" name="Picture 3" descr="16 Bull BO of Bear Flag  Sign of Strong Bulls 23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17 Bear BO Below Bull Flag  Sign of Strong Bears 24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9" name=""/>
          <p:cNvSpPr txBox="true"/>
          <p:nvPr/>
        </p:nvSpPr>
        <p:spPr>
          <a:xfrm rot="0" flipH="false" flipV="false">
            <a:off x="2291316" y="2466753"/>
            <a:ext cx="2112925" cy="641350"/>
          </a:xfrm>
          <a:prstGeom prst="rect">
            <a:avLst/>
          </a:prstGeom>
          <a:solidFill>
            <a:schemeClr val="accent5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牛旗失败了是空头很强的信号</a:t>
            </a:r>
            <a:endParaRPr/>
          </a:p>
        </p:txBody>
      </p:sp>
      <p:sp>
        <p:nvSpPr>
          <p:cNvPr id="40" name=""/>
          <p:cNvSpPr txBox="true"/>
          <p:nvPr/>
        </p:nvSpPr>
        <p:spPr>
          <a:xfrm rot="0" flipH="false" flipV="false">
            <a:off x="3846328" y="5401340"/>
            <a:ext cx="1778000" cy="11874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三角形经常是</a:t>
            </a:r>
            <a:r>
              <a:rPr lang="en-US"/>
              <a:t>FF</a:t>
            </a:r>
            <a:endParaRPr/>
          </a:p>
          <a:p>
            <a:pPr/>
            <a:r>
              <a:rPr lang="zh-CN"/>
              <a:t>所以后面的上涨可能就是最后的</a:t>
            </a:r>
            <a:r>
              <a:rPr lang="en-US"/>
              <a:t>leg up</a:t>
            </a:r>
            <a:endParaRPr/>
          </a:p>
        </p:txBody>
      </p:sp>
      <p:sp>
        <p:nvSpPr>
          <p:cNvPr id="41" name=""/>
          <p:cNvSpPr txBox="true"/>
          <p:nvPr/>
        </p:nvSpPr>
        <p:spPr>
          <a:xfrm rot="0" flipH="false" flipV="false">
            <a:off x="7315200" y="3429000"/>
            <a:ext cx="3460602" cy="9144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回调超过了</a:t>
            </a:r>
            <a:r>
              <a:rPr lang="en-US"/>
              <a:t>10</a:t>
            </a:r>
            <a:r>
              <a:rPr lang="zh-CN"/>
              <a:t>根</a:t>
            </a:r>
            <a:r>
              <a:rPr lang="en-US"/>
              <a:t>K</a:t>
            </a:r>
            <a:r>
              <a:rPr lang="zh-CN"/>
              <a:t>线，趋势没有延续，反而向下突破了，那么可能向下</a:t>
            </a:r>
            <a:r>
              <a:rPr lang="en-US"/>
              <a:t>MM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18 Bear BO Below Bull Flag  Later Sell Has Higher Probability 26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6" name=""/>
          <p:cNvSpPr txBox="true"/>
          <p:nvPr/>
        </p:nvSpPr>
        <p:spPr>
          <a:xfrm rot="0" flipH="false" flipV="false">
            <a:off x="1047307" y="1190846"/>
            <a:ext cx="3651988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空头突破了牛旗，晚点卖胜率更高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3" descr="19 Strong Bull  Sometimes Weak High 1 Bull Flag 30m0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20 Strong BO  Only Buy If Can Use Correct Stop 31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23 Strong BO  Stop Often Far 33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5" name=""/>
          <p:cNvSpPr txBox="true"/>
          <p:nvPr/>
        </p:nvSpPr>
        <p:spPr>
          <a:xfrm rot="0" flipH="false" flipV="false">
            <a:off x="4952115" y="3794125"/>
            <a:ext cx="2363085" cy="64135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可以买，前提是能承担这样大的止损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24 When Extremely Big Bars  Do Not Trade 34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3" name="Picture 3" descr="25 Bull  Stock Replacement Strategies 35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7" name="Picture 3" descr="26 Main Points  Enter Early on Smaller Time Frame 35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3" descr="27 Buy Early  On 1 Minute Chart 37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3" descr="28 Buy Early  Less Risk 40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5" name="Picture 3" descr="29 Review 41m0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2024-11-18T10:52:14Z</dcterms:created>
  <dcterms:modified xsi:type="dcterms:W3CDTF">2024-11-18T10:52:14Z</dcterms:modified>
</cp:coreProperties>
</file>