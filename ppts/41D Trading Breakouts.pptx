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6" Type="http://schemas.openxmlformats.org/officeDocument/2006/relationships/presProps" Target="presProps.xml" /><Relationship Id="rId3" Type="http://schemas.openxmlformats.org/officeDocument/2006/relationships/slide" Target="slides/slide3.xml" /><Relationship Id="rId17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15" Type="http://schemas.openxmlformats.org/officeDocument/2006/relationships/slide" Target="slides/slide15.xml" /><Relationship Id="rId18" Type="http://schemas.openxmlformats.org/officeDocument/2006/relationships/viewProps" Target="viewProps.xml" /><Relationship Id="rId6" Type="http://schemas.openxmlformats.org/officeDocument/2006/relationships/slide" Target="slides/slide6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6" Type="http://schemas.openxmlformats.org/officeDocument/2006/relationships/slideLayout" Target="../slideLayouts/slideLayout7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8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1 D (#4 of 4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02 Main Points 00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2" name=""/>
          <p:cNvSpPr txBox="true"/>
          <p:nvPr/>
        </p:nvSpPr>
        <p:spPr>
          <a:xfrm rot="0" flipH="false" flipV="false">
            <a:off x="7418583" y="1762125"/>
            <a:ext cx="1778000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止损管理</a:t>
            </a:r>
            <a:endParaRPr/>
          </a:p>
        </p:txBody>
      </p:sp>
      <p:sp>
        <p:nvSpPr>
          <p:cNvPr id="53" name=""/>
          <p:cNvSpPr txBox="true"/>
          <p:nvPr/>
        </p:nvSpPr>
        <p:spPr>
          <a:xfrm rot="0" flipH="false" flipV="false">
            <a:off x="6222420" y="2824163"/>
            <a:ext cx="1778000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卖的不同方式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7" name="Picture 3" descr="03 Stop  Decide Where It Belongs 03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8" name=""/>
          <p:cNvSpPr txBox="true"/>
          <p:nvPr/>
        </p:nvSpPr>
        <p:spPr>
          <a:xfrm rot="0" flipH="false" flipV="false">
            <a:off x="3184072" y="1089932"/>
            <a:ext cx="2101850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b="true"/>
              <a:t>止损放在突破起点</a:t>
            </a:r>
            <a:endParaRPr/>
          </a:p>
          <a:p>
            <a:pPr/>
            <a:r>
              <a:rPr lang="zh-CN" b="true"/>
              <a:t>或者</a:t>
            </a:r>
            <a:r>
              <a:rPr lang="en-US" b="true"/>
              <a:t>leg</a:t>
            </a:r>
            <a:r>
              <a:rPr lang="zh-CN" b="true"/>
              <a:t>的起点</a:t>
            </a:r>
            <a:endParaRPr/>
          </a:p>
        </p:txBody>
      </p:sp>
      <p:sp>
        <p:nvSpPr>
          <p:cNvPr id="59" name=""/>
          <p:cNvSpPr txBox="true"/>
          <p:nvPr/>
        </p:nvSpPr>
        <p:spPr>
          <a:xfrm rot="0" flipH="false" flipV="false">
            <a:off x="482147" y="3886200"/>
            <a:ext cx="3752850" cy="14605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b="true"/>
              <a:t>止损的位置决定了仓位</a:t>
            </a:r>
            <a:endParaRPr/>
          </a:p>
          <a:p>
            <a:pPr/>
            <a:r>
              <a:rPr lang="zh-CN" b="true"/>
              <a:t>牢记每次最多亏损总账户的</a:t>
            </a:r>
            <a:r>
              <a:rPr lang="en-US" b="true"/>
              <a:t>1%</a:t>
            </a:r>
            <a:r>
              <a:rPr lang="zh-CN" b="true"/>
              <a:t>或</a:t>
            </a:r>
            <a:r>
              <a:rPr lang="en-US" b="true"/>
              <a:t>2%</a:t>
            </a:r>
            <a:endParaRPr/>
          </a:p>
          <a:p>
            <a:pPr/>
            <a:endParaRPr lang="en-US" b="true"/>
          </a:p>
          <a:p>
            <a:pPr/>
            <a:r>
              <a:rPr lang="zh-CN" b="true">
                <a:solidFill>
                  <a:schemeClr val="tx2">
                    <a:lumMod val="60000"/>
                    <a:lumOff val="40000"/>
                    <a:alpha val="100000"/>
                  </a:schemeClr>
                </a:solidFill>
              </a:rPr>
              <a:t>如果止损距离超出能承受损失最大值，那么久不要做这笔交易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3" name="Picture 3" descr="04 If Not Sure  Exit Early 05m5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4" name=""/>
          <p:cNvSpPr txBox="true"/>
          <p:nvPr/>
        </p:nvSpPr>
        <p:spPr>
          <a:xfrm rot="0" flipH="false" flipV="false">
            <a:off x="526597" y="4629150"/>
            <a:ext cx="5111750" cy="7302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这里确实有三推但是反转的阳线变得越来越小，跟随也不强，那么这次反转很可能只是次级反转</a:t>
            </a:r>
            <a:endParaRPr/>
          </a:p>
          <a:p>
            <a:pPr/>
            <a:r>
              <a:rPr lang="zh-CN" sz="1400"/>
              <a:t>同时在前面下降趋势这么强</a:t>
            </a:r>
            <a:endParaRPr/>
          </a:p>
        </p:txBody>
      </p:sp>
      <p:sp>
        <p:nvSpPr>
          <p:cNvPr id="65" name=""/>
          <p:cNvSpPr txBox="true"/>
          <p:nvPr/>
        </p:nvSpPr>
        <p:spPr>
          <a:xfrm rot="0" flipH="false" flipV="false">
            <a:off x="428625" y="6784522"/>
            <a:ext cx="5746750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568ED4">
                    <a:alpha val="100000"/>
                  </a:srgbClr>
                </a:solidFill>
              </a:rPr>
              <a:t>可以退出，但是一旦回调结束，该入场做空还是要做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05 Stop  Always Several Good Choices 07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5" name="Picture 3" descr="07 Stop Is Same  No Matter Where You Sell 10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9" name="Picture 3" descr="08 After Each New BO  Lower the Stop 14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3" name="Picture 3" descr="09 Main Points  How to Sell 14m3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Sell The Close Bear Trend  Reason to Sell on Every Bar 18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7315200" y="877824"/>
            <a:ext cx="2549525" cy="368299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最简单的，直接卖收盘</a:t>
            </a:r>
            <a:endParaRPr/>
          </a:p>
        </p:txBody>
      </p:sp>
      <p:cxnSp>
        <p:nvCxnSpPr>
          <p:cNvPr id="10" name=""/>
          <p:cNvCxnSpPr/>
          <p:nvPr/>
        </p:nvCxnSpPr>
        <p:spPr>
          <a:xfrm rot="0" flipH="false" flipV="false">
            <a:off x="3751867" y="2408548"/>
            <a:ext cx="1060514" cy="353503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11" name=""/>
          <p:cNvSpPr txBox="true"/>
          <p:nvPr/>
        </p:nvSpPr>
        <p:spPr>
          <a:xfrm rot="0" flipH="false" flipV="false">
            <a:off x="2504124" y="2130425"/>
            <a:ext cx="1778000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直接卖收盘</a:t>
            </a:r>
            <a:endParaRPr/>
          </a:p>
        </p:txBody>
      </p:sp>
      <p:sp>
        <p:nvSpPr>
          <p:cNvPr id="12" name=""/>
          <p:cNvSpPr txBox="true"/>
          <p:nvPr/>
        </p:nvSpPr>
        <p:spPr>
          <a:xfrm rot="0" flipH="false" flipV="false">
            <a:off x="9082726" y="3279775"/>
            <a:ext cx="3602086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限价单卖收盘，如果下根</a:t>
            </a:r>
            <a:r>
              <a:rPr lang="en-US"/>
              <a:t>K</a:t>
            </a:r>
            <a:r>
              <a:rPr lang="zh-CN"/>
              <a:t>线开盘有缺口可能会无法成交</a:t>
            </a:r>
            <a:endParaRPr/>
          </a:p>
        </p:txBody>
      </p:sp>
      <p:sp>
        <p:nvSpPr>
          <p:cNvPr id="13" name=""/>
          <p:cNvSpPr txBox="true"/>
          <p:nvPr/>
        </p:nvSpPr>
        <p:spPr>
          <a:xfrm rot="0" flipH="false" flipV="false">
            <a:off x="4034672" y="5236590"/>
            <a:ext cx="4267986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如果是尾盘最后一个小时形成的</a:t>
            </a:r>
            <a:r>
              <a:rPr lang="en-US"/>
              <a:t>sell close</a:t>
            </a:r>
            <a:r>
              <a:rPr lang="zh-CN"/>
              <a:t>趋势，交易员很容易有反转就止盈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11 Sell The Close  Sell Strong Bear Closes 20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8" name=""/>
          <p:cNvSpPr txBox="true"/>
          <p:nvPr/>
        </p:nvSpPr>
        <p:spPr>
          <a:xfrm rot="0" flipH="false" flipV="false">
            <a:off x="9407950" y="245096"/>
            <a:ext cx="1778000" cy="368300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卖大阴线收盘</a:t>
            </a:r>
            <a:endParaRPr/>
          </a:p>
        </p:txBody>
      </p:sp>
      <p:sp>
        <p:nvSpPr>
          <p:cNvPr id="19" name=""/>
          <p:cNvSpPr txBox="true"/>
          <p:nvPr/>
        </p:nvSpPr>
        <p:spPr>
          <a:xfrm rot="0" flipH="false" flipV="false">
            <a:off x="2794000" y="1333892"/>
            <a:ext cx="4521200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为什么这些大阴线收在最低？因为机构在阴线还没收完，就迫切入场做空了。</a:t>
            </a:r>
            <a:endParaRPr/>
          </a:p>
        </p:txBody>
      </p:sp>
      <p:sp>
        <p:nvSpPr>
          <p:cNvPr id="20" name=""/>
          <p:cNvSpPr txBox="true"/>
          <p:nvPr/>
        </p:nvSpPr>
        <p:spPr>
          <a:xfrm rot="0" flipH="false" flipV="false">
            <a:off x="6339526" y="5844618"/>
            <a:ext cx="4082853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大多数</a:t>
            </a:r>
            <a:r>
              <a:rPr lang="en-US"/>
              <a:t>sell</a:t>
            </a:r>
            <a:r>
              <a:rPr lang="zh-CN"/>
              <a:t>一次，然后持仓做波段交易</a:t>
            </a:r>
            <a:endParaRPr/>
          </a:p>
        </p:txBody>
      </p:sp>
      <p:sp>
        <p:nvSpPr>
          <p:cNvPr id="21" name=""/>
          <p:cNvSpPr txBox="true"/>
          <p:nvPr/>
        </p:nvSpPr>
        <p:spPr>
          <a:xfrm rot="0" flipH="false" flipV="false">
            <a:off x="5426043" y="6792012"/>
            <a:ext cx="4692715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交易专家持续</a:t>
            </a:r>
            <a:r>
              <a:rPr lang="en-US"/>
              <a:t>sell</a:t>
            </a:r>
            <a:r>
              <a:rPr lang="zh-CN"/>
              <a:t>多次，加大仓位，盈利加仓</a:t>
            </a:r>
            <a:endParaRPr/>
          </a:p>
        </p:txBody>
      </p:sp>
      <p:sp>
        <p:nvSpPr>
          <p:cNvPr id="22" name=""/>
          <p:cNvSpPr txBox="true"/>
          <p:nvPr/>
        </p:nvSpPr>
        <p:spPr>
          <a:xfrm rot="0" flipH="false" flipV="false">
            <a:off x="273378" y="4317476"/>
            <a:ext cx="4521200" cy="641349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只要</a:t>
            </a:r>
            <a:r>
              <a:rPr lang="en-US"/>
              <a:t>K</a:t>
            </a:r>
            <a:r>
              <a:rPr lang="zh-CN"/>
              <a:t>线继续收在低处，卖收盘的空头就会在大阴线或者连续阴线收盘的时候做空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12 Once Clearly Always In Short  Look to Sell NOW! 22m3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7" name=""/>
          <p:cNvSpPr txBox="true"/>
          <p:nvPr/>
        </p:nvSpPr>
        <p:spPr>
          <a:xfrm rot="0" flipH="false" flipV="false">
            <a:off x="174396" y="838985"/>
            <a:ext cx="3361702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一但明显的</a:t>
            </a:r>
            <a:r>
              <a:rPr lang="en-US"/>
              <a:t>AIS</a:t>
            </a:r>
            <a:r>
              <a:rPr lang="zh-CN"/>
              <a:t>：马上找机会</a:t>
            </a:r>
            <a:r>
              <a:rPr lang="en-US"/>
              <a:t>sell</a:t>
            </a:r>
            <a:endParaRPr/>
          </a:p>
        </p:txBody>
      </p:sp>
      <p:sp>
        <p:nvSpPr>
          <p:cNvPr id="28" name=""/>
          <p:cNvSpPr txBox="true"/>
          <p:nvPr/>
        </p:nvSpPr>
        <p:spPr>
          <a:xfrm rot="0" flipH="false" flipV="false">
            <a:off x="485481" y="4762500"/>
            <a:ext cx="3941451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因为感觉止损很大，不敢入场，眼睁睁看着一直下跌，错过了大段的利润</a:t>
            </a:r>
            <a:endParaRPr/>
          </a:p>
        </p:txBody>
      </p:sp>
      <p:sp>
        <p:nvSpPr>
          <p:cNvPr id="29" name=""/>
          <p:cNvSpPr txBox="true"/>
          <p:nvPr/>
        </p:nvSpPr>
        <p:spPr>
          <a:xfrm rot="0" flipH="false" flipV="false">
            <a:off x="6268302" y="6622330"/>
            <a:ext cx="3587945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前提是，止损的距离不会让你感到紧张，否则就不要做这笔交易</a:t>
            </a:r>
            <a:endParaRPr/>
          </a:p>
        </p:txBody>
      </p:sp>
      <p:sp>
        <p:nvSpPr>
          <p:cNvPr id="30" name=""/>
          <p:cNvSpPr txBox="true"/>
          <p:nvPr/>
        </p:nvSpPr>
        <p:spPr>
          <a:xfrm rot="0" flipH="false" flipV="false">
            <a:off x="10928350" y="2040903"/>
            <a:ext cx="3702050" cy="914400"/>
          </a:xfrm>
          <a:prstGeom prst="rect">
            <a:avLst/>
          </a:prstGeom>
          <a:solidFill>
            <a:schemeClr val="bg1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b="true">
                <a:solidFill>
                  <a:srgbClr val="C00000">
                    <a:alpha val="100000"/>
                  </a:srgbClr>
                </a:solidFill>
              </a:rPr>
              <a:t>看懂了行情是</a:t>
            </a:r>
            <a:r>
              <a:rPr lang="en-US" b="true">
                <a:solidFill>
                  <a:srgbClr val="C00000">
                    <a:alpha val="100000"/>
                  </a:srgbClr>
                </a:solidFill>
              </a:rPr>
              <a:t>AIS</a:t>
            </a:r>
            <a:r>
              <a:rPr lang="zh-CN" b="true">
                <a:solidFill>
                  <a:srgbClr val="C00000">
                    <a:alpha val="100000"/>
                  </a:srgbClr>
                </a:solidFill>
              </a:rPr>
              <a:t>，但是犹豫不决不知道如何入场，那么就直接市价卖空，使用正确的止损就行了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4" name="Picture 3" descr="13 Bear Flags (Low1 and 2 PBs)  Sell BO Below 25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5" name=""/>
          <p:cNvSpPr txBox="true"/>
          <p:nvPr/>
        </p:nvSpPr>
        <p:spPr>
          <a:xfrm rot="0" flipH="false" flipV="false">
            <a:off x="240384" y="930275"/>
            <a:ext cx="4781550" cy="91440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找回调结束的入场机会</a:t>
            </a:r>
            <a:endParaRPr/>
          </a:p>
          <a:p>
            <a:pPr/>
            <a:r>
              <a:rPr lang="zh-CN"/>
              <a:t>最重要的是，不管怎么入场，止损都要放对</a:t>
            </a:r>
            <a:endParaRPr/>
          </a:p>
          <a:p>
            <a:pPr/>
            <a:r>
              <a:rPr lang="zh-CN"/>
              <a:t>入场做</a:t>
            </a:r>
            <a:r>
              <a:rPr lang="en-US"/>
              <a:t>swing</a:t>
            </a:r>
            <a:r>
              <a:rPr lang="zh-CN"/>
              <a:t>或者</a:t>
            </a:r>
            <a:r>
              <a:rPr lang="en-US"/>
              <a:t>scalp</a:t>
            </a:r>
            <a:r>
              <a:rPr lang="zh-CN"/>
              <a:t>都可以，止损都一样</a:t>
            </a:r>
            <a:endParaRPr/>
          </a:p>
        </p:txBody>
      </p:sp>
      <p:sp>
        <p:nvSpPr>
          <p:cNvPr id="36" name=""/>
          <p:cNvSpPr txBox="true"/>
          <p:nvPr/>
        </p:nvSpPr>
        <p:spPr>
          <a:xfrm rot="0" flipH="false" flipV="false">
            <a:off x="400639" y="3886200"/>
            <a:ext cx="3093039" cy="368299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注意：当</a:t>
            </a:r>
            <a:r>
              <a:rPr lang="en-US"/>
              <a:t>BO</a:t>
            </a:r>
            <a:r>
              <a:rPr lang="zh-CN"/>
              <a:t>后，重新数</a:t>
            </a:r>
            <a:r>
              <a:rPr lang="en-US"/>
              <a:t>K</a:t>
            </a:r>
            <a:r>
              <a:rPr lang="zh-CN"/>
              <a:t>线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4 Bet Reversals Will Fail  And Become Bear Flags 27m4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1" name=""/>
          <p:cNvSpPr txBox="true"/>
          <p:nvPr/>
        </p:nvSpPr>
        <p:spPr>
          <a:xfrm rot="0" flipH="false" flipV="false">
            <a:off x="11249676" y="208722"/>
            <a:ext cx="3132561" cy="368299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赌反转失败，然后变成熊旗</a:t>
            </a:r>
            <a:endParaRPr/>
          </a:p>
        </p:txBody>
      </p:sp>
      <p:sp>
        <p:nvSpPr>
          <p:cNvPr id="42" name=""/>
          <p:cNvSpPr txBox="true"/>
          <p:nvPr/>
        </p:nvSpPr>
        <p:spPr>
          <a:xfrm rot="0" flipH="false" flipV="false">
            <a:off x="796551" y="4908550"/>
            <a:ext cx="3149600" cy="1460500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卖阳线收盘</a:t>
            </a:r>
            <a:endParaRPr/>
          </a:p>
          <a:p>
            <a:pPr/>
            <a:r>
              <a:rPr lang="zh-CN"/>
              <a:t>卖前高（突破前高失败）</a:t>
            </a:r>
            <a:endParaRPr/>
          </a:p>
          <a:p>
            <a:pPr/>
            <a:r>
              <a:rPr lang="en-US"/>
              <a:t>K</a:t>
            </a:r>
            <a:r>
              <a:rPr lang="zh-CN"/>
              <a:t>线上方做空（</a:t>
            </a:r>
            <a:r>
              <a:rPr lang="en-US"/>
              <a:t>bad bull flag</a:t>
            </a:r>
            <a:r>
              <a:rPr lang="zh-CN"/>
              <a:t>）</a:t>
            </a:r>
            <a:endParaRPr/>
          </a:p>
          <a:p>
            <a:pPr/>
            <a:r>
              <a:rPr lang="zh-CN"/>
              <a:t>卖</a:t>
            </a:r>
            <a:r>
              <a:rPr lang="en-US"/>
              <a:t>50%</a:t>
            </a:r>
            <a:r>
              <a:rPr lang="zh-CN"/>
              <a:t>回调</a:t>
            </a:r>
            <a:endParaRPr/>
          </a:p>
          <a:p>
            <a:pPr/>
            <a:r>
              <a:rPr lang="zh-CN"/>
              <a:t>卖固定</a:t>
            </a:r>
            <a:r>
              <a:rPr lang="en-US"/>
              <a:t>1</a:t>
            </a:r>
            <a:r>
              <a:rPr lang="zh-CN"/>
              <a:t>，</a:t>
            </a:r>
            <a:r>
              <a:rPr lang="en-US"/>
              <a:t>2</a:t>
            </a:r>
            <a:r>
              <a:rPr lang="zh-CN"/>
              <a:t>，</a:t>
            </a:r>
            <a:r>
              <a:rPr lang="en-US"/>
              <a:t>4</a:t>
            </a:r>
            <a:r>
              <a:rPr lang="zh-CN"/>
              <a:t>，</a:t>
            </a:r>
            <a:r>
              <a:rPr lang="en-US"/>
              <a:t>10</a:t>
            </a:r>
            <a:r>
              <a:rPr lang="zh-CN"/>
              <a:t>个点的回调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15 When Strong Trend  Always Swing at Least Part 30m4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7" name=""/>
          <p:cNvSpPr txBox="true"/>
          <p:nvPr/>
        </p:nvSpPr>
        <p:spPr>
          <a:xfrm rot="0" flipH="false" flipV="false">
            <a:off x="11300791" y="221500"/>
            <a:ext cx="2583068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强趋势，至少部分</a:t>
            </a:r>
            <a:r>
              <a:rPr lang="en-US"/>
              <a:t>swing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2024-11-18T10:52:30Z</dcterms:created>
  <dcterms:modified xsi:type="dcterms:W3CDTF">2024-11-18T10:52:30Z</dcterms:modified>
</cp:coreProperties>
</file>