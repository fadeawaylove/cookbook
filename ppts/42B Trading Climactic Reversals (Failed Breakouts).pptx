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8229600" cx="14630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schemas.openxmlformats.org/officeDocument/2006/relationships/slide" Target="slides/slide19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i="0" u="none" cap="none" strike="noStrike">
                <a:solidFill>
                  <a:schemeClr val="dk1"/>
                </a:solidFill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1 Video 423 (#2 of 3) 00m05s.jp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497025" y="1507625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4028675" y="1417775"/>
            <a:ext cx="4313100" cy="400200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253975" y="1717300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258025" y="1305450"/>
            <a:ext cx="4313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1437750" y="1567550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2 Main Points 00m22s.jpg"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3841475" y="1380325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3639300" y="1253050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00FF00"/>
                </a:highlight>
              </a:rPr>
              <a:t>主（趋势）势高潮反转</a:t>
            </a:r>
            <a:endParaRPr>
              <a:solidFill>
                <a:schemeClr val="dk1"/>
              </a:solidFill>
              <a:highlight>
                <a:srgbClr val="00FF00"/>
              </a:highlight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3639300" y="3228900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B4A7D6"/>
                </a:highlight>
              </a:rPr>
              <a:t>微型通道可以是高潮（基于时间而不是价格）</a:t>
            </a:r>
            <a:endParaRPr>
              <a:solidFill>
                <a:schemeClr val="dk1"/>
              </a:solidFill>
              <a:highlight>
                <a:srgbClr val="B4A7D6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4 Major Climax ls Big BO Late in Trend 04m09s.jp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9150675" y="204675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FF00"/>
                </a:highlight>
              </a:rPr>
              <a:t>主要高潮是趋势后期的大突破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3369700" y="2518575"/>
            <a:ext cx="3901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A2C4C9"/>
                </a:highlight>
              </a:rPr>
              <a:t>趋势快结束的时候，顺着趋势方向的强势突破可能最后反转形成反向的趋势</a:t>
            </a:r>
            <a:endParaRPr>
              <a:solidFill>
                <a:schemeClr val="dk1"/>
              </a:solidFill>
              <a:highlight>
                <a:srgbClr val="A2C4C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A2C4C9"/>
                </a:highlight>
              </a:rPr>
              <a:t>（当然要看到好的context才能做反转）</a:t>
            </a:r>
            <a:endParaRPr>
              <a:solidFill>
                <a:schemeClr val="dk1"/>
              </a:solidFill>
              <a:highlight>
                <a:srgbClr val="A2C4C9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5 How to Enter for Reversal  07m57s.jpg" id="115" name="Google Shape;11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7016500" y="264575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00FFFF"/>
                </a:highlight>
              </a:rPr>
              <a:t>如何入场做反转呢？</a:t>
            </a:r>
            <a:endParaRPr>
              <a:solidFill>
                <a:schemeClr val="dk1"/>
              </a:solidFill>
              <a:highlight>
                <a:srgbClr val="00FFFF"/>
              </a:highlight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5855850" y="1642425"/>
            <a:ext cx="4657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B6D7A8"/>
                </a:highlight>
              </a:rPr>
              <a:t>高潮反转，60%的概率TBTL，第一目标就是高潮起点。</a:t>
            </a:r>
            <a:endParaRPr>
              <a:solidFill>
                <a:schemeClr val="dk1"/>
              </a:solidFill>
              <a:highlight>
                <a:srgbClr val="B6D7A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B6D7A8"/>
                </a:highlight>
              </a:rPr>
              <a:t>阿布会在这里入场做空</a:t>
            </a:r>
            <a:endParaRPr>
              <a:solidFill>
                <a:schemeClr val="dk1"/>
              </a:solidFill>
              <a:highlight>
                <a:srgbClr val="B6D7A8"/>
              </a:highlight>
            </a:endParaRPr>
          </a:p>
        </p:txBody>
      </p:sp>
      <p:cxnSp>
        <p:nvCxnSpPr>
          <p:cNvPr id="118" name="Google Shape;118;p16"/>
          <p:cNvCxnSpPr>
            <a:stCxn id="117" idx="2"/>
          </p:cNvCxnSpPr>
          <p:nvPr/>
        </p:nvCxnSpPr>
        <p:spPr>
          <a:xfrm>
            <a:off x="8184750" y="2258025"/>
            <a:ext cx="808800" cy="76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9" name="Google Shape;119;p16"/>
          <p:cNvSpPr txBox="1"/>
          <p:nvPr/>
        </p:nvSpPr>
        <p:spPr>
          <a:xfrm>
            <a:off x="3137575" y="5819725"/>
            <a:ext cx="3115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B6D7A8"/>
                </a:highlight>
              </a:rPr>
              <a:t>交易区间中，出现很强的第二段上涨</a:t>
            </a:r>
            <a:endParaRPr>
              <a:solidFill>
                <a:schemeClr val="dk1"/>
              </a:solidFill>
              <a:highlight>
                <a:srgbClr val="B6D7A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B6D7A8"/>
                </a:highlight>
              </a:rPr>
              <a:t>很可能是2</a:t>
            </a:r>
            <a:r>
              <a:rPr baseline="30000" lang="en-US">
                <a:solidFill>
                  <a:schemeClr val="dk1"/>
                </a:solidFill>
                <a:highlight>
                  <a:srgbClr val="B6D7A8"/>
                </a:highlight>
              </a:rPr>
              <a:t>nd</a:t>
            </a:r>
            <a:r>
              <a:rPr lang="en-US">
                <a:solidFill>
                  <a:schemeClr val="dk1"/>
                </a:solidFill>
                <a:highlight>
                  <a:srgbClr val="B6D7A8"/>
                </a:highlight>
              </a:rPr>
              <a:t> Leg陷阱</a:t>
            </a:r>
            <a:endParaRPr>
              <a:solidFill>
                <a:schemeClr val="dk1"/>
              </a:solidFill>
              <a:highlight>
                <a:srgbClr val="B6D7A8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6 Where Is the Profit Target  09m10s.jpg" id="126" name="Google Shape;12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7"/>
          <p:cNvSpPr txBox="1"/>
          <p:nvPr/>
        </p:nvSpPr>
        <p:spPr>
          <a:xfrm>
            <a:off x="7076400" y="339475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9FC5E8"/>
                </a:highlight>
              </a:rPr>
              <a:t>止盈目标位在哪里？</a:t>
            </a:r>
            <a:endParaRPr>
              <a:solidFill>
                <a:schemeClr val="dk1"/>
              </a:solidFill>
              <a:highlight>
                <a:srgbClr val="9FC5E8"/>
              </a:highlight>
            </a:endParaRPr>
          </a:p>
        </p:txBody>
      </p:sp>
      <p:sp>
        <p:nvSpPr>
          <p:cNvPr id="128" name="Google Shape;128;p17"/>
          <p:cNvSpPr txBox="1"/>
          <p:nvPr/>
        </p:nvSpPr>
        <p:spPr>
          <a:xfrm>
            <a:off x="9757175" y="3013350"/>
            <a:ext cx="4313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F2CC"/>
                </a:highlight>
              </a:rPr>
              <a:t>多头的风险是空头的利润</a:t>
            </a:r>
            <a:endParaRPr>
              <a:solidFill>
                <a:schemeClr val="dk1"/>
              </a:solidFill>
              <a:highlight>
                <a:srgbClr val="FFF2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F2CC"/>
                </a:highlight>
              </a:rPr>
              <a:t>多空双方的利润和风险相同。</a:t>
            </a:r>
            <a:endParaRPr>
              <a:solidFill>
                <a:schemeClr val="dk1"/>
              </a:solidFill>
              <a:highlight>
                <a:srgbClr val="FFF2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F2CC"/>
                </a:highlight>
              </a:rPr>
              <a:t>但是概率不同！！！</a:t>
            </a:r>
            <a:endParaRPr>
              <a:solidFill>
                <a:schemeClr val="dk1"/>
              </a:solidFill>
              <a:highlight>
                <a:srgbClr val="FFF2CC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7 Where Is the Stop  10m47s.jpg" id="135" name="Google Shape;13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8"/>
          <p:cNvSpPr txBox="1"/>
          <p:nvPr/>
        </p:nvSpPr>
        <p:spPr>
          <a:xfrm>
            <a:off x="5018050" y="178450"/>
            <a:ext cx="642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FF00"/>
                </a:highlight>
              </a:rPr>
              <a:t>在哪里止损？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137" name="Google Shape;137;p18"/>
          <p:cNvSpPr txBox="1"/>
          <p:nvPr/>
        </p:nvSpPr>
        <p:spPr>
          <a:xfrm>
            <a:off x="646775" y="959000"/>
            <a:ext cx="642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CCCCCC"/>
                </a:highlight>
              </a:rPr>
              <a:t>因为更可能是TR而不是bull trend，对于空头来说等距移动的概率是60%</a:t>
            </a:r>
            <a:endParaRPr>
              <a:solidFill>
                <a:schemeClr val="dk1"/>
              </a:solidFill>
              <a:highlight>
                <a:srgbClr val="CCCCCC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8 Use Tight Stop When Strong Signal 11m42s.jpg" id="144" name="Google Shape;14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/>
        </p:nvSpPr>
        <p:spPr>
          <a:xfrm>
            <a:off x="8999025" y="334525"/>
            <a:ext cx="565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00FF00"/>
                </a:highlight>
              </a:rPr>
              <a:t>止损可以放小一点，当信号很强时</a:t>
            </a:r>
            <a:endParaRPr>
              <a:solidFill>
                <a:schemeClr val="dk1"/>
              </a:solidFill>
              <a:highlight>
                <a:srgbClr val="00FF00"/>
              </a:highlight>
            </a:endParaRPr>
          </a:p>
        </p:txBody>
      </p:sp>
      <p:sp>
        <p:nvSpPr>
          <p:cNvPr id="146" name="Google Shape;146;p19"/>
          <p:cNvSpPr txBox="1"/>
          <p:nvPr/>
        </p:nvSpPr>
        <p:spPr>
          <a:xfrm>
            <a:off x="579875" y="2252550"/>
            <a:ext cx="662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6D9EEB"/>
                </a:solidFill>
              </a:rPr>
              <a:t>当背景很好并且信号也很好的时候，可以把止损就放在信号K反转向下的位置上面</a:t>
            </a:r>
            <a:endParaRPr>
              <a:solidFill>
                <a:srgbClr val="6D9EEB"/>
              </a:solidFill>
            </a:endParaRPr>
          </a:p>
        </p:txBody>
      </p:sp>
      <p:cxnSp>
        <p:nvCxnSpPr>
          <p:cNvPr id="147" name="Google Shape;147;p19"/>
          <p:cNvCxnSpPr/>
          <p:nvPr/>
        </p:nvCxnSpPr>
        <p:spPr>
          <a:xfrm>
            <a:off x="8420750" y="2975350"/>
            <a:ext cx="951000" cy="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" name="Google Shape;148;p19"/>
          <p:cNvCxnSpPr/>
          <p:nvPr/>
        </p:nvCxnSpPr>
        <p:spPr>
          <a:xfrm>
            <a:off x="7203575" y="2452650"/>
            <a:ext cx="1168200" cy="52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1 Failed BO  Scalp Part or All of Position 14m44s.jpg" id="155" name="Google Shape;15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0"/>
          <p:cNvSpPr txBox="1"/>
          <p:nvPr/>
        </p:nvSpPr>
        <p:spPr>
          <a:xfrm>
            <a:off x="8965600" y="223025"/>
            <a:ext cx="307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D0E0E3"/>
                </a:highlight>
              </a:rPr>
              <a:t>失败的突破，部分仓位进行scalp</a:t>
            </a:r>
            <a:endParaRPr>
              <a:solidFill>
                <a:schemeClr val="dk1"/>
              </a:solidFill>
              <a:highlight>
                <a:srgbClr val="D0E0E3"/>
              </a:highlight>
            </a:endParaRPr>
          </a:p>
        </p:txBody>
      </p:sp>
      <p:sp>
        <p:nvSpPr>
          <p:cNvPr id="157" name="Google Shape;157;p20"/>
          <p:cNvSpPr txBox="1"/>
          <p:nvPr/>
        </p:nvSpPr>
        <p:spPr>
          <a:xfrm>
            <a:off x="6713025" y="1014750"/>
            <a:ext cx="6423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FF"/>
                </a:solidFill>
              </a:rPr>
              <a:t>空头应该在目标位scalp止盈部分利润</a:t>
            </a:r>
            <a:endParaRPr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FF"/>
                </a:solidFill>
              </a:rPr>
              <a:t>因为大多数高潮反转变为交易区间，而不是下降趋势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158" name="Google Shape;158;p20"/>
          <p:cNvSpPr txBox="1"/>
          <p:nvPr/>
        </p:nvSpPr>
        <p:spPr>
          <a:xfrm>
            <a:off x="2957875" y="6554725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C9DAF8"/>
                </a:highlight>
              </a:rPr>
              <a:t>如果达到了主要低点，那么下一个目标位就是MM</a:t>
            </a:r>
            <a:endParaRPr>
              <a:solidFill>
                <a:schemeClr val="dk1"/>
              </a:solidFill>
              <a:highlight>
                <a:srgbClr val="C9DAF8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2 V Tops and Bottoms  Are Almost Always Something Else 16m12s.jpg" id="165" name="Google Shape;16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1"/>
          <p:cNvSpPr txBox="1"/>
          <p:nvPr/>
        </p:nvSpPr>
        <p:spPr>
          <a:xfrm>
            <a:off x="539125" y="901075"/>
            <a:ext cx="675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D0E0E3"/>
                </a:highlight>
              </a:rPr>
              <a:t>大多数V形反转其实都有迹可循，只有极少数是因为突发事件，然后毫无预兆的反转</a:t>
            </a:r>
            <a:endParaRPr>
              <a:solidFill>
                <a:schemeClr val="dk1"/>
              </a:solidFill>
              <a:highlight>
                <a:srgbClr val="D0E0E3"/>
              </a:highlight>
            </a:endParaRPr>
          </a:p>
        </p:txBody>
      </p:sp>
      <p:sp>
        <p:nvSpPr>
          <p:cNvPr id="167" name="Google Shape;167;p21"/>
          <p:cNvSpPr txBox="1"/>
          <p:nvPr/>
        </p:nvSpPr>
        <p:spPr>
          <a:xfrm>
            <a:off x="2546000" y="6494825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FF00"/>
                </a:highlight>
              </a:rPr>
              <a:t>记住，所有的反转都发生在某种支撑或者阻力位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3 Exhaustive Sell Climax  Big Bear Bar, Late in Bear Trend 21m27s.jpg" id="174" name="Google Shape;17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2"/>
          <p:cNvSpPr txBox="1"/>
          <p:nvPr/>
        </p:nvSpPr>
        <p:spPr>
          <a:xfrm>
            <a:off x="9045800" y="4817475"/>
            <a:ext cx="4313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highlight>
                  <a:srgbClr val="C9DAF8"/>
                </a:highlight>
              </a:rPr>
              <a:t>多头想要回到高潮起点</a:t>
            </a:r>
            <a:endParaRPr sz="1000">
              <a:solidFill>
                <a:schemeClr val="dk1"/>
              </a:solidFill>
              <a:highlight>
                <a:srgbClr val="C9DAF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highlight>
                  <a:srgbClr val="C9DAF8"/>
                </a:highlight>
              </a:rPr>
              <a:t>这也是空头的止损位</a:t>
            </a:r>
            <a:endParaRPr sz="1000">
              <a:solidFill>
                <a:schemeClr val="dk1"/>
              </a:solidFill>
              <a:highlight>
                <a:srgbClr val="C9DAF8"/>
              </a:highligh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4 After Extreme Selling  Probability Favors Bulls 23m27s.jpg" id="182" name="Google Shape;18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3"/>
          <p:cNvSpPr txBox="1"/>
          <p:nvPr/>
        </p:nvSpPr>
        <p:spPr>
          <a:xfrm>
            <a:off x="10775625" y="197175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00FF00"/>
                </a:highlight>
              </a:rPr>
              <a:t>在极端抛售之后，概率倾向于多头</a:t>
            </a:r>
            <a:endParaRPr>
              <a:solidFill>
                <a:schemeClr val="dk1"/>
              </a:solidFill>
              <a:highlight>
                <a:srgbClr val="00FF00"/>
              </a:highligh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5 Main Points  Micro Channel Can Be Climax 23m34s.jpg" id="190" name="Google Shape;19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6 Micro Channel Late in Trend  Is Climax 26m56s.jpg" id="197" name="Google Shape;19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5"/>
          <p:cNvSpPr txBox="1"/>
          <p:nvPr/>
        </p:nvSpPr>
        <p:spPr>
          <a:xfrm>
            <a:off x="7465800" y="878625"/>
            <a:ext cx="4313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E599"/>
                </a:highlight>
              </a:rPr>
              <a:t>高潮不稳定</a:t>
            </a:r>
            <a:endParaRPr>
              <a:solidFill>
                <a:schemeClr val="dk1"/>
              </a:solidFill>
              <a:highlight>
                <a:srgbClr val="FFE59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E599"/>
                </a:highlight>
              </a:rPr>
              <a:t>70%概率TBTL的反转</a:t>
            </a:r>
            <a:endParaRPr>
              <a:solidFill>
                <a:schemeClr val="dk1"/>
              </a:solidFill>
              <a:highlight>
                <a:srgbClr val="FFE59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E599"/>
                </a:highlight>
              </a:rPr>
              <a:t>30%概率继续突破，形成新的波段行情</a:t>
            </a:r>
            <a:endParaRPr>
              <a:solidFill>
                <a:schemeClr val="dk1"/>
              </a:solidFill>
              <a:highlight>
                <a:srgbClr val="FFE599"/>
              </a:highlight>
            </a:endParaRPr>
          </a:p>
        </p:txBody>
      </p:sp>
      <p:sp>
        <p:nvSpPr>
          <p:cNvPr id="199" name="Google Shape;199;p25"/>
          <p:cNvSpPr txBox="1"/>
          <p:nvPr/>
        </p:nvSpPr>
        <p:spPr>
          <a:xfrm>
            <a:off x="4021225" y="1926975"/>
            <a:ext cx="4313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F2CC"/>
                </a:highlight>
              </a:rPr>
              <a:t>1.更高级别上是BO</a:t>
            </a:r>
            <a:endParaRPr>
              <a:solidFill>
                <a:schemeClr val="dk1"/>
              </a:solidFill>
              <a:highlight>
                <a:srgbClr val="FFF2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F2CC"/>
                </a:highlight>
              </a:rPr>
              <a:t>2.需要回调找到愿意卖（买）的人</a:t>
            </a:r>
            <a:endParaRPr>
              <a:solidFill>
                <a:schemeClr val="dk1"/>
              </a:solidFill>
              <a:highlight>
                <a:srgbClr val="FFF2CC"/>
              </a:highlight>
            </a:endParaRPr>
          </a:p>
        </p:txBody>
      </p:sp>
      <p:sp>
        <p:nvSpPr>
          <p:cNvPr id="200" name="Google Shape;200;p25"/>
          <p:cNvSpPr txBox="1"/>
          <p:nvPr/>
        </p:nvSpPr>
        <p:spPr>
          <a:xfrm>
            <a:off x="6462375" y="3619325"/>
            <a:ext cx="4635300" cy="6156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也就是说高潮不仅可以是价格上的极端运动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也可以是在时间上的不同寻常（比如连续几十根阳线）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7 1St BO above Micro Channel  Usually Fails 28m39s.jpg" id="207" name="Google Shape;20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6"/>
          <p:cNvSpPr txBox="1"/>
          <p:nvPr/>
        </p:nvSpPr>
        <p:spPr>
          <a:xfrm>
            <a:off x="374400" y="901075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D9EAD3"/>
                </a:highlight>
              </a:rPr>
              <a:t>第一次尝试突破通道线通常失败</a:t>
            </a:r>
            <a:endParaRPr>
              <a:solidFill>
                <a:schemeClr val="dk1"/>
              </a:solidFill>
              <a:highlight>
                <a:srgbClr val="D9EAD3"/>
              </a:highlight>
            </a:endParaRPr>
          </a:p>
        </p:txBody>
      </p:sp>
      <p:sp>
        <p:nvSpPr>
          <p:cNvPr id="209" name="Google Shape;209;p26"/>
          <p:cNvSpPr txBox="1"/>
          <p:nvPr/>
        </p:nvSpPr>
        <p:spPr>
          <a:xfrm>
            <a:off x="6394975" y="1020900"/>
            <a:ext cx="4545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A4C2F4"/>
                </a:highlight>
              </a:rPr>
              <a:t>空头在第一次小反转失败的时候做空，不过此时也意识到了，经过这么长时间的抛售高潮，此时只能scalp</a:t>
            </a:r>
            <a:endParaRPr>
              <a:solidFill>
                <a:schemeClr val="dk1"/>
              </a:solidFill>
              <a:highlight>
                <a:srgbClr val="A4C2F4"/>
              </a:highlight>
            </a:endParaRPr>
          </a:p>
        </p:txBody>
      </p:sp>
      <p:sp>
        <p:nvSpPr>
          <p:cNvPr id="210" name="Google Shape;210;p26"/>
          <p:cNvSpPr txBox="1"/>
          <p:nvPr/>
        </p:nvSpPr>
        <p:spPr>
          <a:xfrm>
            <a:off x="6469875" y="1949425"/>
            <a:ext cx="4627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C27BA0"/>
                </a:highlight>
              </a:rPr>
              <a:t>抛售高潮结束，一般不会立马反转向上，但是一但形成交易区间，并且有较强的小反转，那么多头会期望某种波段向上的行情</a:t>
            </a:r>
            <a:endParaRPr>
              <a:solidFill>
                <a:schemeClr val="dk1"/>
              </a:solidFill>
              <a:highlight>
                <a:srgbClr val="C27BA0"/>
              </a:highlight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8 Sell Climax  Look to Buy 31m53s.jpg" id="217" name="Google Shape;21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7"/>
          <p:cNvSpPr txBox="1"/>
          <p:nvPr/>
        </p:nvSpPr>
        <p:spPr>
          <a:xfrm>
            <a:off x="6949100" y="6734450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76A5AF"/>
                </a:highlight>
              </a:rPr>
              <a:t>3 legs下跌，然后反转，必须想到是不是楔形</a:t>
            </a:r>
            <a:endParaRPr>
              <a:solidFill>
                <a:schemeClr val="dk1"/>
              </a:solidFill>
              <a:highlight>
                <a:srgbClr val="76A5AF"/>
              </a:highlight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9 If Climax Is Not Extreme  Reversal Usually Small 33m41s.jpg" id="225" name="Google Shape;22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8"/>
          <p:cNvSpPr txBox="1"/>
          <p:nvPr/>
        </p:nvSpPr>
        <p:spPr>
          <a:xfrm>
            <a:off x="322000" y="938525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9FC5E8"/>
                </a:highlight>
              </a:rPr>
              <a:t>如果高潮不是很极端，那么反转通常很小</a:t>
            </a:r>
            <a:endParaRPr>
              <a:solidFill>
                <a:schemeClr val="dk1"/>
              </a:solidFill>
              <a:highlight>
                <a:srgbClr val="9FC5E8"/>
              </a:highlight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0 Unusual Behavior  Is Unsustainable and Climactic  Emini Weekly .   .. 35m44s.jpg" id="233" name="Google Shape;23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9"/>
          <p:cNvSpPr txBox="1"/>
          <p:nvPr/>
        </p:nvSpPr>
        <p:spPr>
          <a:xfrm>
            <a:off x="2433675" y="1028400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highlight>
                  <a:srgbClr val="E06666"/>
                </a:highlight>
              </a:rPr>
              <a:t>不同寻常的行为，是不稳定的，是高潮行为</a:t>
            </a:r>
            <a:endParaRPr>
              <a:highlight>
                <a:srgbClr val="E06666"/>
              </a:highlight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3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4 Buy Climax  80 Do Not Buy     Emini Mommy 37m50s.jpg" id="241" name="Google Shape;24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3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5 Review 38m16s.jpg" id="248" name="Google Shape;24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