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8229600" cx="14630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i="0" u="none" cap="none" strike="noStrike">
                <a:solidFill>
                  <a:schemeClr val="dk1"/>
                </a:solidFill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1 Video 43A (#1 of 4) 00m06s.jpg"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2 Main Points 00m43s.jp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3579400" y="1357875"/>
            <a:ext cx="4313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3579400" y="1080800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什么是窄上涨通道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3579400" y="2263950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更高时间级别是突破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3654275" y="3267375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窄下降通道是牛旗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3 Channels  Can Be Tight or Broad 03m28s.jpg"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2149125" y="5438975"/>
            <a:ext cx="4313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1C232"/>
                </a:highlight>
              </a:rPr>
              <a:t>当无法分辨是窄还是宽的时候，当作是窄来交易</a:t>
            </a:r>
            <a:endParaRPr>
              <a:solidFill>
                <a:schemeClr val="dk1"/>
              </a:solidFill>
              <a:highlight>
                <a:srgbClr val="F1C23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1C232"/>
                </a:highlight>
              </a:rPr>
              <a:t>并且只按照趋势方向来交易</a:t>
            </a:r>
            <a:endParaRPr>
              <a:solidFill>
                <a:schemeClr val="dk1"/>
              </a:solidFill>
              <a:highlight>
                <a:srgbClr val="F1C232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4 Tight Channels  Definition 04m38s.jpg" id="112" name="Google Shape;1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 txBox="1"/>
          <p:nvPr/>
        </p:nvSpPr>
        <p:spPr>
          <a:xfrm>
            <a:off x="426825" y="878625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B6D7A8"/>
                </a:highlight>
              </a:rPr>
              <a:t>为什么要区分窄通道和宽通道？因为交易方式不同！</a:t>
            </a:r>
            <a:endParaRPr>
              <a:solidFill>
                <a:schemeClr val="dk1"/>
              </a:solidFill>
              <a:highlight>
                <a:srgbClr val="B6D7A8"/>
              </a:highlight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464275" y="2922925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9CB9C"/>
                </a:highlight>
              </a:rPr>
              <a:t>窄通道只能顺着趋势做，宽通道买或者卖都能赚钱</a:t>
            </a:r>
            <a:endParaRPr>
              <a:solidFill>
                <a:schemeClr val="dk1"/>
              </a:solidFill>
              <a:highlight>
                <a:srgbClr val="F9CB9C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5 Tight Channels  How Do You Know If Tight  07m48s.jpg" id="121" name="Google Shape;12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7"/>
          <p:cNvSpPr txBox="1"/>
          <p:nvPr/>
        </p:nvSpPr>
        <p:spPr>
          <a:xfrm>
            <a:off x="10251425" y="234650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D966"/>
                </a:highlight>
              </a:rPr>
              <a:t>你又是怎么知道是窄通道呢？</a:t>
            </a:r>
            <a:endParaRPr>
              <a:solidFill>
                <a:schemeClr val="dk1"/>
              </a:solidFill>
              <a:highlight>
                <a:srgbClr val="FFD966"/>
              </a:highlight>
            </a:endParaRPr>
          </a:p>
        </p:txBody>
      </p:sp>
      <p:sp>
        <p:nvSpPr>
          <p:cNvPr id="123" name="Google Shape;123;p17"/>
          <p:cNvSpPr txBox="1"/>
          <p:nvPr/>
        </p:nvSpPr>
        <p:spPr>
          <a:xfrm>
            <a:off x="411825" y="901100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4A86E8"/>
                </a:highlight>
              </a:rPr>
              <a:t>很多特征能显示出，这是一个窄通道</a:t>
            </a:r>
            <a:endParaRPr>
              <a:solidFill>
                <a:schemeClr val="dk1"/>
              </a:solidFill>
              <a:highlight>
                <a:srgbClr val="4A86E8"/>
              </a:highlight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8124750" y="5191875"/>
            <a:ext cx="6290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B6D7A8"/>
                </a:highlight>
              </a:rPr>
              <a:t>回调1-3根K线</a:t>
            </a:r>
            <a:endParaRPr>
              <a:solidFill>
                <a:schemeClr val="dk1"/>
              </a:solidFill>
              <a:highlight>
                <a:srgbClr val="B6D7A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B6D7A8"/>
                </a:highlight>
              </a:rPr>
              <a:t>回调少于最小scalp的2-3倍</a:t>
            </a:r>
            <a:endParaRPr>
              <a:solidFill>
                <a:schemeClr val="dk1"/>
              </a:solidFill>
              <a:highlight>
                <a:srgbClr val="B6D7A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B6D7A8"/>
                </a:highlight>
              </a:rPr>
              <a:t>回调深度小于平均K线体积的2倍</a:t>
            </a:r>
            <a:endParaRPr>
              <a:solidFill>
                <a:schemeClr val="dk1"/>
              </a:solidFill>
              <a:highlight>
                <a:srgbClr val="B6D7A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B6D7A8"/>
                </a:highlight>
              </a:rPr>
              <a:t>回调深度只有之前上涨Leg的⅓至½ </a:t>
            </a:r>
            <a:endParaRPr>
              <a:solidFill>
                <a:schemeClr val="dk1"/>
              </a:solidFill>
              <a:highlight>
                <a:srgbClr val="B6D7A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rgbClr val="B6D7A8"/>
                </a:highlight>
              </a:rPr>
              <a:t>回调跟突破点之间有gap</a:t>
            </a:r>
            <a:endParaRPr>
              <a:solidFill>
                <a:schemeClr val="dk1"/>
              </a:solidFill>
              <a:highlight>
                <a:srgbClr val="B6D7A8"/>
              </a:highlight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8124750" y="6301575"/>
            <a:ext cx="4313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EA9999"/>
                </a:highlight>
              </a:rPr>
              <a:t>stop order入场做空，基本都是亏损的</a:t>
            </a:r>
            <a:endParaRPr>
              <a:solidFill>
                <a:schemeClr val="dk1"/>
              </a:solidFill>
              <a:highlight>
                <a:srgbClr val="EA999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EA9999"/>
                </a:highlight>
              </a:rPr>
              <a:t>如果空头高处卖，限价单逢高加仓，损失跟盈利抵消</a:t>
            </a:r>
            <a:endParaRPr>
              <a:solidFill>
                <a:schemeClr val="dk1"/>
              </a:solidFill>
              <a:highlight>
                <a:srgbClr val="EA9999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6 Lose Money If Sell Tight Bull Channel  Don’t Fight Trend! 09m26s.jpg" id="132" name="Google Shape;13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/>
          <p:cNvSpPr txBox="1"/>
          <p:nvPr/>
        </p:nvSpPr>
        <p:spPr>
          <a:xfrm>
            <a:off x="3714200" y="1229075"/>
            <a:ext cx="4313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E599"/>
                </a:highlight>
              </a:rPr>
              <a:t>跟宽通道不一样，窄通道的时候，绝对不要逆势交易</a:t>
            </a:r>
            <a:endParaRPr>
              <a:solidFill>
                <a:schemeClr val="dk1"/>
              </a:solidFill>
              <a:highlight>
                <a:srgbClr val="FFE59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E599"/>
                </a:highlight>
              </a:rPr>
              <a:t>回调太小了，空头很难赚钱，更容易亏钱</a:t>
            </a:r>
            <a:endParaRPr>
              <a:solidFill>
                <a:schemeClr val="dk1"/>
              </a:solidFill>
              <a:highlight>
                <a:srgbClr val="FFE599"/>
              </a:highlight>
            </a:endParaRPr>
          </a:p>
        </p:txBody>
      </p:sp>
      <p:sp>
        <p:nvSpPr>
          <p:cNvPr id="134" name="Google Shape;134;p18"/>
          <p:cNvSpPr txBox="1"/>
          <p:nvPr/>
        </p:nvSpPr>
        <p:spPr>
          <a:xfrm>
            <a:off x="441775" y="4165950"/>
            <a:ext cx="4313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9CB9C"/>
                </a:highlight>
              </a:rPr>
              <a:t>窄上涨通道，不停的形成楔形“顶”</a:t>
            </a:r>
            <a:endParaRPr>
              <a:solidFill>
                <a:schemeClr val="dk1"/>
              </a:solidFill>
              <a:highlight>
                <a:srgbClr val="F9CB9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9CB9C"/>
                </a:highlight>
              </a:rPr>
              <a:t>原因是多头部分止盈</a:t>
            </a:r>
            <a:endParaRPr>
              <a:solidFill>
                <a:schemeClr val="dk1"/>
              </a:solidFill>
              <a:highlight>
                <a:srgbClr val="F9CB9C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7 Sell Signal Bar in Tight Bull Channel  Buyers Below 12m18s.jpg" id="141" name="Google Shape;14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9"/>
          <p:cNvSpPr txBox="1"/>
          <p:nvPr/>
        </p:nvSpPr>
        <p:spPr>
          <a:xfrm>
            <a:off x="381900" y="796250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A2C4C9"/>
                </a:highlight>
              </a:rPr>
              <a:t>窄通道的卖出信号，大家更愿意在下面买</a:t>
            </a:r>
            <a:endParaRPr>
              <a:solidFill>
                <a:schemeClr val="dk1"/>
              </a:solidFill>
              <a:highlight>
                <a:srgbClr val="A2C4C9"/>
              </a:highlight>
            </a:endParaRPr>
          </a:p>
        </p:txBody>
      </p:sp>
      <p:sp>
        <p:nvSpPr>
          <p:cNvPr id="143" name="Google Shape;143;p19"/>
          <p:cNvSpPr txBox="1"/>
          <p:nvPr/>
        </p:nvSpPr>
        <p:spPr>
          <a:xfrm>
            <a:off x="4103550" y="736350"/>
            <a:ext cx="43131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4A86E8"/>
                </a:highlight>
              </a:rPr>
              <a:t>新手想要交易，但是希望小风险</a:t>
            </a:r>
            <a:endParaRPr>
              <a:solidFill>
                <a:schemeClr val="dk1"/>
              </a:solidFill>
              <a:highlight>
                <a:srgbClr val="4A86E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4A86E8"/>
                </a:highlight>
              </a:rPr>
              <a:t>他知道，如果买入止损太大，风险也就太大</a:t>
            </a:r>
            <a:endParaRPr>
              <a:solidFill>
                <a:schemeClr val="dk1"/>
              </a:solidFill>
              <a:highlight>
                <a:srgbClr val="4A86E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4A86E8"/>
                </a:highlight>
              </a:rPr>
              <a:t>如果卖出，止损很近，风险很小</a:t>
            </a:r>
            <a:endParaRPr>
              <a:solidFill>
                <a:schemeClr val="dk1"/>
              </a:solidFill>
              <a:highlight>
                <a:srgbClr val="4A86E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4A86E8"/>
                </a:highlight>
              </a:rPr>
              <a:t>然后找一切理由做空</a:t>
            </a:r>
            <a:endParaRPr>
              <a:solidFill>
                <a:schemeClr val="dk1"/>
              </a:solidFill>
              <a:highlight>
                <a:srgbClr val="4A86E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EA9999"/>
                </a:highlight>
              </a:rPr>
              <a:t>但是交易等式中，最为重要的其实是概率，逆势做空风险小，但是概率太低，最终会亏欠收场</a:t>
            </a:r>
            <a:endParaRPr>
              <a:solidFill>
                <a:schemeClr val="dk1"/>
              </a:solidFill>
              <a:highlight>
                <a:srgbClr val="EA9999"/>
              </a:highlight>
            </a:endParaRPr>
          </a:p>
        </p:txBody>
      </p:sp>
      <p:sp>
        <p:nvSpPr>
          <p:cNvPr id="144" name="Google Shape;144;p19"/>
          <p:cNvSpPr txBox="1"/>
          <p:nvPr/>
        </p:nvSpPr>
        <p:spPr>
          <a:xfrm>
            <a:off x="3968775" y="2975350"/>
            <a:ext cx="4867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B4A7D6"/>
                </a:highlight>
              </a:rPr>
              <a:t>如果止损在下面账户无法承担这个风险，那么不要入场做多</a:t>
            </a:r>
            <a:endParaRPr>
              <a:solidFill>
                <a:schemeClr val="dk1"/>
              </a:solidFill>
              <a:highlight>
                <a:srgbClr val="B4A7D6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B4A7D6"/>
                </a:highlight>
              </a:rPr>
              <a:t>如果上涨窄通道，那么也不能入场做空</a:t>
            </a:r>
            <a:endParaRPr>
              <a:solidFill>
                <a:schemeClr val="dk1"/>
              </a:solidFill>
              <a:highlight>
                <a:srgbClr val="B4A7D6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B4A7D6"/>
                </a:highlight>
              </a:rPr>
              <a:t>可以观察市场走势进行学习，不亏总比亏钱好！</a:t>
            </a:r>
            <a:endParaRPr>
              <a:solidFill>
                <a:schemeClr val="dk1"/>
              </a:solidFill>
              <a:highlight>
                <a:srgbClr val="B4A7D6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8 Main Points  BO on HigherTime Frame 12m34s.jpg" id="151" name="Google Shape;15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0"/>
          <p:cNvSpPr txBox="1"/>
          <p:nvPr/>
        </p:nvSpPr>
        <p:spPr>
          <a:xfrm>
            <a:off x="3691700" y="4454700"/>
            <a:ext cx="4313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6B26B"/>
                </a:highlight>
              </a:rPr>
              <a:t>上涨窄通道在更高时间级别看来，就是向上突破！</a:t>
            </a:r>
            <a:endParaRPr>
              <a:solidFill>
                <a:schemeClr val="dk1"/>
              </a:solidFill>
              <a:highlight>
                <a:srgbClr val="F6B26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6B26B"/>
                </a:highlight>
              </a:rPr>
              <a:t>向上突破，你肯定是只想做多，不能做空的！</a:t>
            </a:r>
            <a:endParaRPr>
              <a:solidFill>
                <a:schemeClr val="dk1"/>
              </a:solidFill>
              <a:highlight>
                <a:srgbClr val="F6B26B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9 Tight Channel  Is BO on Higher Time Frame 14m22s.jpg" id="159" name="Google Shape;15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0 If Difficult  Consider Trading Higher Time Frame 15m57s.jpg" id="166" name="Google Shape;16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2"/>
          <p:cNvSpPr txBox="1"/>
          <p:nvPr/>
        </p:nvSpPr>
        <p:spPr>
          <a:xfrm>
            <a:off x="314500" y="803725"/>
            <a:ext cx="580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A2C4C9"/>
                </a:highlight>
              </a:rPr>
              <a:t>如果当前时间级别看起来比较困惑，可以到更高时间级别，再次确认</a:t>
            </a:r>
            <a:endParaRPr>
              <a:solidFill>
                <a:schemeClr val="dk1"/>
              </a:solidFill>
              <a:highlight>
                <a:srgbClr val="A2C4C9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1 Main Points  Tight Bear Channel as Bull Flag 16m19s.jpg" id="174" name="Google Shape;17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2 Tight Bear Channel  Bull Flag or Endless PB and Reversal  20m38s.jpg" id="181" name="Google Shape;18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4"/>
          <p:cNvSpPr txBox="1"/>
          <p:nvPr/>
        </p:nvSpPr>
        <p:spPr>
          <a:xfrm>
            <a:off x="430975" y="2856575"/>
            <a:ext cx="43131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highlight>
                  <a:srgbClr val="F9CB9C"/>
                </a:highlight>
              </a:rPr>
              <a:t>上涨趋势中的回调一般是窄下降通道或者窄交易区间</a:t>
            </a:r>
            <a:endParaRPr sz="1300">
              <a:solidFill>
                <a:schemeClr val="dk1"/>
              </a:solidFill>
              <a:highlight>
                <a:srgbClr val="F9CB9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highlight>
                  <a:srgbClr val="F9CB9C"/>
                </a:highlight>
              </a:rPr>
              <a:t>找机会买入，更大概率趋势延续</a:t>
            </a:r>
            <a:endParaRPr sz="1300">
              <a:solidFill>
                <a:schemeClr val="dk1"/>
              </a:solidFill>
              <a:highlight>
                <a:srgbClr val="F9CB9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highlight>
                  <a:srgbClr val="F9CB9C"/>
                </a:highlight>
              </a:rPr>
              <a:t>但是一但持续有10根K线，交易者们会想这是不是无尽的回调，然后开始下跌</a:t>
            </a:r>
            <a:endParaRPr sz="1300">
              <a:solidFill>
                <a:schemeClr val="dk1"/>
              </a:solidFill>
              <a:highlight>
                <a:srgbClr val="F9CB9C"/>
              </a:highlight>
            </a:endParaRPr>
          </a:p>
        </p:txBody>
      </p:sp>
      <p:sp>
        <p:nvSpPr>
          <p:cNvPr id="183" name="Google Shape;183;p24"/>
          <p:cNvSpPr txBox="1"/>
          <p:nvPr/>
        </p:nvSpPr>
        <p:spPr>
          <a:xfrm>
            <a:off x="5316675" y="4510425"/>
            <a:ext cx="4313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A4C2F4"/>
                </a:highlight>
              </a:rPr>
              <a:t>尤其是买入高潮后，形成bear trend，比如3-5根连续阴线，那么反转成下降趋势的概率会更高</a:t>
            </a:r>
            <a:endParaRPr>
              <a:solidFill>
                <a:schemeClr val="dk1"/>
              </a:solidFill>
              <a:highlight>
                <a:srgbClr val="A4C2F4"/>
              </a:highligh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3 Tight Bull Channel in Bear Trend  Bear Flag 23m16s.jpg" id="190" name="Google Shape;19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5"/>
          <p:cNvSpPr txBox="1"/>
          <p:nvPr/>
        </p:nvSpPr>
        <p:spPr>
          <a:xfrm>
            <a:off x="10431125" y="227150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93C47D"/>
                </a:highlight>
              </a:rPr>
              <a:t>下降趋势中的窄上涨通道，熊旗</a:t>
            </a:r>
            <a:endParaRPr>
              <a:solidFill>
                <a:schemeClr val="dk1"/>
              </a:solidFill>
              <a:highlight>
                <a:srgbClr val="93C47D"/>
              </a:highlight>
            </a:endParaRPr>
          </a:p>
        </p:txBody>
      </p:sp>
      <p:sp>
        <p:nvSpPr>
          <p:cNvPr id="192" name="Google Shape;192;p25"/>
          <p:cNvSpPr txBox="1"/>
          <p:nvPr/>
        </p:nvSpPr>
        <p:spPr>
          <a:xfrm>
            <a:off x="4403100" y="6442400"/>
            <a:ext cx="4313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D966"/>
                </a:highlight>
              </a:rPr>
              <a:t>多头顶多造出一个TR</a:t>
            </a:r>
            <a:endParaRPr>
              <a:solidFill>
                <a:schemeClr val="dk1"/>
              </a:solidFill>
              <a:highlight>
                <a:srgbClr val="FFD966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D966"/>
                </a:highlight>
              </a:rPr>
              <a:t>直到形成突破或者MTR</a:t>
            </a:r>
            <a:endParaRPr>
              <a:solidFill>
                <a:schemeClr val="dk1"/>
              </a:solidFill>
              <a:highlight>
                <a:srgbClr val="FFD966"/>
              </a:highlight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4 Tight Bull Channel in Bull Trend (After Bull BO)  Buy 24m20s.jpg" id="199" name="Google Shape;19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6"/>
          <p:cNvSpPr txBox="1"/>
          <p:nvPr/>
        </p:nvSpPr>
        <p:spPr>
          <a:xfrm>
            <a:off x="434325" y="758825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B6D7A8"/>
                </a:highlight>
              </a:rPr>
              <a:t>上涨趋势中的窄上涨通道（多头突破后）：买</a:t>
            </a:r>
            <a:endParaRPr>
              <a:solidFill>
                <a:schemeClr val="dk1"/>
              </a:solidFill>
              <a:highlight>
                <a:srgbClr val="B6D7A8"/>
              </a:highlight>
            </a:endParaRPr>
          </a:p>
        </p:txBody>
      </p:sp>
      <p:sp>
        <p:nvSpPr>
          <p:cNvPr id="201" name="Google Shape;201;p26"/>
          <p:cNvSpPr txBox="1"/>
          <p:nvPr/>
        </p:nvSpPr>
        <p:spPr>
          <a:xfrm>
            <a:off x="5646150" y="4607775"/>
            <a:ext cx="4313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6D9EEB"/>
                </a:highlight>
              </a:rPr>
              <a:t>多头突破，然后回调，此时市场其实是AIL，任何理由任何时候直接买入</a:t>
            </a:r>
            <a:endParaRPr>
              <a:solidFill>
                <a:schemeClr val="dk1"/>
              </a:solidFill>
              <a:highlight>
                <a:srgbClr val="6D9EE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6D9EEB"/>
                </a:highlight>
              </a:rPr>
              <a:t>通道开始形成，早点买入</a:t>
            </a:r>
            <a:endParaRPr>
              <a:solidFill>
                <a:schemeClr val="dk1"/>
              </a:solidFill>
              <a:highlight>
                <a:srgbClr val="6D9EEB"/>
              </a:highligh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9 If Not Clearly Broad  Then Is Tight 27m22s.jpg" id="208" name="Google Shape;20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7"/>
          <p:cNvSpPr txBox="1"/>
          <p:nvPr/>
        </p:nvSpPr>
        <p:spPr>
          <a:xfrm>
            <a:off x="8559100" y="204700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D966"/>
                </a:highlight>
              </a:rPr>
              <a:t>如果不清楚是宽还是窄，那就当成窄通道，只做多</a:t>
            </a:r>
            <a:endParaRPr>
              <a:solidFill>
                <a:schemeClr val="dk1"/>
              </a:solidFill>
              <a:highlight>
                <a:srgbClr val="FFD966"/>
              </a:highlight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0 When Feel Anxious to Buy  Then It Is Time to Buy 30m36s.jpg" id="216" name="Google Shape;21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8"/>
          <p:cNvSpPr txBox="1"/>
          <p:nvPr/>
        </p:nvSpPr>
        <p:spPr>
          <a:xfrm>
            <a:off x="374425" y="676450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00FF00"/>
                </a:highlight>
              </a:rPr>
              <a:t>当渴望买入的时候，就是买入的时机</a:t>
            </a:r>
            <a:endParaRPr>
              <a:solidFill>
                <a:schemeClr val="dk1"/>
              </a:solidFill>
              <a:highlight>
                <a:srgbClr val="00FF00"/>
              </a:highlight>
            </a:endParaRPr>
          </a:p>
        </p:txBody>
      </p:sp>
      <p:sp>
        <p:nvSpPr>
          <p:cNvPr id="218" name="Google Shape;218;p28"/>
          <p:cNvSpPr txBox="1"/>
          <p:nvPr/>
        </p:nvSpPr>
        <p:spPr>
          <a:xfrm>
            <a:off x="8072350" y="3514500"/>
            <a:ext cx="4313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6FA8DC"/>
                </a:highlight>
              </a:rPr>
              <a:t>可能的止损很明显</a:t>
            </a:r>
            <a:endParaRPr>
              <a:solidFill>
                <a:schemeClr val="dk1"/>
              </a:solidFill>
              <a:highlight>
                <a:srgbClr val="6FA8D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6FA8DC"/>
                </a:highlight>
              </a:rPr>
              <a:t>如果不确定使用哪个止损，用最低的那个</a:t>
            </a:r>
            <a:endParaRPr>
              <a:solidFill>
                <a:schemeClr val="dk1"/>
              </a:solidFill>
              <a:highlight>
                <a:srgbClr val="6FA8D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6FA8DC"/>
                </a:highlight>
              </a:rPr>
              <a:t>增加了风险，但是也增加了胜率</a:t>
            </a:r>
            <a:endParaRPr>
              <a:solidFill>
                <a:schemeClr val="dk1"/>
              </a:solidFill>
              <a:highlight>
                <a:srgbClr val="6FA8D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6FA8DC"/>
                </a:highlight>
              </a:rPr>
              <a:t>如果反转向下，在止损被打到之前退出</a:t>
            </a:r>
            <a:endParaRPr>
              <a:solidFill>
                <a:schemeClr val="dk1"/>
              </a:solidFill>
              <a:highlight>
                <a:srgbClr val="6FA8DC"/>
              </a:highligh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1 If Feels Like You Are Waiting Too Long  Strong Trend 80 Enter 32m49s.jpg" id="223" name="Google Shape;22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9"/>
          <p:cNvSpPr txBox="1"/>
          <p:nvPr/>
        </p:nvSpPr>
        <p:spPr>
          <a:xfrm>
            <a:off x="374425" y="796275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E599"/>
                </a:highlight>
              </a:rPr>
              <a:t>如果感觉等太久了，那么是强趋势，入场交易</a:t>
            </a:r>
            <a:endParaRPr>
              <a:solidFill>
                <a:schemeClr val="dk1"/>
              </a:solidFill>
              <a:highlight>
                <a:srgbClr val="FFE599"/>
              </a:highlight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0"/>
          <p:cNvSpPr txBox="1"/>
          <p:nvPr/>
        </p:nvSpPr>
        <p:spPr>
          <a:xfrm>
            <a:off x="8184675" y="3858950"/>
            <a:ext cx="4313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B6D7A8"/>
                </a:highlight>
              </a:rPr>
              <a:t>不太可能从强上涨趋势直接变为反向趋势</a:t>
            </a:r>
            <a:endParaRPr>
              <a:solidFill>
                <a:schemeClr val="dk1"/>
              </a:solidFill>
              <a:highlight>
                <a:srgbClr val="B6D7A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B6D7A8"/>
                </a:highlight>
              </a:rPr>
              <a:t>几乎所有的趋势在反转前，都会先变成交易区间</a:t>
            </a:r>
            <a:endParaRPr>
              <a:solidFill>
                <a:schemeClr val="dk1"/>
              </a:solidFill>
              <a:highlight>
                <a:srgbClr val="B6D7A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B6D7A8"/>
                </a:highlight>
              </a:rPr>
              <a:t>交易区间非常宽容，给了小亏或者打平出局的机会</a:t>
            </a:r>
            <a:endParaRPr>
              <a:solidFill>
                <a:schemeClr val="dk1"/>
              </a:solidFill>
              <a:highlight>
                <a:srgbClr val="B6D7A8"/>
              </a:highlight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3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3 First Reversal Down  Probably Will Be Bought 34m46s.jpg" id="237" name="Google Shape;23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1"/>
          <p:cNvSpPr txBox="1"/>
          <p:nvPr/>
        </p:nvSpPr>
        <p:spPr>
          <a:xfrm>
            <a:off x="10715700" y="204675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F2CC"/>
                </a:highlight>
              </a:rPr>
              <a:t>第一次反转向下，大概率可能会被买起来</a:t>
            </a:r>
            <a:endParaRPr>
              <a:solidFill>
                <a:schemeClr val="dk1"/>
              </a:solidFill>
              <a:highlight>
                <a:srgbClr val="FFF2CC"/>
              </a:highlight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4 Profit Taking  Sometimes at End of Session 36m39s.jpg" id="245" name="Google Shape;24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3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5 Probability Less Than BO  But So Is Risk 38m17s.jpg" id="252" name="Google Shape;25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3"/>
          <p:cNvSpPr txBox="1"/>
          <p:nvPr/>
        </p:nvSpPr>
        <p:spPr>
          <a:xfrm>
            <a:off x="464275" y="2039300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B6D7A8"/>
                </a:highlight>
              </a:rPr>
              <a:t>买在突破的顶部，胜率很高，但是风险也很大</a:t>
            </a:r>
            <a:endParaRPr>
              <a:solidFill>
                <a:schemeClr val="dk1"/>
              </a:solidFill>
              <a:highlight>
                <a:srgbClr val="B6D7A8"/>
              </a:highlight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3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6 Main Points 39m16s.jpg" id="260" name="Google Shape;26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