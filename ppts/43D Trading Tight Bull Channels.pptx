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8751525" y="5277125"/>
            <a:ext cx="43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8706125" y="3998825"/>
            <a:ext cx="435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文本占位符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–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–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»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  <a:defRPr i="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43D (#4 of 4) 00m06s.jpg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26s.jp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2096725" y="1260525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499175" y="2541025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960025" y="2870500"/>
            <a:ext cx="4313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458200" y="18071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  <a:latin typeface="Verdana"/>
                <a:ea typeface="Verdana"/>
                <a:cs typeface="Verdana"/>
                <a:sym typeface="Verdana"/>
              </a:rPr>
              <a:t>上涨窄通道中如何做多</a:t>
            </a:r>
            <a:endParaRPr>
              <a:solidFill>
                <a:schemeClr val="dk1"/>
              </a:solidFill>
              <a:highlight>
                <a:srgbClr val="A2C4C9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896675" y="281792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FC5E8"/>
                </a:highlight>
                <a:latin typeface="Verdana"/>
                <a:ea typeface="Verdana"/>
                <a:cs typeface="Verdana"/>
                <a:sym typeface="Verdana"/>
              </a:rPr>
              <a:t>如何止盈止损</a:t>
            </a:r>
            <a:endParaRPr>
              <a:solidFill>
                <a:schemeClr val="dk1"/>
              </a:solidFill>
              <a:highlight>
                <a:srgbClr val="9FC5E8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162200" y="37915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  <a:latin typeface="Verdana"/>
                <a:ea typeface="Verdana"/>
                <a:cs typeface="Verdana"/>
                <a:sym typeface="Verdana"/>
              </a:rPr>
              <a:t>窄通道变为交易区间</a:t>
            </a:r>
            <a:endParaRPr>
              <a:solidFill>
                <a:schemeClr val="dk1"/>
              </a:solidFill>
              <a:highlight>
                <a:srgbClr val="FFD966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Tight Channel  Trade Like a BO (Almost!) 03m33s.jp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009625" y="65397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2CC"/>
                </a:highlight>
                <a:latin typeface="Verdana"/>
                <a:ea typeface="Verdana"/>
                <a:cs typeface="Verdana"/>
                <a:sym typeface="Verdana"/>
              </a:rPr>
              <a:t>根据风险计算出仓位大小，然后马上买入，相信止损</a:t>
            </a:r>
            <a:endParaRPr>
              <a:solidFill>
                <a:schemeClr val="dk1"/>
              </a:solidFill>
              <a:highlight>
                <a:srgbClr val="FFF2CC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736675" y="44805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CE5CD"/>
                </a:highlight>
                <a:latin typeface="Verdana"/>
                <a:ea typeface="Verdana"/>
                <a:cs typeface="Verdana"/>
                <a:sym typeface="Verdana"/>
              </a:rPr>
              <a:t>连续8根K线低点抬高</a:t>
            </a:r>
            <a:endParaRPr>
              <a:solidFill>
                <a:schemeClr val="dk1"/>
              </a:solidFill>
              <a:highlight>
                <a:srgbClr val="FCE5CD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34325" y="37840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1C232"/>
                </a:highlight>
                <a:latin typeface="Verdana"/>
                <a:ea typeface="Verdana"/>
                <a:cs typeface="Verdana"/>
                <a:sym typeface="Verdana"/>
              </a:rPr>
              <a:t>最好不要在前高点买入</a:t>
            </a:r>
            <a:endParaRPr>
              <a:solidFill>
                <a:schemeClr val="dk1"/>
              </a:solidFill>
              <a:highlight>
                <a:srgbClr val="F1C232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346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002150" y="4547850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买大阳线或者跟随K线的收盘</a:t>
            </a:r>
            <a:endParaRPr>
              <a:solidFill>
                <a:schemeClr val="dk1"/>
              </a:solidFill>
              <a:highlight>
                <a:srgbClr val="B6D7A8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  <a:latin typeface="Verdana"/>
                <a:ea typeface="Verdana"/>
                <a:cs typeface="Verdana"/>
                <a:sym typeface="Verdana"/>
              </a:rPr>
              <a:t>买大阴线的收盘，赌反转失败</a:t>
            </a:r>
            <a:endParaRPr>
              <a:solidFill>
                <a:schemeClr val="dk1"/>
              </a:solidFill>
              <a:highlight>
                <a:srgbClr val="A2C4C9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9CB9C"/>
                </a:highlight>
                <a:latin typeface="Verdana"/>
                <a:ea typeface="Verdana"/>
                <a:cs typeface="Verdana"/>
                <a:sym typeface="Verdana"/>
              </a:rPr>
              <a:t>如果不能决定，直接市价买入</a:t>
            </a:r>
            <a:endParaRPr>
              <a:solidFill>
                <a:schemeClr val="dk1"/>
              </a:solidFill>
              <a:highlight>
                <a:srgbClr val="F9CB9C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Near Bottom of Channel  Always Try to Buy 07m04s.jp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Tight Channel  Many Ways to Buy 10m27s.jpg"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 txBox="1"/>
          <p:nvPr/>
        </p:nvSpPr>
        <p:spPr>
          <a:xfrm>
            <a:off x="5211825" y="42932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E6B8AF"/>
                </a:highlight>
                <a:latin typeface="Verdana"/>
                <a:ea typeface="Verdana"/>
                <a:cs typeface="Verdana"/>
                <a:sym typeface="Verdana"/>
              </a:rPr>
              <a:t>在不好的卖出信号下面买入（比如小阳线）</a:t>
            </a:r>
            <a:endParaRPr>
              <a:solidFill>
                <a:schemeClr val="dk1"/>
              </a:solidFill>
              <a:highlight>
                <a:srgbClr val="E6B8AF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7278600" y="5506350"/>
            <a:ext cx="45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7B7B7"/>
                </a:highlight>
                <a:latin typeface="Verdana"/>
                <a:ea typeface="Verdana"/>
                <a:cs typeface="Verdana"/>
                <a:sym typeface="Verdana"/>
              </a:rPr>
              <a:t>测试支撑的时候买入，比如回测突破点或者50%回调</a:t>
            </a:r>
            <a:endParaRPr>
              <a:solidFill>
                <a:schemeClr val="dk1"/>
              </a:solidFill>
              <a:highlight>
                <a:srgbClr val="B7B7B7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10303850" y="6300125"/>
            <a:ext cx="42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买突破牛旗，尤其是阳线信号K</a:t>
            </a:r>
            <a:endParaRPr>
              <a:solidFill>
                <a:schemeClr val="dk1"/>
              </a:solidFill>
              <a:highlight>
                <a:srgbClr val="B6D7A8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22000" y="3042750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3C47D"/>
                </a:highlight>
                <a:latin typeface="Verdana"/>
                <a:ea typeface="Verdana"/>
                <a:cs typeface="Verdana"/>
                <a:sym typeface="Verdana"/>
              </a:rPr>
              <a:t>可以前高买突破，但是最好不要做，这里是很多多头的止盈点！！</a:t>
            </a:r>
            <a:endParaRPr>
              <a:solidFill>
                <a:schemeClr val="dk1"/>
              </a:solidFill>
              <a:highlight>
                <a:srgbClr val="93C47D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9240525" y="69890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4A86E8"/>
                </a:highlight>
                <a:latin typeface="Verdana"/>
                <a:ea typeface="Verdana"/>
                <a:cs typeface="Verdana"/>
                <a:sym typeface="Verdana"/>
              </a:rPr>
              <a:t>回调到支撑的时候买入，比如20EMA或者前高</a:t>
            </a:r>
            <a:endParaRPr>
              <a:solidFill>
                <a:schemeClr val="dk1"/>
              </a:solidFill>
              <a:highlight>
                <a:srgbClr val="4A86E8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0K to Buy Any Time  But Better to Buy PB Than BO 14m37s.jpg" id="143" name="Google Shape;1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419375" y="758800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  <a:latin typeface="Verdana"/>
                <a:ea typeface="Verdana"/>
                <a:cs typeface="Verdana"/>
                <a:sym typeface="Verdana"/>
              </a:rPr>
              <a:t>可以随时买入，因为是bull trend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  <a:latin typeface="Verdana"/>
                <a:ea typeface="Verdana"/>
                <a:cs typeface="Verdana"/>
                <a:sym typeface="Verdana"/>
              </a:rPr>
              <a:t>但是最好买回调而不是突破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1467700" y="6412450"/>
            <a:ext cx="431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  <a:latin typeface="Verdana"/>
                <a:ea typeface="Verdana"/>
                <a:cs typeface="Verdana"/>
                <a:sym typeface="Verdana"/>
              </a:rPr>
              <a:t>bull trend后期不要买突破，尤为重要，此时deep PB的概率越来越高，要知道，所有bull channel最终变为TR</a:t>
            </a:r>
            <a:endParaRPr>
              <a:solidFill>
                <a:schemeClr val="dk1"/>
              </a:solidFill>
              <a:highlight>
                <a:srgbClr val="FFD966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0" y="3259900"/>
            <a:ext cx="411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7B7B7"/>
                </a:highlight>
                <a:latin typeface="Verdana"/>
                <a:ea typeface="Verdana"/>
                <a:cs typeface="Verdana"/>
                <a:sym typeface="Verdana"/>
              </a:rPr>
              <a:t>如果买在了最后一个Bull Bar</a:t>
            </a:r>
            <a:endParaRPr sz="1200">
              <a:solidFill>
                <a:schemeClr val="dk1"/>
              </a:solidFill>
              <a:highlight>
                <a:srgbClr val="B7B7B7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7B7B7"/>
                </a:highlight>
                <a:latin typeface="Verdana"/>
                <a:ea typeface="Verdana"/>
                <a:cs typeface="Verdana"/>
                <a:sym typeface="Verdana"/>
              </a:rPr>
              <a:t>那么需要靠仓位管理来打平出局</a:t>
            </a:r>
            <a:endParaRPr sz="1200">
              <a:solidFill>
                <a:schemeClr val="dk1"/>
              </a:solidFill>
              <a:highlight>
                <a:srgbClr val="B7B7B7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7B7B7"/>
                </a:highlight>
                <a:latin typeface="Verdana"/>
                <a:ea typeface="Verdana"/>
                <a:cs typeface="Verdana"/>
                <a:sym typeface="Verdana"/>
              </a:rPr>
              <a:t>逢低加仓，必须注意仓位大小，不然宁愿止损出局</a:t>
            </a:r>
            <a:endParaRPr sz="1200">
              <a:solidFill>
                <a:schemeClr val="dk1"/>
              </a:solidFill>
              <a:highlight>
                <a:srgbClr val="B7B7B7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B7B7B7"/>
                </a:highlight>
                <a:latin typeface="Verdana"/>
                <a:ea typeface="Verdana"/>
                <a:cs typeface="Verdana"/>
                <a:sym typeface="Verdana"/>
              </a:rPr>
              <a:t>一般变为TR会给机会不亏钱出局的</a:t>
            </a:r>
            <a:endParaRPr sz="1200">
              <a:solidFill>
                <a:schemeClr val="dk1"/>
              </a:solidFill>
              <a:highlight>
                <a:srgbClr val="B7B7B7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Tight Channel  Buy 33% — 50% PB 17m25s.jpg"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/>
        </p:nvSpPr>
        <p:spPr>
          <a:xfrm>
            <a:off x="8364375" y="2121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9EAD3"/>
                </a:highlight>
                <a:latin typeface="Verdana"/>
                <a:ea typeface="Verdana"/>
                <a:cs typeface="Verdana"/>
                <a:sym typeface="Verdana"/>
              </a:rPr>
              <a:t>窄通道，买33%-50%回调</a:t>
            </a:r>
            <a:endParaRPr>
              <a:solidFill>
                <a:schemeClr val="dk1"/>
              </a:solidFill>
              <a:highlight>
                <a:srgbClr val="D9EAD3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7383425" y="1844625"/>
            <a:ext cx="431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  <a:latin typeface="Verdana"/>
                <a:ea typeface="Verdana"/>
                <a:cs typeface="Verdana"/>
                <a:sym typeface="Verdana"/>
              </a:rPr>
              <a:t>通常需要回调10个左右K线，然后尝试向上失败</a:t>
            </a:r>
            <a:endParaRPr>
              <a:solidFill>
                <a:schemeClr val="dk1"/>
              </a:solidFill>
              <a:highlight>
                <a:srgbClr val="A2C4C9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A2C4C9"/>
                </a:highlight>
                <a:latin typeface="Verdana"/>
                <a:ea typeface="Verdana"/>
                <a:cs typeface="Verdana"/>
                <a:sym typeface="Verdana"/>
              </a:rPr>
              <a:t>这样之后，空头才更有机会开始做空赚钱</a:t>
            </a:r>
            <a:endParaRPr>
              <a:solidFill>
                <a:schemeClr val="dk1"/>
              </a:solidFill>
              <a:highlight>
                <a:srgbClr val="A2C4C9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Buy Below PB  And Below 2nd Bar in PB 20m55s.jpg" id="162" name="Google Shape;1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/>
        </p:nvSpPr>
        <p:spPr>
          <a:xfrm>
            <a:off x="9397775" y="23460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D0E0E3"/>
                </a:highlight>
                <a:latin typeface="Verdana"/>
                <a:ea typeface="Verdana"/>
                <a:cs typeface="Verdana"/>
                <a:sym typeface="Verdana"/>
              </a:rPr>
              <a:t>在回调下面买入，并且在第二根回调K线下面</a:t>
            </a:r>
            <a:endParaRPr>
              <a:solidFill>
                <a:schemeClr val="dk1"/>
              </a:solidFill>
              <a:highlight>
                <a:srgbClr val="D0E0E3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Bad Follow-Through  Disappointed Bulls Exit 21m49s.jpg" id="170" name="Google Shape;1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3 Main Points  Stops and Taking Profits 21m57s.jp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4 Stops  Trail Them 25m33s.jpg"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5 Any Stop  Good If Reasonable 27m14s.jpg" id="191" name="Google Shape;1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Taking Profits  Always Have Plan 29m32s.jpg" id="198" name="Google Shape;1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Minimum Profit  Rarely Is Best Choice 30m52s.jpg" id="205" name="Google Shape;2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Main Points  Tight Channel Evolves into TR 31m11s.jpg"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All Trends  Eventua ly End 33m20s.jpg" id="219" name="Google Shape;2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Late in Trend  Look for Signs That It Might Be Ending 34m38s.jpg" id="226" name="Google Shape;2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4 Swing  Until No Longer Bull Trend 35m34s.jpg" id="233" name="Google Shape;2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5 Bear BO  Remaining Bulls Give Up 38m20s.jpg" id="240" name="Google Shape;24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6 Breaking TL  Creates Flatter Channel, Then TR 40m09s.jpg" id="247" name="Google Shape;2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3"/>
          <p:cNvSpPr txBox="1"/>
          <p:nvPr/>
        </p:nvSpPr>
        <p:spPr>
          <a:xfrm>
            <a:off x="10184025" y="803750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突破趋势线，创造出更宽的通道，然后是交易区间</a:t>
            </a:r>
            <a:endParaRPr>
              <a:solidFill>
                <a:schemeClr val="dk1"/>
              </a:solidFill>
              <a:highlight>
                <a:srgbClr val="B6D7A8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9" name="Google Shape;249;p33"/>
          <p:cNvSpPr txBox="1"/>
          <p:nvPr/>
        </p:nvSpPr>
        <p:spPr>
          <a:xfrm>
            <a:off x="5646125" y="14027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9FC5E8"/>
                </a:highlight>
                <a:latin typeface="Verdana"/>
                <a:ea typeface="Verdana"/>
                <a:cs typeface="Verdana"/>
                <a:sym typeface="Verdana"/>
              </a:rPr>
              <a:t>通道变弱的迹象之一就是开始突破到趋势线下面</a:t>
            </a:r>
            <a:endParaRPr>
              <a:solidFill>
                <a:schemeClr val="dk1"/>
              </a:solidFill>
              <a:highlight>
                <a:srgbClr val="9FC5E8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5646125" y="1859575"/>
            <a:ext cx="43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D966"/>
                </a:highlight>
                <a:latin typeface="Verdana"/>
                <a:ea typeface="Verdana"/>
                <a:cs typeface="Verdana"/>
                <a:sym typeface="Verdana"/>
              </a:rPr>
              <a:t>形成更不陡峭的上涨趋势，最终变为交易区间</a:t>
            </a:r>
            <a:endParaRPr>
              <a:solidFill>
                <a:schemeClr val="dk1"/>
              </a:solidFill>
              <a:highlight>
                <a:srgbClr val="FFD966"/>
              </a:highlight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7 Once Becomes TR  Stop Trading Like Trend 41m42s.jpg" id="257" name="Google Shape;25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8 Tight Channel  Often Evolves into Broad Channel 42m35s.jpg" id="264" name="Google Shape;26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9 Review 43m29s.jpg" id="271" name="Google Shape;2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