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74" r:id="rId14"/>
    <p:sldId id="267" r:id="rId15"/>
    <p:sldId id="268" r:id="rId16"/>
    <p:sldId id="277" r:id="rId17"/>
    <p:sldId id="269" r:id="rId18"/>
    <p:sldId id="270" r:id="rId19"/>
    <p:sldId id="278" r:id="rId20"/>
    <p:sldId id="271" r:id="rId21"/>
    <p:sldId id="272" r:id="rId22"/>
    <p:sldId id="279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01 Video 48A (#1 of 6) 00m0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6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7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3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4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7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" descr="02 Main Points 00m5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68"/>
          <p:cNvSpPr txBox="1"/>
          <p:nvPr/>
        </p:nvSpPr>
        <p:spPr>
          <a:xfrm>
            <a:off x="3363402" y="3576366"/>
            <a:ext cx="34207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1.</a:t>
            </a:r>
            <a:r>
              <a:rPr lang="zh-CN" altLang="en-US" sz="1400" b="1" dirty="0">
                <a:solidFill>
                  <a:srgbClr val="FF0000"/>
                </a:solidFill>
              </a:rPr>
              <a:t>开盘</a:t>
            </a:r>
            <a:r>
              <a:rPr lang="en-US" altLang="zh-CN" sz="1400" b="1" dirty="0">
                <a:solidFill>
                  <a:srgbClr val="FF0000"/>
                </a:solidFill>
              </a:rPr>
              <a:t>1-2</a:t>
            </a:r>
            <a:r>
              <a:rPr lang="zh-CN" altLang="en-US" sz="1400" b="1" dirty="0">
                <a:solidFill>
                  <a:srgbClr val="FF0000"/>
                </a:solidFill>
              </a:rPr>
              <a:t>个小时最容易找到波段交易机会</a:t>
            </a:r>
            <a:endParaRPr lang="zh-CN" altLang="en-US" sz="1400" b="1" dirty="0">
              <a:solidFill>
                <a:srgbClr val="FF0000"/>
              </a:solidFill>
            </a:endParaRPr>
          </a:p>
          <a:p>
            <a:r>
              <a:rPr lang="en-US" altLang="zh-CN" sz="1400" b="1" dirty="0">
                <a:solidFill>
                  <a:srgbClr val="FF0000"/>
                </a:solidFill>
              </a:rPr>
              <a:t>2.</a:t>
            </a:r>
            <a:r>
              <a:rPr lang="zh-CN" altLang="en-US" sz="1400" b="1" dirty="0">
                <a:solidFill>
                  <a:srgbClr val="FF0000"/>
                </a:solidFill>
              </a:rPr>
              <a:t>开盘反转是很好的波段交易的设置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3" descr="03 3 Parts to the Day  Not Really 05m26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34010" y="3484245"/>
            <a:ext cx="44951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交易者认为每天都有开盘、盘中、尾盘</a:t>
            </a:r>
            <a:r>
              <a:rPr lang="zh-CN" altLang="en-US" sz="1400" dirty="0">
                <a:solidFill>
                  <a:srgbClr val="316B93"/>
                </a:solidFill>
              </a:rPr>
              <a:t>三个部分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34010" y="3768725"/>
            <a:ext cx="4327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大多天数，开盘或收盘的</a:t>
            </a:r>
            <a:r>
              <a:rPr lang="en-US" altLang="zh-CN" sz="1400" dirty="0">
                <a:solidFill>
                  <a:srgbClr val="AF8647"/>
                </a:solidFill>
              </a:rPr>
              <a:t>1-2</a:t>
            </a:r>
            <a:r>
              <a:rPr lang="zh-CN" altLang="en-US" sz="1400" dirty="0">
                <a:solidFill>
                  <a:srgbClr val="AF8647"/>
                </a:solidFill>
              </a:rPr>
              <a:t>个小时最容易快速</a:t>
            </a:r>
            <a:r>
              <a:rPr lang="zh-CN" altLang="en-US" sz="1400" dirty="0">
                <a:solidFill>
                  <a:srgbClr val="AF8647"/>
                </a:solidFill>
              </a:rPr>
              <a:t>赚钱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39" name="文本框 39"/>
          <p:cNvSpPr txBox="1"/>
          <p:nvPr/>
        </p:nvSpPr>
        <p:spPr>
          <a:xfrm>
            <a:off x="334010" y="4065905"/>
            <a:ext cx="4083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这是突破和波段交易最常发生的</a:t>
            </a:r>
            <a:r>
              <a:rPr lang="zh-CN" altLang="en-US" sz="1400" dirty="0">
                <a:solidFill>
                  <a:srgbClr val="CE1DD3"/>
                </a:solidFill>
              </a:rPr>
              <a:t>时间段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40" name="文本框 36"/>
          <p:cNvSpPr txBox="1"/>
          <p:nvPr/>
        </p:nvSpPr>
        <p:spPr>
          <a:xfrm>
            <a:off x="5068570" y="3688080"/>
            <a:ext cx="4220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很多交易者盘中更少交易，结果就是很多交易者认为一天有三个</a:t>
            </a:r>
            <a:r>
              <a:rPr lang="zh-CN" altLang="en-US" sz="1400" dirty="0">
                <a:solidFill>
                  <a:srgbClr val="316B93"/>
                </a:solidFill>
              </a:rPr>
              <a:t>部分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41" name="文本框 37"/>
          <p:cNvSpPr txBox="1"/>
          <p:nvPr/>
        </p:nvSpPr>
        <p:spPr>
          <a:xfrm>
            <a:off x="5068570" y="4404360"/>
            <a:ext cx="41109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他们意识到转变通常不是很</a:t>
            </a:r>
            <a:r>
              <a:rPr lang="zh-CN" altLang="en-US" sz="1400" dirty="0">
                <a:solidFill>
                  <a:srgbClr val="AF8647"/>
                </a:solidFill>
              </a:rPr>
              <a:t>明显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dirty="0">
                <a:solidFill>
                  <a:srgbClr val="AF8647"/>
                </a:solidFill>
              </a:rPr>
              <a:t>并且经常一天只有两个</a:t>
            </a:r>
            <a:r>
              <a:rPr lang="zh-CN" altLang="en-US" sz="1400" dirty="0">
                <a:solidFill>
                  <a:srgbClr val="AF8647"/>
                </a:solidFill>
              </a:rPr>
              <a:t>时间段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dirty="0">
                <a:solidFill>
                  <a:srgbClr val="AF8647"/>
                </a:solidFill>
              </a:rPr>
              <a:t>有时四个或</a:t>
            </a:r>
            <a:r>
              <a:rPr lang="zh-CN" altLang="en-US" sz="1400" dirty="0">
                <a:solidFill>
                  <a:srgbClr val="AF8647"/>
                </a:solidFill>
              </a:rPr>
              <a:t>更多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2" name="文本框 38"/>
          <p:cNvSpPr txBox="1"/>
          <p:nvPr/>
        </p:nvSpPr>
        <p:spPr>
          <a:xfrm>
            <a:off x="9815195" y="2682875"/>
            <a:ext cx="39262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然而，很多人就是这样看待每天的</a:t>
            </a:r>
            <a:r>
              <a:rPr lang="zh-CN" altLang="en-US" sz="1400" dirty="0">
                <a:solidFill>
                  <a:srgbClr val="256824"/>
                </a:solidFill>
              </a:rPr>
              <a:t>行情</a:t>
            </a:r>
            <a:endParaRPr lang="zh-CN" altLang="en-US" sz="1400" dirty="0">
              <a:solidFill>
                <a:srgbClr val="256824"/>
              </a:solidFill>
            </a:endParaRPr>
          </a:p>
          <a:p>
            <a:r>
              <a:rPr lang="zh-CN" altLang="en-US" sz="1400" dirty="0">
                <a:solidFill>
                  <a:srgbClr val="256824"/>
                </a:solidFill>
              </a:rPr>
              <a:t>并且寻找</a:t>
            </a:r>
            <a:r>
              <a:rPr lang="en-US" altLang="zh-CN" sz="1400" dirty="0">
                <a:solidFill>
                  <a:srgbClr val="256824"/>
                </a:solidFill>
              </a:rPr>
              <a:t>2</a:t>
            </a:r>
            <a:r>
              <a:rPr lang="zh-CN" altLang="en-US" sz="1400" dirty="0">
                <a:solidFill>
                  <a:srgbClr val="256824"/>
                </a:solidFill>
              </a:rPr>
              <a:t>次或更多转变</a:t>
            </a:r>
            <a:r>
              <a:rPr lang="zh-CN" altLang="en-US" sz="1400" dirty="0">
                <a:solidFill>
                  <a:srgbClr val="256824"/>
                </a:solidFill>
              </a:rPr>
              <a:t>每天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43" name="文本框 40"/>
          <p:cNvSpPr txBox="1"/>
          <p:nvPr/>
        </p:nvSpPr>
        <p:spPr>
          <a:xfrm>
            <a:off x="9815195" y="3235960"/>
            <a:ext cx="32969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即使行情没有</a:t>
            </a:r>
            <a:r>
              <a:rPr lang="zh-CN" altLang="en-US" sz="1400" dirty="0">
                <a:solidFill>
                  <a:srgbClr val="BA1C20"/>
                </a:solidFill>
              </a:rPr>
              <a:t>转变</a:t>
            </a:r>
            <a:endParaRPr lang="zh-CN" altLang="en-US" sz="1400" dirty="0">
              <a:solidFill>
                <a:srgbClr val="BA1C20"/>
              </a:solidFill>
            </a:endParaRPr>
          </a:p>
          <a:p>
            <a:r>
              <a:rPr lang="zh-CN" altLang="en-US" sz="1400" dirty="0">
                <a:solidFill>
                  <a:srgbClr val="BA1C20"/>
                </a:solidFill>
              </a:rPr>
              <a:t>他们准备好改变交易</a:t>
            </a:r>
            <a:r>
              <a:rPr lang="zh-CN" altLang="en-US" sz="1400" dirty="0">
                <a:solidFill>
                  <a:srgbClr val="BA1C20"/>
                </a:solidFill>
              </a:rPr>
              <a:t>方式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3" descr="04 Market Cycle  BO, Channel, and TR 08m1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048250" y="1813560"/>
            <a:ext cx="43326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dirty="0">
                <a:solidFill>
                  <a:srgbClr val="316B93"/>
                </a:solidFill>
              </a:rPr>
              <a:t>10%</a:t>
            </a:r>
            <a:r>
              <a:rPr lang="zh-CN" altLang="en-US" sz="1400" b="1" dirty="0">
                <a:solidFill>
                  <a:srgbClr val="316B93"/>
                </a:solidFill>
              </a:rPr>
              <a:t>的时候，一直是趋势，价格行为没有转变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en-US" altLang="zh-CN" sz="1400" b="1" dirty="0">
                <a:solidFill>
                  <a:srgbClr val="316B93"/>
                </a:solidFill>
              </a:rPr>
              <a:t>90%</a:t>
            </a:r>
            <a:r>
              <a:rPr lang="zh-CN" altLang="en-US" sz="1400" b="1" dirty="0">
                <a:solidFill>
                  <a:srgbClr val="316B93"/>
                </a:solidFill>
              </a:rPr>
              <a:t>的时候，价格行为会改变，至少会有突破、通道、区间中的两种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827260" y="2682240"/>
            <a:ext cx="3581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交易者不断的寻找价格行为转变的</a:t>
            </a:r>
            <a:r>
              <a:rPr lang="zh-CN" altLang="en-US" sz="1400" dirty="0">
                <a:solidFill>
                  <a:srgbClr val="AF8647"/>
                </a:solidFill>
              </a:rPr>
              <a:t>证据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因为价格行为不同，交易方式不一样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3" descr="05 3 Swings in a Day  Often More 11m2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93370" y="2626360"/>
            <a:ext cx="3672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尽管很多交易者认为一天有</a:t>
            </a:r>
            <a:r>
              <a:rPr lang="en-US" altLang="zh-CN" sz="1400" dirty="0">
                <a:solidFill>
                  <a:srgbClr val="316B93"/>
                </a:solidFill>
              </a:rPr>
              <a:t>3</a:t>
            </a:r>
            <a:r>
              <a:rPr lang="zh-CN" altLang="en-US" sz="1400" dirty="0">
                <a:solidFill>
                  <a:srgbClr val="316B93"/>
                </a:solidFill>
              </a:rPr>
              <a:t>个</a:t>
            </a:r>
            <a:r>
              <a:rPr lang="zh-CN" altLang="en-US" sz="1400" dirty="0">
                <a:solidFill>
                  <a:srgbClr val="316B93"/>
                </a:solidFill>
              </a:rPr>
              <a:t>部分</a:t>
            </a:r>
            <a:endParaRPr lang="zh-CN" altLang="en-US" sz="1400" dirty="0">
              <a:solidFill>
                <a:srgbClr val="316B93"/>
              </a:solidFill>
            </a:endParaRPr>
          </a:p>
          <a:p>
            <a:r>
              <a:rPr lang="zh-CN" altLang="en-US" sz="1400" dirty="0">
                <a:solidFill>
                  <a:srgbClr val="316B93"/>
                </a:solidFill>
              </a:rPr>
              <a:t>这部意味着</a:t>
            </a:r>
            <a:r>
              <a:rPr lang="zh-CN" altLang="en-US" sz="1400" dirty="0">
                <a:solidFill>
                  <a:srgbClr val="316B93"/>
                </a:solidFill>
              </a:rPr>
              <a:t>图表上会有清晰的</a:t>
            </a:r>
            <a:r>
              <a:rPr lang="en-US" altLang="zh-CN" sz="1400" dirty="0">
                <a:solidFill>
                  <a:srgbClr val="316B93"/>
                </a:solidFill>
              </a:rPr>
              <a:t>3</a:t>
            </a:r>
            <a:r>
              <a:rPr lang="zh-CN" altLang="en-US" sz="1400" dirty="0">
                <a:solidFill>
                  <a:srgbClr val="316B93"/>
                </a:solidFill>
              </a:rPr>
              <a:t>个</a:t>
            </a:r>
            <a:r>
              <a:rPr lang="zh-CN" altLang="en-US" sz="1400" dirty="0">
                <a:solidFill>
                  <a:srgbClr val="316B93"/>
                </a:solidFill>
              </a:rPr>
              <a:t>部分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93370" y="3200400"/>
            <a:ext cx="3291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这只是交易者这么</a:t>
            </a:r>
            <a:r>
              <a:rPr lang="zh-CN" altLang="en-US" sz="1400" dirty="0">
                <a:solidFill>
                  <a:srgbClr val="AF8647"/>
                </a:solidFill>
              </a:rPr>
              <a:t>认为而已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39" name="文本框 68"/>
          <p:cNvSpPr txBox="1"/>
          <p:nvPr/>
        </p:nvSpPr>
        <p:spPr>
          <a:xfrm>
            <a:off x="5095875" y="2626995"/>
            <a:ext cx="3286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重点是，大多天数不是强趋势</a:t>
            </a:r>
            <a:r>
              <a:rPr lang="zh-CN" altLang="en-US" sz="1400" dirty="0">
                <a:solidFill>
                  <a:srgbClr val="FF0000"/>
                </a:solidFill>
              </a:rPr>
              <a:t>日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0" name="文本框 67"/>
          <p:cNvSpPr txBox="1"/>
          <p:nvPr/>
        </p:nvSpPr>
        <p:spPr>
          <a:xfrm>
            <a:off x="5095875" y="3093085"/>
            <a:ext cx="411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大多数时候（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价格行为）都会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改变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所以寻找可能的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转变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37"/>
          <p:cNvSpPr txBox="1"/>
          <p:nvPr/>
        </p:nvSpPr>
        <p:spPr>
          <a:xfrm>
            <a:off x="9832340" y="2682240"/>
            <a:ext cx="42773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突破、通道、</a:t>
            </a:r>
            <a:r>
              <a:rPr lang="zh-CN" altLang="en-US" sz="1400" dirty="0">
                <a:solidFill>
                  <a:srgbClr val="AF8647"/>
                </a:solidFill>
              </a:rPr>
              <a:t>区间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dirty="0">
                <a:solidFill>
                  <a:srgbClr val="AF8647"/>
                </a:solidFill>
              </a:rPr>
              <a:t>需要不同的交易</a:t>
            </a:r>
            <a:r>
              <a:rPr lang="zh-CN" altLang="en-US" sz="1400" dirty="0">
                <a:solidFill>
                  <a:srgbClr val="AF8647"/>
                </a:solidFill>
              </a:rPr>
              <a:t>方式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dirty="0">
                <a:solidFill>
                  <a:srgbClr val="AF8647"/>
                </a:solidFill>
              </a:rPr>
              <a:t>一定要</a:t>
            </a:r>
            <a:r>
              <a:rPr lang="zh-CN" altLang="en-US" sz="1400" b="1" dirty="0">
                <a:solidFill>
                  <a:srgbClr val="AF8647"/>
                </a:solidFill>
              </a:rPr>
              <a:t>清楚</a:t>
            </a:r>
            <a:r>
              <a:rPr lang="zh-CN" altLang="en-US" sz="1400" dirty="0">
                <a:solidFill>
                  <a:srgbClr val="AF8647"/>
                </a:solidFill>
              </a:rPr>
              <a:t>，当一种价格行为转为另一种</a:t>
            </a:r>
            <a:r>
              <a:rPr lang="zh-CN" altLang="en-US" sz="1400" dirty="0">
                <a:solidFill>
                  <a:srgbClr val="AF8647"/>
                </a:solidFill>
              </a:rPr>
              <a:t>时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2" name="文本框 37"/>
          <p:cNvSpPr txBox="1"/>
          <p:nvPr/>
        </p:nvSpPr>
        <p:spPr>
          <a:xfrm>
            <a:off x="9832340" y="3465830"/>
            <a:ext cx="4124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有些日子只有一种价格行为，大部分时候就是</a:t>
            </a:r>
            <a:r>
              <a:rPr lang="zh-CN" altLang="en-US" sz="1400" dirty="0">
                <a:solidFill>
                  <a:srgbClr val="AF8647"/>
                </a:solidFill>
              </a:rPr>
              <a:t>区间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3" name="文本框 67"/>
          <p:cNvSpPr txBox="1"/>
          <p:nvPr/>
        </p:nvSpPr>
        <p:spPr>
          <a:xfrm>
            <a:off x="9878060" y="3860800"/>
            <a:ext cx="4065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最重要的，一定要清楚当前是什么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价格行为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3" descr="06   What Is It  14m2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15125" y="866051"/>
            <a:ext cx="39871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316B93"/>
                </a:solidFill>
              </a:rPr>
              <a:t>从开盘到第一个波段</a:t>
            </a:r>
            <a:r>
              <a:rPr lang="zh-CN" altLang="en-US" sz="1400" b="1" dirty="0">
                <a:solidFill>
                  <a:srgbClr val="316B93"/>
                </a:solidFill>
              </a:rPr>
              <a:t>开始，称之为</a:t>
            </a:r>
            <a:r>
              <a:rPr lang="en-US" altLang="zh-CN" sz="1400" b="1" dirty="0">
                <a:solidFill>
                  <a:srgbClr val="316B93"/>
                </a:solidFill>
              </a:rPr>
              <a:t>Opening Range</a:t>
            </a:r>
            <a:endParaRPr lang="en-US" altLang="zh-CN" sz="1400" b="1" dirty="0">
              <a:solidFill>
                <a:srgbClr val="316B93"/>
              </a:solidFill>
            </a:endParaRPr>
          </a:p>
        </p:txBody>
      </p:sp>
      <p:sp>
        <p:nvSpPr>
          <p:cNvPr id="38" name="文本框 38"/>
          <p:cNvSpPr txBox="1"/>
          <p:nvPr/>
        </p:nvSpPr>
        <p:spPr>
          <a:xfrm>
            <a:off x="368935" y="3312795"/>
            <a:ext cx="3621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没有开盘区间，开盘开始的</a:t>
            </a:r>
            <a:r>
              <a:rPr lang="zh-CN" altLang="en-US" sz="1400" dirty="0">
                <a:solidFill>
                  <a:srgbClr val="256824"/>
                </a:solidFill>
              </a:rPr>
              <a:t>上涨趋势</a:t>
            </a:r>
            <a:endParaRPr lang="zh-CN" altLang="en-US" sz="1400" dirty="0">
              <a:solidFill>
                <a:srgbClr val="256824"/>
              </a:solidFill>
            </a:endParaRPr>
          </a:p>
          <a:p>
            <a:r>
              <a:rPr lang="zh-CN" altLang="en-US" sz="1400" dirty="0">
                <a:solidFill>
                  <a:srgbClr val="256824"/>
                </a:solidFill>
              </a:rPr>
              <a:t>（大概</a:t>
            </a:r>
            <a:r>
              <a:rPr lang="en-US" altLang="zh-CN" sz="1400" dirty="0">
                <a:solidFill>
                  <a:srgbClr val="256824"/>
                </a:solidFill>
              </a:rPr>
              <a:t>20%</a:t>
            </a:r>
            <a:r>
              <a:rPr lang="zh-CN" altLang="en-US" sz="1400" dirty="0">
                <a:solidFill>
                  <a:srgbClr val="256824"/>
                </a:solidFill>
              </a:rPr>
              <a:t>的时候</a:t>
            </a:r>
            <a:r>
              <a:rPr lang="zh-CN" altLang="en-US" sz="1400" dirty="0">
                <a:solidFill>
                  <a:srgbClr val="256824"/>
                </a:solidFill>
              </a:rPr>
              <a:t>是这样）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0835" y="4664710"/>
            <a:ext cx="2357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很小的</a:t>
            </a:r>
            <a:r>
              <a:rPr lang="zh-CN" altLang="en-US" sz="1400" dirty="0">
                <a:solidFill>
                  <a:srgbClr val="256824"/>
                </a:solidFill>
              </a:rPr>
              <a:t>开盘区间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710420" y="865505"/>
            <a:ext cx="38900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开盘区间结束，经常不明显，直到</a:t>
            </a:r>
            <a:r>
              <a:rPr lang="en-US" altLang="zh-CN" sz="1400" dirty="0">
                <a:solidFill>
                  <a:srgbClr val="CE1DD3"/>
                </a:solidFill>
              </a:rPr>
              <a:t>5-20</a:t>
            </a:r>
            <a:r>
              <a:rPr lang="zh-CN" altLang="en-US" sz="1400" dirty="0">
                <a:solidFill>
                  <a:srgbClr val="CE1DD3"/>
                </a:solidFill>
              </a:rPr>
              <a:t>根</a:t>
            </a:r>
            <a:r>
              <a:rPr lang="en-US" altLang="zh-CN" sz="1400" dirty="0">
                <a:solidFill>
                  <a:srgbClr val="CE1DD3"/>
                </a:solidFill>
              </a:rPr>
              <a:t>K</a:t>
            </a:r>
            <a:r>
              <a:rPr lang="zh-CN" altLang="en-US" sz="1400" dirty="0">
                <a:solidFill>
                  <a:srgbClr val="CE1DD3"/>
                </a:solidFill>
              </a:rPr>
              <a:t>线</a:t>
            </a:r>
            <a:r>
              <a:rPr lang="zh-CN" altLang="en-US" sz="1400" dirty="0">
                <a:solidFill>
                  <a:srgbClr val="CE1DD3"/>
                </a:solidFill>
              </a:rPr>
              <a:t>后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41" name="文本框 36"/>
          <p:cNvSpPr txBox="1"/>
          <p:nvPr/>
        </p:nvSpPr>
        <p:spPr>
          <a:xfrm>
            <a:off x="5043170" y="2255520"/>
            <a:ext cx="32207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开盘：</a:t>
            </a:r>
            <a:endParaRPr lang="zh-CN" altLang="en-US" sz="1400" dirty="0">
              <a:solidFill>
                <a:srgbClr val="316B93"/>
              </a:solidFill>
            </a:endParaRPr>
          </a:p>
          <a:p>
            <a:r>
              <a:rPr lang="zh-CN" altLang="en-US" sz="1400" dirty="0">
                <a:solidFill>
                  <a:srgbClr val="316B93"/>
                </a:solidFill>
              </a:rPr>
              <a:t>从开盘到第一个波段结束，是开盘</a:t>
            </a:r>
            <a:r>
              <a:rPr lang="zh-CN" altLang="en-US" sz="1400" dirty="0">
                <a:solidFill>
                  <a:srgbClr val="316B93"/>
                </a:solidFill>
              </a:rPr>
              <a:t>部分</a:t>
            </a:r>
            <a:endParaRPr lang="zh-CN" altLang="en-US" sz="1400" dirty="0">
              <a:solidFill>
                <a:srgbClr val="316B93"/>
              </a:solidFill>
            </a:endParaRPr>
          </a:p>
          <a:p>
            <a:r>
              <a:rPr lang="zh-CN" altLang="en-US" sz="1400" dirty="0">
                <a:solidFill>
                  <a:srgbClr val="316B93"/>
                </a:solidFill>
              </a:rPr>
              <a:t>交易者认为开盘</a:t>
            </a:r>
            <a:r>
              <a:rPr lang="zh-CN" altLang="en-US" sz="1400" dirty="0">
                <a:solidFill>
                  <a:srgbClr val="316B93"/>
                </a:solidFill>
              </a:rPr>
              <a:t>结束了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42" name="文本框 67"/>
          <p:cNvSpPr txBox="1"/>
          <p:nvPr/>
        </p:nvSpPr>
        <p:spPr>
          <a:xfrm>
            <a:off x="1764030" y="4664075"/>
            <a:ext cx="2188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大多数时候至少有一个小的开盘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区间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3" descr="07 Main Points  Opening Reversals 14m4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9009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135" y="0"/>
            <a:ext cx="14758670" cy="8229600"/>
          </a:xfrm>
          <a:prstGeom prst="rect">
            <a:avLst/>
          </a:prstGeom>
        </p:spPr>
      </p:pic>
      <p:sp>
        <p:nvSpPr>
          <p:cNvPr id="38" name="文本框 36"/>
          <p:cNvSpPr txBox="1"/>
          <p:nvPr/>
        </p:nvSpPr>
        <p:spPr>
          <a:xfrm>
            <a:off x="154775" y="845096"/>
            <a:ext cx="53124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>
                <a:solidFill>
                  <a:srgbClr val="316B93"/>
                </a:solidFill>
              </a:rPr>
              <a:t>Gap Down</a:t>
            </a:r>
            <a:r>
              <a:rPr lang="zh-CN" altLang="en-US" b="1" dirty="0">
                <a:solidFill>
                  <a:srgbClr val="316B93"/>
                </a:solidFill>
              </a:rPr>
              <a:t>本身就是趋势（也就是说开盘反转</a:t>
            </a:r>
            <a:r>
              <a:rPr lang="zh-CN" altLang="en-US" b="1" dirty="0">
                <a:solidFill>
                  <a:srgbClr val="316B93"/>
                </a:solidFill>
              </a:rPr>
              <a:t>有效）</a:t>
            </a:r>
            <a:endParaRPr lang="zh-CN" altLang="en-US" b="1" dirty="0">
              <a:solidFill>
                <a:srgbClr val="316B93"/>
              </a:solidFill>
            </a:endParaRPr>
          </a:p>
        </p:txBody>
      </p:sp>
      <p:sp>
        <p:nvSpPr>
          <p:cNvPr id="39" name="文本框 39"/>
          <p:cNvSpPr txBox="1"/>
          <p:nvPr/>
        </p:nvSpPr>
        <p:spPr>
          <a:xfrm>
            <a:off x="5726317" y="906979"/>
            <a:ext cx="48869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dirty="0">
                <a:solidFill>
                  <a:srgbClr val="CE1DD3"/>
                </a:solidFill>
              </a:rPr>
              <a:t>80%</a:t>
            </a:r>
            <a:r>
              <a:rPr lang="zh-CN" altLang="en-US" sz="1400" dirty="0">
                <a:solidFill>
                  <a:srgbClr val="CE1DD3"/>
                </a:solidFill>
              </a:rPr>
              <a:t>天数会出现这种情况，</a:t>
            </a:r>
            <a:r>
              <a:rPr lang="en-US" altLang="zh-CN" sz="1400" dirty="0">
                <a:solidFill>
                  <a:srgbClr val="CE1DD3"/>
                </a:solidFill>
              </a:rPr>
              <a:t>20%</a:t>
            </a:r>
            <a:r>
              <a:rPr lang="zh-CN" altLang="en-US" sz="1400" dirty="0">
                <a:solidFill>
                  <a:srgbClr val="CE1DD3"/>
                </a:solidFill>
              </a:rPr>
              <a:t>的时候会大低开，然后</a:t>
            </a:r>
            <a:r>
              <a:rPr lang="zh-CN" altLang="en-US" sz="1400" dirty="0">
                <a:solidFill>
                  <a:srgbClr val="CE1DD3"/>
                </a:solidFill>
              </a:rPr>
              <a:t>一直跌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3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4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7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7142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16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b="19"/>
          <a:stretch>
            <a:fillRect/>
          </a:stretch>
        </p:blipFill>
        <p:spPr>
          <a:xfrm>
            <a:off x="20" y="1538"/>
            <a:ext cx="14630380" cy="82280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12 Big Failed Bear BO  TR More Likely Than Big Bull Trend 23m4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7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13 Big Failed Bull BO  TR More Likely Than Big Bear Trend 25m5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008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14 Early BO  What Is Chance H or L of Day Already Formed  28m5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 descr="15 Early High or Low of Day  1st Bar 30m3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3255" cy="82289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" descr="16 Early High or Low of Day  1st 90 Minutes 31m3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4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5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" descr="17 Start and End of Day  High Probability for Swing Trade 34m4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9" name="Google Shape;115;p14"/>
          <p:cNvCxnSpPr>
            <a:stCxn id="38" idx="3"/>
            <a:endCxn id="38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452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WPS 演示</Application>
  <PresentationFormat>自定义</PresentationFormat>
  <Paragraphs>288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Constantia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呆瓜瓜瓜瓜瓜</cp:lastModifiedBy>
  <cp:revision>22</cp:revision>
  <dcterms:created xsi:type="dcterms:W3CDTF">2024-11-20T02:39:00Z</dcterms:created>
  <dcterms:modified xsi:type="dcterms:W3CDTF">2025-01-16T07:22:49Z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FEF331028EE64FA6BFF2443A9A1ABF9B_12</vt:lpwstr>
  </property>
  <property fmtid="{D5CDD505-2E9C-101B-9397-08002B2CF9AE}" pid="3" name="KSOProductBuildVer">
    <vt:lpwstr>2052-12.1.0.19770</vt:lpwstr>
  </property>
</Properties>
</file>