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8" autoAdjust="0"/>
    <p:restoredTop sz="94660"/>
  </p:normalViewPr>
  <p:slideViewPr>
    <p:cSldViewPr snapToGrid="0">
      <p:cViewPr>
        <p:scale>
          <a:sx n="110" d="100"/>
          <a:sy n="110" d="100"/>
        </p:scale>
        <p:origin x="1696" y="5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86" name="Google Shape;86;p13" descr="01 Video 49E (#5 of 5) 00m0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93" name="Google Shape;93;p14" descr="02 Main Points 00m14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0" name="Google Shape;100;p15" descr="03 Consecutive Big Bear Bars on Open  More down Likely 03m08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73563" y="5072208"/>
            <a:ext cx="27286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多头开盘反转、但是没碰到</a:t>
            </a:r>
            <a:r>
              <a:rPr lang="en-US" altLang="zh-CN" dirty="0">
                <a:solidFill>
                  <a:srgbClr val="256824"/>
                </a:solidFill>
              </a:rPr>
              <a:t>EMA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（一般需要碰到</a:t>
            </a:r>
            <a:r>
              <a:rPr lang="en-US" altLang="zh-CN" dirty="0">
                <a:solidFill>
                  <a:srgbClr val="256824"/>
                </a:solidFill>
              </a:rPr>
              <a:t>EMA</a:t>
            </a:r>
            <a:r>
              <a:rPr lang="zh-CN" altLang="en-US" dirty="0">
                <a:solidFill>
                  <a:srgbClr val="256824"/>
                </a:solidFill>
              </a:rPr>
              <a:t>或者超出）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市场还是在下跌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98795" y="91600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多头向上突破失败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连续大阴线收在低处</a:t>
            </a:r>
            <a:endParaRPr lang="en-US" altLang="zh-CN" dirty="0">
              <a:solidFill>
                <a:srgbClr val="BA1C20"/>
              </a:solidFill>
            </a:endParaRPr>
          </a:p>
          <a:p>
            <a:r>
              <a:rPr lang="en-US" altLang="zh-CN" dirty="0">
                <a:solidFill>
                  <a:srgbClr val="BA1C20"/>
                </a:solidFill>
              </a:rPr>
              <a:t>AIS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35" name="文本框 1"/>
          <p:cNvSpPr txBox="1"/>
          <p:nvPr/>
        </p:nvSpPr>
        <p:spPr>
          <a:xfrm>
            <a:off x="6035962" y="916018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如果开盘有连续趋势</a:t>
            </a:r>
            <a:r>
              <a:rPr lang="en-US" altLang="zh-CN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线</a:t>
            </a:r>
            <a:endParaRPr lang="zh-CN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那么有很高概率会有</a:t>
            </a:r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趋势方向的某种延续</a:t>
            </a:r>
            <a:endParaRPr lang="zh-CN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7" name="Google Shape;107;p16" descr="04 Late Big Bear BO  Reversal up More Likely Than MM Down 05m54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6370" y="6237800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突破，阴线实体部分等距移动（空头合理的部分止盈</a:t>
            </a:r>
            <a:r>
              <a:rPr lang="zh-CN" altLang="en-US" dirty="0">
                <a:solidFill>
                  <a:srgbClr val="AF8647"/>
                </a:solidFill>
              </a:rPr>
              <a:t>位）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54106" y="909226"/>
            <a:ext cx="5750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两根阴线突破，竭尽型缺口是阴线收盘和前两根阴线最低点之间的距离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07831" y="2979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下跌尖峰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21092" y="2979422"/>
            <a:ext cx="3534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抛物线下跌通道，抛售高潮到了</a:t>
            </a:r>
            <a:r>
              <a:rPr lang="en-US" altLang="zh-CN" dirty="0">
                <a:solidFill>
                  <a:srgbClr val="316B93"/>
                </a:solidFill>
              </a:rPr>
              <a:t>MM</a:t>
            </a:r>
            <a:r>
              <a:rPr lang="zh-CN" altLang="en-US" dirty="0">
                <a:solidFill>
                  <a:srgbClr val="316B93"/>
                </a:solidFill>
              </a:rPr>
              <a:t>目标位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7" name="文本框 5"/>
          <p:cNvSpPr txBox="1"/>
          <p:nvPr/>
        </p:nvSpPr>
        <p:spPr>
          <a:xfrm>
            <a:off x="6709061" y="7108752"/>
            <a:ext cx="316674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BA1C20"/>
                </a:solidFill>
              </a:rPr>
              <a:t>连续阴线，最近</a:t>
            </a:r>
            <a:r>
              <a:rPr lang="en-US" altLang="zh-CN" dirty="0">
                <a:solidFill>
                  <a:srgbClr val="BA1C20"/>
                </a:solidFill>
              </a:rPr>
              <a:t>20</a:t>
            </a:r>
            <a:r>
              <a:rPr lang="zh-CN" altLang="en-US" dirty="0">
                <a:solidFill>
                  <a:srgbClr val="BA1C20"/>
                </a:solidFill>
              </a:rPr>
              <a:t>根</a:t>
            </a:r>
            <a:r>
              <a:rPr lang="en-US" altLang="zh-CN" dirty="0">
                <a:solidFill>
                  <a:srgbClr val="BA1C20"/>
                </a:solidFill>
              </a:rPr>
              <a:t>K</a:t>
            </a:r>
            <a:r>
              <a:rPr lang="zh-CN" altLang="en-US" dirty="0">
                <a:solidFill>
                  <a:srgbClr val="BA1C20"/>
                </a:solidFill>
              </a:rPr>
              <a:t>线中最大的</a:t>
            </a:r>
            <a:r>
              <a:rPr lang="zh-CN" altLang="en-US" dirty="0">
                <a:solidFill>
                  <a:srgbClr val="BA1C20"/>
                </a:solidFill>
              </a:rPr>
              <a:t>阴线</a:t>
            </a:r>
            <a:endParaRPr lang="zh-CN" altLang="en-US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向下突破窄下降</a:t>
            </a:r>
            <a:r>
              <a:rPr lang="zh-CN" altLang="en-US" dirty="0">
                <a:solidFill>
                  <a:srgbClr val="BA1C20"/>
                </a:solidFill>
              </a:rPr>
              <a:t>通道</a:t>
            </a:r>
            <a:endParaRPr lang="zh-CN" altLang="en-US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更可能是</a:t>
            </a:r>
            <a:r>
              <a:rPr lang="en-US" altLang="zh-CN" dirty="0">
                <a:solidFill>
                  <a:srgbClr val="BA1C20"/>
                </a:solidFill>
              </a:rPr>
              <a:t>EGap</a:t>
            </a:r>
            <a:r>
              <a:rPr lang="zh-CN" altLang="en-US" dirty="0">
                <a:solidFill>
                  <a:srgbClr val="BA1C20"/>
                </a:solidFill>
              </a:rPr>
              <a:t>而不是</a:t>
            </a:r>
            <a:r>
              <a:rPr lang="en-US" altLang="zh-CN" dirty="0">
                <a:solidFill>
                  <a:srgbClr val="BA1C20"/>
                </a:solidFill>
              </a:rPr>
              <a:t>MGap</a:t>
            </a:r>
            <a:endParaRPr lang="en-US" altLang="zh-CN" dirty="0">
              <a:solidFill>
                <a:srgbClr val="BA1C2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14" name="Google Shape;114;p17" descr="05 Late Big Bear BO  Bears Take Profits, Bulls Buy 08m24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2"/>
          <p:cNvSpPr txBox="1"/>
          <p:nvPr/>
        </p:nvSpPr>
        <p:spPr>
          <a:xfrm>
            <a:off x="6515112" y="1346548"/>
            <a:ext cx="39166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AF8647"/>
                </a:solidFill>
              </a:rPr>
              <a:t>大阴线突破窄下降通道，跟随是一个不错的</a:t>
            </a:r>
            <a:r>
              <a:rPr lang="zh-CN" altLang="en-US" dirty="0">
                <a:solidFill>
                  <a:srgbClr val="AF8647"/>
                </a:solidFill>
              </a:rPr>
              <a:t>阳线</a:t>
            </a:r>
            <a:endParaRPr lang="zh-CN" altLang="en-US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应该在多头反转</a:t>
            </a:r>
            <a:r>
              <a:rPr lang="en-US" altLang="zh-CN" dirty="0">
                <a:solidFill>
                  <a:srgbClr val="AF8647"/>
                </a:solidFill>
              </a:rPr>
              <a:t>k</a:t>
            </a:r>
            <a:r>
              <a:rPr lang="zh-CN" altLang="en-US" dirty="0">
                <a:solidFill>
                  <a:srgbClr val="AF8647"/>
                </a:solidFill>
              </a:rPr>
              <a:t>线上方离场</a:t>
            </a:r>
            <a:endParaRPr lang="zh-CN" altLang="en-US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或者反转</a:t>
            </a:r>
            <a:r>
              <a:rPr lang="en-US" altLang="zh-CN" dirty="0">
                <a:solidFill>
                  <a:srgbClr val="AF8647"/>
                </a:solidFill>
              </a:rPr>
              <a:t>k</a:t>
            </a:r>
            <a:r>
              <a:rPr lang="zh-CN" altLang="en-US" dirty="0">
                <a:solidFill>
                  <a:srgbClr val="AF8647"/>
                </a:solidFill>
              </a:rPr>
              <a:t>线的跟随</a:t>
            </a:r>
            <a:r>
              <a:rPr lang="en-US" altLang="zh-CN" dirty="0">
                <a:solidFill>
                  <a:srgbClr val="AF8647"/>
                </a:solidFill>
              </a:rPr>
              <a:t>k</a:t>
            </a:r>
            <a:r>
              <a:rPr lang="zh-CN" altLang="en-US" dirty="0">
                <a:solidFill>
                  <a:srgbClr val="AF8647"/>
                </a:solidFill>
              </a:rPr>
              <a:t>离场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34" name="文本框 3"/>
          <p:cNvSpPr txBox="1"/>
          <p:nvPr/>
        </p:nvSpPr>
        <p:spPr>
          <a:xfrm>
            <a:off x="5939442" y="5374065"/>
            <a:ext cx="2138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256824"/>
                </a:solidFill>
              </a:rPr>
              <a:t>很可能不是</a:t>
            </a:r>
            <a:r>
              <a:rPr lang="zh-CN" altLang="en-US" dirty="0">
                <a:solidFill>
                  <a:srgbClr val="256824"/>
                </a:solidFill>
              </a:rPr>
              <a:t>大反转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而是测试下降通道的</a:t>
            </a:r>
            <a:r>
              <a:rPr lang="zh-CN" altLang="en-US" dirty="0">
                <a:solidFill>
                  <a:srgbClr val="256824"/>
                </a:solidFill>
              </a:rPr>
              <a:t>起点</a:t>
            </a:r>
            <a:endParaRPr lang="zh-CN" altLang="en-US" dirty="0">
              <a:solidFill>
                <a:srgbClr val="25682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1" name="Google Shape;121;p18" descr="06 TTR  Limit Order Market 11m53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68347" y="4895910"/>
            <a:ext cx="24942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区间底部限价单做多的</a:t>
            </a:r>
            <a:r>
              <a:rPr lang="zh-CN" altLang="en-US" dirty="0">
                <a:solidFill>
                  <a:srgbClr val="256824"/>
                </a:solidFill>
              </a:rPr>
              <a:t>多头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止损放在</a:t>
            </a:r>
            <a:r>
              <a:rPr lang="en-US" altLang="zh-CN" dirty="0">
                <a:solidFill>
                  <a:srgbClr val="256824"/>
                </a:solidFill>
              </a:rPr>
              <a:t>MM</a:t>
            </a:r>
            <a:r>
              <a:rPr lang="zh-CN" altLang="en-US" dirty="0">
                <a:solidFill>
                  <a:srgbClr val="256824"/>
                </a:solidFill>
              </a:rPr>
              <a:t>下面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看到反转向上的机会加仓</a:t>
            </a:r>
            <a:r>
              <a:rPr lang="zh-CN" altLang="en-US" dirty="0">
                <a:solidFill>
                  <a:srgbClr val="256824"/>
                </a:solidFill>
              </a:rPr>
              <a:t>做多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一笔打平，一笔</a:t>
            </a:r>
            <a:r>
              <a:rPr lang="zh-CN" altLang="en-US" dirty="0">
                <a:solidFill>
                  <a:srgbClr val="256824"/>
                </a:solidFill>
              </a:rPr>
              <a:t>盈利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8" name="Google Shape;128;p19" descr="07 Possible TR Day  Bulls Quick to Take Profits 12m5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35" name="Google Shape;135;p20" descr="08 Possible TR Day  Bears Sell Rallies 14m1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2" name="Google Shape;142;p21" descr="09 Failed BO  Common on Open 15m3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5"/>
          <p:cNvSpPr txBox="1"/>
          <p:nvPr/>
        </p:nvSpPr>
        <p:spPr>
          <a:xfrm>
            <a:off x="7153561" y="291392"/>
            <a:ext cx="2494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00"/>
                </a:highlight>
              </a:rPr>
              <a:t>突破失败，开盘的时候很常见</a:t>
            </a:r>
            <a:endParaRPr lang="zh-CN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4" name="文本框 5"/>
          <p:cNvSpPr txBox="1"/>
          <p:nvPr/>
        </p:nvSpPr>
        <p:spPr>
          <a:xfrm>
            <a:off x="524161" y="2536752"/>
            <a:ext cx="16052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BA1C20"/>
                </a:solidFill>
              </a:rPr>
              <a:t>大阴线下方</a:t>
            </a:r>
            <a:r>
              <a:rPr lang="zh-CN" altLang="en-US" dirty="0">
                <a:solidFill>
                  <a:srgbClr val="BA1C20"/>
                </a:solidFill>
              </a:rPr>
              <a:t>做空</a:t>
            </a:r>
            <a:endParaRPr lang="zh-CN" altLang="en-US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昨天高点形成</a:t>
            </a:r>
            <a:r>
              <a:rPr lang="zh-CN" altLang="en-US" dirty="0">
                <a:solidFill>
                  <a:srgbClr val="BA1C20"/>
                </a:solidFill>
              </a:rPr>
              <a:t>双顶</a:t>
            </a:r>
            <a:endParaRPr lang="zh-CN" altLang="en-US" dirty="0">
              <a:solidFill>
                <a:srgbClr val="BA1C20"/>
              </a:solidFill>
            </a:endParaRPr>
          </a:p>
          <a:p>
            <a:r>
              <a:rPr lang="zh-CN" altLang="en-US" dirty="0">
                <a:solidFill>
                  <a:srgbClr val="BA1C20"/>
                </a:solidFill>
              </a:rPr>
              <a:t>突破下降</a:t>
            </a:r>
            <a:r>
              <a:rPr lang="zh-CN" altLang="en-US" dirty="0">
                <a:solidFill>
                  <a:srgbClr val="BA1C20"/>
                </a:solidFill>
              </a:rPr>
              <a:t>通道失败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6772287" y="1004918"/>
            <a:ext cx="36703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AF8647"/>
                </a:solidFill>
              </a:rPr>
              <a:t>连续的阴线，其中一个很强，所以可以是</a:t>
            </a:r>
            <a:r>
              <a:rPr lang="en-US" altLang="zh-CN" dirty="0">
                <a:solidFill>
                  <a:srgbClr val="AF8647"/>
                </a:solidFill>
              </a:rPr>
              <a:t>AIS</a:t>
            </a:r>
            <a:endParaRPr lang="en-US" altLang="zh-CN" dirty="0">
              <a:solidFill>
                <a:srgbClr val="AF8647"/>
              </a:solidFill>
            </a:endParaRPr>
          </a:p>
        </p:txBody>
      </p:sp>
      <p:sp>
        <p:nvSpPr>
          <p:cNvPr id="36" name="文本框 4"/>
          <p:cNvSpPr txBox="1"/>
          <p:nvPr/>
        </p:nvSpPr>
        <p:spPr>
          <a:xfrm>
            <a:off x="6809753" y="3125530"/>
            <a:ext cx="2948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CE1DD3"/>
                </a:solidFill>
              </a:rPr>
              <a:t>不好的做多信号阴线</a:t>
            </a:r>
            <a:r>
              <a:rPr lang="en-US" altLang="zh-CN" dirty="0">
                <a:solidFill>
                  <a:srgbClr val="CE1DD3"/>
                </a:solidFill>
              </a:rPr>
              <a:t>doji</a:t>
            </a:r>
            <a:r>
              <a:rPr lang="zh-CN" altLang="en-US" dirty="0">
                <a:solidFill>
                  <a:srgbClr val="CE1DD3"/>
                </a:solidFill>
                <a:ea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rgbClr val="CE1DD3"/>
                </a:solidFill>
                <a:ea typeface="宋体" panose="02010600030101010101" pitchFamily="2" charset="-122"/>
              </a:rPr>
              <a:t>上方做空</a:t>
            </a:r>
            <a:endParaRPr lang="zh-CN" altLang="en-US" dirty="0">
              <a:solidFill>
                <a:srgbClr val="CE1DD3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CE1DD3"/>
                </a:solidFill>
                <a:ea typeface="宋体" panose="02010600030101010101" pitchFamily="2" charset="-122"/>
              </a:rPr>
              <a:t>大阳线收盘做空，赌</a:t>
            </a:r>
            <a:r>
              <a:rPr lang="en-US" altLang="zh-CN" dirty="0">
                <a:solidFill>
                  <a:srgbClr val="CE1DD3"/>
                </a:solidFill>
                <a:ea typeface="宋体" panose="02010600030101010101" pitchFamily="2" charset="-122"/>
              </a:rPr>
              <a:t>LH</a:t>
            </a:r>
            <a:endParaRPr lang="en-US" altLang="zh-CN" dirty="0">
              <a:solidFill>
                <a:srgbClr val="CE1DD3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9" name="Google Shape;149;p22" descr="10 Opening Reversal Needs Big Trend Bars  Else TR Likely 17m4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1"/>
          <p:cNvSpPr txBox="1"/>
          <p:nvPr/>
        </p:nvSpPr>
        <p:spPr>
          <a:xfrm>
            <a:off x="432722" y="776318"/>
            <a:ext cx="41833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316B93"/>
                </a:solidFill>
              </a:rPr>
              <a:t>开盘反转，需要大的趋势</a:t>
            </a:r>
            <a:r>
              <a:rPr lang="en-US" altLang="zh-CN" dirty="0">
                <a:solidFill>
                  <a:srgbClr val="316B93"/>
                </a:solidFill>
              </a:rPr>
              <a:t>k</a:t>
            </a:r>
            <a:r>
              <a:rPr lang="zh-CN" altLang="en-US" dirty="0">
                <a:solidFill>
                  <a:srgbClr val="316B93"/>
                </a:solidFill>
              </a:rPr>
              <a:t>线，否则大概率</a:t>
            </a:r>
            <a:r>
              <a:rPr lang="zh-CN" altLang="en-US" dirty="0">
                <a:solidFill>
                  <a:srgbClr val="316B93"/>
                </a:solidFill>
              </a:rPr>
              <a:t>交易区间</a:t>
            </a:r>
            <a:endParaRPr lang="zh-CN" altLang="en-US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56" name="Google Shape;156;p23" descr="11 Consecutive Trend Bars  If Not Big, TR Likely 18m51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"/>
          <p:cNvSpPr txBox="1"/>
          <p:nvPr/>
        </p:nvSpPr>
        <p:spPr>
          <a:xfrm>
            <a:off x="6818282" y="5197535"/>
            <a:ext cx="3205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256824"/>
                </a:solidFill>
              </a:rPr>
              <a:t>多头需要突破创</a:t>
            </a:r>
            <a:r>
              <a:rPr lang="zh-CN" altLang="en-US" dirty="0">
                <a:solidFill>
                  <a:srgbClr val="256824"/>
                </a:solidFill>
              </a:rPr>
              <a:t>新高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否则，可能是开盘交易区间，</a:t>
            </a:r>
            <a:r>
              <a:rPr lang="zh-CN" altLang="en-US" dirty="0">
                <a:solidFill>
                  <a:srgbClr val="256824"/>
                </a:solidFill>
              </a:rPr>
              <a:t>突破模式</a:t>
            </a:r>
            <a:endParaRPr lang="zh-CN" altLang="en-US" dirty="0">
              <a:solidFill>
                <a:srgbClr val="25682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63" name="Google Shape;163;p24" descr="12 DT in Opening Range  Often Start of Bear Trend 22m10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1"/>
          <p:cNvSpPr txBox="1"/>
          <p:nvPr/>
        </p:nvSpPr>
        <p:spPr>
          <a:xfrm>
            <a:off x="6457602" y="3828128"/>
            <a:ext cx="10128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316B93"/>
                </a:solidFill>
              </a:rPr>
              <a:t>多头放弃</a:t>
            </a:r>
            <a:r>
              <a:rPr lang="en-US" altLang="zh-CN" dirty="0">
                <a:solidFill>
                  <a:srgbClr val="316B93"/>
                </a:solidFill>
              </a:rPr>
              <a:t>K</a:t>
            </a:r>
            <a:endParaRPr lang="en-US" altLang="zh-CN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0" name="Google Shape;170;p25" descr="13 DT in Opening Range  Look for MM Down 22m4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7" name="Google Shape;177;p26" descr="14 Consecutive Sell Climaxes  Bears Reduce Risk Taking Profits 24m38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2"/>
          <p:cNvSpPr txBox="1"/>
          <p:nvPr/>
        </p:nvSpPr>
        <p:spPr>
          <a:xfrm>
            <a:off x="488327" y="817593"/>
            <a:ext cx="5516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AF8647"/>
                </a:solidFill>
              </a:rPr>
              <a:t>连续的抛售高潮，但是每一次跟随都不是很好，可能很快会迎来</a:t>
            </a:r>
            <a:r>
              <a:rPr lang="zh-CN" altLang="en-US" dirty="0">
                <a:solidFill>
                  <a:srgbClr val="AF8647"/>
                </a:solidFill>
              </a:rPr>
              <a:t>反转</a:t>
            </a:r>
            <a:endParaRPr lang="zh-CN" altLang="en-US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84" name="Google Shape;184;p27" descr="15 Consecutive Sell Climaxes  Sell The Close Bears Give Up 25m27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1" name="Google Shape;191;p28" descr="16 Consecutive Sell Climaxes  Rally Likely Soon 26m35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8" name="Google Shape;198;p29" descr="17 Consecutive Sell Climaxes  Bulls Buy Early in Reversal Up 29m29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2"/>
          <p:cNvSpPr txBox="1"/>
          <p:nvPr/>
        </p:nvSpPr>
        <p:spPr>
          <a:xfrm>
            <a:off x="7145032" y="6806278"/>
            <a:ext cx="33832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AF8647"/>
                </a:solidFill>
              </a:rPr>
              <a:t>可以抱着一种心态，前低就是</a:t>
            </a:r>
            <a:r>
              <a:rPr lang="zh-CN" altLang="en-US" dirty="0">
                <a:solidFill>
                  <a:srgbClr val="AF8647"/>
                </a:solidFill>
              </a:rPr>
              <a:t>最低点</a:t>
            </a:r>
            <a:endParaRPr lang="zh-CN" altLang="en-US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大不了我亏到最低点</a:t>
            </a:r>
            <a:r>
              <a:rPr lang="zh-CN" altLang="en-US" dirty="0">
                <a:solidFill>
                  <a:srgbClr val="AF8647"/>
                </a:solidFill>
              </a:rPr>
              <a:t>这么多</a:t>
            </a:r>
            <a:endParaRPr lang="zh-CN" altLang="en-US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所以可以以任何理由买入做多，</a:t>
            </a:r>
            <a:r>
              <a:rPr lang="zh-CN" altLang="en-US" dirty="0">
                <a:solidFill>
                  <a:srgbClr val="AF8647"/>
                </a:solidFill>
              </a:rPr>
              <a:t>越低越好</a:t>
            </a:r>
            <a:endParaRPr lang="zh-CN" altLang="en-US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05" name="Google Shape;205;p30" descr="18 Weak Rally  Probably Leg in TR 30m5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2"/>
          <p:cNvSpPr txBox="1"/>
          <p:nvPr/>
        </p:nvSpPr>
        <p:spPr>
          <a:xfrm>
            <a:off x="439432" y="943958"/>
            <a:ext cx="3916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AF8647"/>
                </a:solidFill>
              </a:rPr>
              <a:t>如果市场重复强烈尝试往一个方向走，然后</a:t>
            </a:r>
            <a:r>
              <a:rPr lang="zh-CN" altLang="en-US" dirty="0">
                <a:solidFill>
                  <a:srgbClr val="AF8647"/>
                </a:solidFill>
              </a:rPr>
              <a:t>失败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34" name="文本框 3"/>
          <p:cNvSpPr txBox="1"/>
          <p:nvPr/>
        </p:nvSpPr>
        <p:spPr>
          <a:xfrm>
            <a:off x="450502" y="2515930"/>
            <a:ext cx="3205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256824"/>
                </a:solidFill>
              </a:rPr>
              <a:t>它通常就会尝试另一个方向了（</a:t>
            </a:r>
            <a:r>
              <a:rPr lang="zh-CN" altLang="en-US" dirty="0">
                <a:solidFill>
                  <a:srgbClr val="256824"/>
                </a:solidFill>
              </a:rPr>
              <a:t>反转）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35" name="文本框 3"/>
          <p:cNvSpPr txBox="1"/>
          <p:nvPr/>
        </p:nvSpPr>
        <p:spPr>
          <a:xfrm>
            <a:off x="7382162" y="824925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256824"/>
                </a:solidFill>
              </a:rPr>
              <a:t>上涨缺少连续的大阳线，体积小、影线明显、</a:t>
            </a:r>
            <a:r>
              <a:rPr lang="zh-CN" altLang="en-US" dirty="0">
                <a:solidFill>
                  <a:srgbClr val="256824"/>
                </a:solidFill>
              </a:rPr>
              <a:t>阴线</a:t>
            </a:r>
            <a:endParaRPr lang="zh-CN" altLang="en-US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更有可能是一个</a:t>
            </a:r>
            <a:r>
              <a:rPr lang="en-US" altLang="zh-CN" dirty="0">
                <a:solidFill>
                  <a:srgbClr val="256824"/>
                </a:solidFill>
              </a:rPr>
              <a:t>bull </a:t>
            </a:r>
            <a:r>
              <a:rPr lang="en-US" altLang="zh-CN" dirty="0">
                <a:solidFill>
                  <a:srgbClr val="256824"/>
                </a:solidFill>
              </a:rPr>
              <a:t>leg</a:t>
            </a:r>
            <a:endParaRPr lang="en-US" altLang="zh-CN" dirty="0">
              <a:solidFill>
                <a:srgbClr val="256824"/>
              </a:solidFill>
            </a:endParaRPr>
          </a:p>
        </p:txBody>
      </p:sp>
      <p:sp>
        <p:nvSpPr>
          <p:cNvPr id="36" name="文本框 1"/>
          <p:cNvSpPr txBox="1"/>
          <p:nvPr/>
        </p:nvSpPr>
        <p:spPr>
          <a:xfrm>
            <a:off x="5837842" y="2621628"/>
            <a:ext cx="12496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316B93"/>
                </a:solidFill>
              </a:rPr>
              <a:t>背景很像</a:t>
            </a:r>
            <a:r>
              <a:rPr lang="en-US" altLang="zh-CN" dirty="0">
                <a:solidFill>
                  <a:srgbClr val="316B93"/>
                </a:solidFill>
              </a:rPr>
              <a:t>TR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昨高反转</a:t>
            </a:r>
            <a:r>
              <a:rPr lang="zh-CN" altLang="en-US" dirty="0">
                <a:solidFill>
                  <a:srgbClr val="316B93"/>
                </a:solidFill>
              </a:rPr>
              <a:t>向下</a:t>
            </a:r>
            <a:endParaRPr lang="zh-CN" altLang="en-US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昨低反转</a:t>
            </a:r>
            <a:r>
              <a:rPr lang="zh-CN" altLang="en-US" dirty="0">
                <a:solidFill>
                  <a:srgbClr val="316B93"/>
                </a:solidFill>
              </a:rPr>
              <a:t>向上</a:t>
            </a:r>
            <a:endParaRPr lang="zh-CN" altLang="en-US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2" name="Google Shape;212;p31" descr="19 When TR Likely  Bulls Quick to Take Profits 33m09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9" name="Google Shape;219;p32" descr="20 When TR Likely  Bears Quick to Sell Weak Rally 34m36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3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26" name="Google Shape;226;p33" descr="21 Weak Rally, Then 3 Bear Bars  Lower Prices Likely 36m52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33" name="Google Shape;233;p34" descr="22 Many Small Bear Bars  BO on HigherTime Frame 38m38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5"/>
          <p:cNvSpPr txBox="1"/>
          <p:nvPr/>
        </p:nvSpPr>
        <p:spPr>
          <a:xfrm>
            <a:off x="4588161" y="1784912"/>
            <a:ext cx="215265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BA1C20"/>
                </a:solidFill>
              </a:rPr>
              <a:t>连续</a:t>
            </a:r>
            <a:r>
              <a:rPr lang="en-US" altLang="zh-CN" b="1" dirty="0">
                <a:solidFill>
                  <a:srgbClr val="BA1C20"/>
                </a:solidFill>
              </a:rPr>
              <a:t>6</a:t>
            </a:r>
            <a:r>
              <a:rPr lang="zh-CN" altLang="en-US" b="1" dirty="0">
                <a:solidFill>
                  <a:srgbClr val="BA1C20"/>
                </a:solidFill>
              </a:rPr>
              <a:t>根阴线的微型通道</a:t>
            </a:r>
            <a:endParaRPr lang="zh-CN" altLang="en-US" b="1" dirty="0">
              <a:solidFill>
                <a:srgbClr val="BA1C20"/>
              </a:solidFill>
            </a:endParaRPr>
          </a:p>
          <a:p>
            <a:r>
              <a:rPr lang="zh-CN" altLang="en-US" b="1" dirty="0">
                <a:solidFill>
                  <a:srgbClr val="BA1C20"/>
                </a:solidFill>
              </a:rPr>
              <a:t>更高级别的突破</a:t>
            </a:r>
            <a:endParaRPr lang="zh-CN" altLang="en-US" b="1" dirty="0">
              <a:solidFill>
                <a:srgbClr val="BA1C20"/>
              </a:solidFill>
            </a:endParaRPr>
          </a:p>
          <a:p>
            <a:r>
              <a:rPr lang="zh-CN" altLang="en-US" b="1" dirty="0">
                <a:solidFill>
                  <a:srgbClr val="BA1C20"/>
                </a:solidFill>
              </a:rPr>
              <a:t>很强势，足够有二段下跌</a:t>
            </a:r>
            <a:endParaRPr lang="zh-CN" altLang="en-US" b="1" dirty="0">
              <a:solidFill>
                <a:srgbClr val="BA1C2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40" name="Google Shape;240;p35" descr="23 Triangle  50% Chance BO Will Reverse 40m20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3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47" name="Google Shape;247;p36" descr="24 Late Buy The Close  Bulls Exit Below Bear Bar or End Of Day 42m13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3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54" name="Google Shape;254;p37" descr="25 Review 42m24s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  <a:endParaRPr lang="zh-CN" altLang="en-US" dirty="0">
              <a:solidFill>
                <a:srgbClr val="AF8647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  <a:endParaRPr lang="zh-CN" altLang="en-US" dirty="0">
              <a:solidFill>
                <a:srgbClr val="CE1DD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  <a:endParaRPr lang="zh-CN" altLang="en-US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WPS Presentation</Application>
  <PresentationFormat>自定义</PresentationFormat>
  <Paragraphs>322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Constantia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10329</cp:lastModifiedBy>
  <cp:revision>25</cp:revision>
  <dcterms:created xsi:type="dcterms:W3CDTF">2024-11-18T09:15:00Z</dcterms:created>
  <dcterms:modified xsi:type="dcterms:W3CDTF">2024-11-19T10:22:52Z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1033-12.2.0.18911</vt:lpwstr>
  </property>
  <property fmtid="{D5CDD505-2E9C-101B-9397-08002B2CF9AE}" pid="3" name="ICV">
    <vt:lpwstr>11B80277EE1C4EF7B30F8390160D97EF_12</vt:lpwstr>
  </property>
</Properties>
</file>