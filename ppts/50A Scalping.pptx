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8229600" cx="14630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i="0" u="none" cap="none" strike="noStrike">
                <a:solidFill>
                  <a:schemeClr val="dk1"/>
                </a:solidFill>
              </a:defRPr>
            </a:lvl1pPr>
            <a:lvl2pPr indent="-3175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i="0" u="none" cap="none" strike="noStrike">
                <a:solidFill>
                  <a:schemeClr val="dk1"/>
                </a:solidFill>
              </a:defRPr>
            </a:lvl2pPr>
            <a:lvl3pPr indent="-3175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i="0" u="none" cap="none" strike="noStrike">
                <a:solidFill>
                  <a:schemeClr val="dk1"/>
                </a:solidFill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i="0" u="none" cap="none" strike="noStrike">
                <a:solidFill>
                  <a:schemeClr val="dk1"/>
                </a:solidFill>
              </a:defRPr>
            </a:lvl4pPr>
            <a:lvl5pPr indent="-3175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i="0" u="none" cap="none" strike="noStrike">
                <a:solidFill>
                  <a:schemeClr val="dk1"/>
                </a:solidFill>
              </a:defRPr>
            </a:lvl5pPr>
            <a:lvl6pPr indent="-3175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i="0" u="none" cap="none" strike="noStrike">
                <a:solidFill>
                  <a:schemeClr val="dk1"/>
                </a:solidFill>
              </a:defRPr>
            </a:lvl6pPr>
            <a:lvl7pPr indent="-3175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i="0" u="none" cap="none" strike="noStrike">
                <a:solidFill>
                  <a:schemeClr val="dk1"/>
                </a:solidFill>
              </a:defRPr>
            </a:lvl7pPr>
            <a:lvl8pPr indent="-3175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i="0" u="none" cap="none" strike="noStrike">
                <a:solidFill>
                  <a:schemeClr val="dk1"/>
                </a:solidFill>
              </a:defRPr>
            </a:lvl8pPr>
            <a:lvl9pPr indent="-3175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i="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1 Video 50A (#1 of 5) 00m04s.jp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2 Main Points 00m38s.jp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162750" y="1203300"/>
            <a:ext cx="458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TR是限价单市场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122975" y="3533025"/>
            <a:ext cx="458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剥头皮交易者的个性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3 Scalp Entry  Stop or Limit Orders  10m03s.jp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294175" y="1370275"/>
            <a:ext cx="458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6B26B"/>
                </a:highlight>
              </a:rPr>
              <a:t>上涨或者下跌的时候，K线重叠不多</a:t>
            </a:r>
            <a:endParaRPr>
              <a:solidFill>
                <a:schemeClr val="dk1"/>
              </a:solidFill>
              <a:highlight>
                <a:srgbClr val="F6B26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6B26B"/>
                </a:highlight>
              </a:rPr>
              <a:t>特别是有open gap的时候，说明可以stop order入场</a:t>
            </a:r>
            <a:endParaRPr>
              <a:solidFill>
                <a:schemeClr val="dk1"/>
              </a:solidFill>
              <a:highlight>
                <a:srgbClr val="F6B26B"/>
              </a:highlight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1892425" y="5638800"/>
            <a:ext cx="458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highlight>
                  <a:srgbClr val="FFE599"/>
                </a:highlight>
              </a:rPr>
              <a:t>在不好的sell信号下方限价单买入</a:t>
            </a:r>
            <a:endParaRPr sz="1000">
              <a:solidFill>
                <a:schemeClr val="dk1"/>
              </a:solidFill>
              <a:highlight>
                <a:srgbClr val="FFE599"/>
              </a:highlight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7362900" y="2610675"/>
            <a:ext cx="458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FF9900"/>
                </a:highlight>
              </a:rPr>
              <a:t>打赌任何趋势都会失败</a:t>
            </a:r>
            <a:endParaRPr sz="1200">
              <a:solidFill>
                <a:schemeClr val="dk1"/>
              </a:solidFill>
              <a:highlight>
                <a:srgbClr val="FF9900"/>
              </a:highlight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7418575" y="829575"/>
            <a:ext cx="458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F00"/>
                </a:highlight>
              </a:rPr>
              <a:t>剥头皮需要make quick decision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4 This Video  Scalping with Limit and Market Orders 10m33s.jp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7323175" y="821650"/>
            <a:ext cx="458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交易区间和宽通道，比较适合scalp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5 When Trending  Swing Trade 16m01s.jpg" id="121" name="Google Shape;12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7211850" y="185525"/>
            <a:ext cx="458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有趋势的时候，波段交易更容易赚钱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151075" y="6284175"/>
            <a:ext cx="5327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US">
                <a:solidFill>
                  <a:schemeClr val="dk1"/>
                </a:solidFill>
                <a:highlight>
                  <a:srgbClr val="EA9999"/>
                </a:highlight>
              </a:rPr>
              <a:t>波段交易，突破有跟随，直接sell close做空</a:t>
            </a:r>
            <a:endParaRPr>
              <a:solidFill>
                <a:schemeClr val="dk1"/>
              </a:solidFill>
              <a:highlight>
                <a:srgbClr val="EA9999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US">
                <a:solidFill>
                  <a:schemeClr val="dk1"/>
                </a:solidFill>
                <a:highlight>
                  <a:srgbClr val="EA9999"/>
                </a:highlight>
              </a:rPr>
              <a:t>相信自己的止损，每次都把止损移动到最近的高点</a:t>
            </a:r>
            <a:endParaRPr>
              <a:solidFill>
                <a:schemeClr val="dk1"/>
              </a:solidFill>
              <a:highlight>
                <a:srgbClr val="EA9999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US">
                <a:solidFill>
                  <a:schemeClr val="dk1"/>
                </a:solidFill>
                <a:highlight>
                  <a:srgbClr val="EA9999"/>
                </a:highlight>
              </a:rPr>
              <a:t>持仓直到下跌趋势的前提不在成立（高低点不再降低）</a:t>
            </a:r>
            <a:endParaRPr>
              <a:solidFill>
                <a:schemeClr val="dk1"/>
              </a:solidFill>
              <a:highlight>
                <a:srgbClr val="EA9999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6 When Trending  Scalp with Swing Stops 21m23s.jpg" id="130" name="Google Shape;1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 txBox="1"/>
          <p:nvPr/>
        </p:nvSpPr>
        <p:spPr>
          <a:xfrm>
            <a:off x="500925" y="885250"/>
            <a:ext cx="458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93C47D"/>
                </a:highlight>
              </a:rPr>
              <a:t>顺着强趋势剥头皮，是一个可以赚钱的策略</a:t>
            </a:r>
            <a:endParaRPr>
              <a:solidFill>
                <a:schemeClr val="dk1"/>
              </a:solidFill>
              <a:highlight>
                <a:srgbClr val="93C47D"/>
              </a:highlight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9477950" y="241200"/>
            <a:ext cx="458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9CB9C"/>
                </a:highlight>
              </a:rPr>
              <a:t>有趋势剥头皮，使用波段止损</a:t>
            </a:r>
            <a:endParaRPr>
              <a:solidFill>
                <a:schemeClr val="dk1"/>
              </a:solidFill>
              <a:highlight>
                <a:srgbClr val="F9CB9C"/>
              </a:highlight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500925" y="2873075"/>
            <a:ext cx="458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D5A6BD"/>
                </a:highlight>
              </a:rPr>
              <a:t>趋势中剥头皮不如波段交易赚的多</a:t>
            </a:r>
            <a:endParaRPr>
              <a:solidFill>
                <a:schemeClr val="dk1"/>
              </a:solidFill>
              <a:highlight>
                <a:srgbClr val="D5A6BD"/>
              </a:highlight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7474225" y="3795425"/>
            <a:ext cx="4580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剥头皮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盈亏比很差，所以需要高胜率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高胜率交易机会并不多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所以只能通过扩大止损、加仓来提高胜率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2894125" y="3381925"/>
            <a:ext cx="4580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D966"/>
                </a:highlight>
              </a:rPr>
              <a:t>多次入场剥头皮非常难</a:t>
            </a:r>
            <a:endParaRPr>
              <a:solidFill>
                <a:schemeClr val="dk1"/>
              </a:solidFill>
              <a:highlight>
                <a:srgbClr val="FFD96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D966"/>
                </a:highlight>
              </a:rPr>
              <a:t>普通人做不到</a:t>
            </a:r>
            <a:endParaRPr>
              <a:solidFill>
                <a:schemeClr val="dk1"/>
              </a:solidFill>
              <a:highlight>
                <a:srgbClr val="FFD96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D966"/>
                </a:highlight>
              </a:rPr>
              <a:t>只有非常顶尖的交易员可以办到</a:t>
            </a:r>
            <a:endParaRPr>
              <a:solidFill>
                <a:schemeClr val="dk1"/>
              </a:solidFill>
              <a:highlight>
                <a:srgbClr val="FFD966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7 Scalping  Best in TRs 22m59s.jpg" id="142" name="Google Shape;14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9"/>
          <p:cNvSpPr txBox="1"/>
          <p:nvPr/>
        </p:nvSpPr>
        <p:spPr>
          <a:xfrm>
            <a:off x="5486400" y="225300"/>
            <a:ext cx="458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剥头皮，最适合在交易区间中进行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7680950" y="3111600"/>
            <a:ext cx="5629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交易区间越窄，波段交易者越难赚钱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如果波段交易者持续坚信止损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通常要等20多根K线才能获取利润（前提不存在或者到止盈位）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8 Stairs  Scalpers Will BetAgainst BOs 24m16s.jpg" id="151" name="Google Shape;1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0"/>
          <p:cNvSpPr txBox="1"/>
          <p:nvPr/>
        </p:nvSpPr>
        <p:spPr>
          <a:xfrm>
            <a:off x="8873650" y="249150"/>
            <a:ext cx="458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E599"/>
                </a:highlight>
              </a:rPr>
              <a:t>阶梯形态，剥头皮的人会估计突破失败</a:t>
            </a:r>
            <a:endParaRPr>
              <a:solidFill>
                <a:schemeClr val="dk1"/>
              </a:solidFill>
              <a:highlight>
                <a:srgbClr val="FFE599"/>
              </a:highlight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445275" y="2229000"/>
            <a:ext cx="458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76A5AF"/>
                </a:highlight>
              </a:rPr>
              <a:t>当回调跟突破点重叠，那么就是阶梯趋势形态</a:t>
            </a:r>
            <a:endParaRPr>
              <a:solidFill>
                <a:schemeClr val="dk1"/>
              </a:solidFill>
              <a:highlight>
                <a:srgbClr val="76A5AF"/>
              </a:highlight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747425" y="5345925"/>
            <a:ext cx="4580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1，突破点买入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2，在至少有scalp利润的位置加仓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3，第一笔打平，第二笔获得scalp利润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最终能赚钱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4460675" y="2553750"/>
            <a:ext cx="4580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E599"/>
                </a:highlight>
              </a:rPr>
              <a:t>阶梯形态：突破点跟回调有重叠</a:t>
            </a:r>
            <a:endParaRPr>
              <a:solidFill>
                <a:schemeClr val="dk1"/>
              </a:solidFill>
              <a:highlight>
                <a:srgbClr val="FFE59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E599"/>
                </a:highlight>
              </a:rPr>
              <a:t>1.空头在前低止盈</a:t>
            </a:r>
            <a:endParaRPr>
              <a:solidFill>
                <a:schemeClr val="dk1"/>
              </a:solidFill>
              <a:highlight>
                <a:srgbClr val="FFE59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E599"/>
                </a:highlight>
              </a:rPr>
              <a:t>2.多头在前低买入能赚钱（打平）</a:t>
            </a:r>
            <a:endParaRPr>
              <a:solidFill>
                <a:schemeClr val="dk1"/>
              </a:solidFill>
              <a:highlight>
                <a:srgbClr val="FFE59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E599"/>
                </a:highlight>
              </a:rPr>
              <a:t>此时是scalp的好时机</a:t>
            </a:r>
            <a:endParaRPr>
              <a:solidFill>
                <a:schemeClr val="dk1"/>
              </a:solidFill>
              <a:highlight>
                <a:srgbClr val="FFE599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9 Bear Stairs  Buy at Prior Low and Scale In Lower 27m31s.jpg" id="162" name="Google Shape;16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1"/>
          <p:cNvSpPr txBox="1"/>
          <p:nvPr/>
        </p:nvSpPr>
        <p:spPr>
          <a:xfrm>
            <a:off x="190850" y="3032100"/>
            <a:ext cx="4580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9CB9C"/>
                </a:highlight>
              </a:rPr>
              <a:t>随着趋势进行下去，会变得越来越弱</a:t>
            </a:r>
            <a:endParaRPr>
              <a:solidFill>
                <a:schemeClr val="dk1"/>
              </a:solidFill>
              <a:highlight>
                <a:srgbClr val="F9CB9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9CB9C"/>
                </a:highlight>
              </a:rPr>
              <a:t>一但进入阶梯趋势形态</a:t>
            </a:r>
            <a:endParaRPr>
              <a:solidFill>
                <a:schemeClr val="dk1"/>
              </a:solidFill>
              <a:highlight>
                <a:srgbClr val="F9CB9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9CB9C"/>
                </a:highlight>
              </a:rPr>
              <a:t>交易者会认为趋势依然会延续</a:t>
            </a:r>
            <a:endParaRPr>
              <a:solidFill>
                <a:schemeClr val="dk1"/>
              </a:solidFill>
              <a:highlight>
                <a:srgbClr val="F9CB9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9CB9C"/>
                </a:highlight>
              </a:rPr>
              <a:t>但是也预计这是变为交易区间的开始</a:t>
            </a:r>
            <a:endParaRPr>
              <a:solidFill>
                <a:schemeClr val="dk1"/>
              </a:solidFill>
              <a:highlight>
                <a:srgbClr val="F9CB9C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0 Stairs  If Quick Profit, Take It and Do Not Wait to Scale In 28m39s.jpg" id="170" name="Google Shape;17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2"/>
          <p:cNvSpPr txBox="1"/>
          <p:nvPr/>
        </p:nvSpPr>
        <p:spPr>
          <a:xfrm>
            <a:off x="532725" y="694400"/>
            <a:ext cx="458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如果很快就获得利润了，那么赶紧止盈，保护利润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不要等着加仓了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1 Emini or EURUSD Scalping  Biggest Difference Is Bar Size 30m43s.jpg" id="178" name="Google Shape;17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3"/>
          <p:cNvSpPr txBox="1"/>
          <p:nvPr/>
        </p:nvSpPr>
        <p:spPr>
          <a:xfrm>
            <a:off x="1844700" y="1314600"/>
            <a:ext cx="458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大多数交易员，不应该使用比3分钟k线还小的时间级别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2 Main Points  Scalper’s Personality 31m31s.jpg" id="186" name="Google Shape;18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3 Why Some Experts Scalp  Greatest Profit Potential 33m37s.jpg" id="193" name="Google Shape;19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5"/>
          <p:cNvSpPr txBox="1"/>
          <p:nvPr/>
        </p:nvSpPr>
        <p:spPr>
          <a:xfrm>
            <a:off x="7561700" y="758025"/>
            <a:ext cx="50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为什么一些高手也会剥头皮？因为剥头皮的潜在利润非常大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  <p:sp>
        <p:nvSpPr>
          <p:cNvPr id="195" name="Google Shape;195;p25"/>
          <p:cNvSpPr txBox="1"/>
          <p:nvPr/>
        </p:nvSpPr>
        <p:spPr>
          <a:xfrm>
            <a:off x="7426500" y="3040050"/>
            <a:ext cx="458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76A5AF"/>
                </a:highlight>
              </a:rPr>
              <a:t>非常多的交易高手沉溺于剥头皮，因为剥头皮提供了非常大的潜在利润</a:t>
            </a:r>
            <a:endParaRPr>
              <a:solidFill>
                <a:schemeClr val="dk1"/>
              </a:solidFill>
              <a:highlight>
                <a:srgbClr val="76A5AF"/>
              </a:highlight>
            </a:endParaRPr>
          </a:p>
        </p:txBody>
      </p:sp>
      <p:sp>
        <p:nvSpPr>
          <p:cNvPr id="196" name="Google Shape;196;p25"/>
          <p:cNvSpPr txBox="1"/>
          <p:nvPr/>
        </p:nvSpPr>
        <p:spPr>
          <a:xfrm>
            <a:off x="238525" y="6363700"/>
            <a:ext cx="458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93C47D"/>
                </a:highlight>
              </a:rPr>
              <a:t>在后面的几个视频中</a:t>
            </a:r>
            <a:endParaRPr>
              <a:solidFill>
                <a:schemeClr val="dk1"/>
              </a:solidFill>
              <a:highlight>
                <a:srgbClr val="93C47D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93C47D"/>
                </a:highlight>
              </a:rPr>
              <a:t>我会讲解这些剥头皮交易的原理</a:t>
            </a:r>
            <a:endParaRPr>
              <a:solidFill>
                <a:schemeClr val="dk1"/>
              </a:solidFill>
              <a:highlight>
                <a:srgbClr val="93C47D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4 Scalper’s Personality  Most Traders Do Not Enjoy Scalping 34m27s.jpg" id="203" name="Google Shape;20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5 Extreme Scalping  Manual High Frequency Trading 36m21s.jpg" id="210" name="Google Shape;21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 txBox="1"/>
          <p:nvPr/>
        </p:nvSpPr>
        <p:spPr>
          <a:xfrm>
            <a:off x="11783850" y="225300"/>
            <a:ext cx="458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CE5CD"/>
                </a:highlight>
              </a:rPr>
              <a:t>极端剥头皮，人为的高频交易</a:t>
            </a:r>
            <a:endParaRPr>
              <a:solidFill>
                <a:schemeClr val="dk1"/>
              </a:solidFill>
              <a:highlight>
                <a:srgbClr val="FCE5CD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6 Review 37m19s.jpg" id="218" name="Google Shape;21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