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8229600" cx="146304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17907ba3e9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17907ba3e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17907ba3e9_0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17907ba3e9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17907ba3e9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17907ba3e9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17907ba3e9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17907ba3e9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i="0" sz="1600" u="none" cap="none" strike="noStrike">
                <a:solidFill>
                  <a:schemeClr val="dk1"/>
                </a:solidFill>
              </a:defRPr>
            </a:lvl1pPr>
            <a:lvl2pPr indent="-3302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i="0" sz="1600" u="none" cap="none" strike="noStrike">
                <a:solidFill>
                  <a:schemeClr val="dk1"/>
                </a:solidFill>
              </a:defRPr>
            </a:lvl2pPr>
            <a:lvl3pPr indent="-3302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i="0" sz="1600" u="none" cap="none" strike="noStrike">
                <a:solidFill>
                  <a:schemeClr val="dk1"/>
                </a:solidFill>
              </a:defRPr>
            </a:lvl3pPr>
            <a:lvl4pPr indent="-3302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i="0" sz="1600" u="none" cap="none" strike="noStrike">
                <a:solidFill>
                  <a:schemeClr val="dk1"/>
                </a:solidFill>
              </a:defRPr>
            </a:lvl4pPr>
            <a:lvl5pPr indent="-3302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i="0" sz="1600" u="none" cap="none" strike="noStrike">
                <a:solidFill>
                  <a:schemeClr val="dk1"/>
                </a:solidFill>
              </a:defRPr>
            </a:lvl5pPr>
            <a:lvl6pPr indent="-3302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i="0" sz="1600" u="none" cap="none" strike="noStrike">
                <a:solidFill>
                  <a:schemeClr val="dk1"/>
                </a:solidFill>
              </a:defRPr>
            </a:lvl6pPr>
            <a:lvl7pPr indent="-3302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i="0" sz="1600" u="none" cap="none" strike="noStrike">
                <a:solidFill>
                  <a:schemeClr val="dk1"/>
                </a:solidFill>
              </a:defRPr>
            </a:lvl7pPr>
            <a:lvl8pPr indent="-3302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i="0" sz="1600" u="none" cap="none" strike="noStrike">
                <a:solidFill>
                  <a:schemeClr val="dk1"/>
                </a:solidFill>
              </a:defRPr>
            </a:lvl8pPr>
            <a:lvl9pPr indent="-3302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i="0" sz="1600" u="none" cap="none" strike="noStrike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1 Video 51c (#3 of 4) 00m05s.jpg" id="86" name="Google Shape;8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2 Main Points 00m13s.jp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3581950" y="944700"/>
            <a:ext cx="45801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如何避免大亏？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FCE5CD"/>
                </a:highlight>
                <a:latin typeface="Calibri"/>
                <a:ea typeface="Calibri"/>
                <a:cs typeface="Calibri"/>
                <a:sym typeface="Calibri"/>
              </a:rPr>
              <a:t>大亏最大的问题就是，会将很多好交易的收益抹平，往往需要做很多比好的交易，才能弥补一次大亏！</a:t>
            </a:r>
            <a:endParaRPr sz="1800">
              <a:solidFill>
                <a:schemeClr val="dk1"/>
              </a:solidFill>
              <a:highlight>
                <a:srgbClr val="FCE5CD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3299800" y="3787475"/>
            <a:ext cx="81342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1.一定要设置</a:t>
            </a:r>
            <a:r>
              <a:rPr b="1" lang="en-US" sz="2000">
                <a:solidFill>
                  <a:schemeClr val="dk1"/>
                </a:solidFill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保护性</a:t>
            </a:r>
            <a:r>
              <a:rPr lang="en-US" sz="2000">
                <a:solidFill>
                  <a:schemeClr val="dk1"/>
                </a:solidFill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止损</a:t>
            </a:r>
            <a:endParaRPr sz="2000">
              <a:solidFill>
                <a:schemeClr val="dk1"/>
              </a:solidFill>
              <a:highlight>
                <a:srgbClr val="FFF2CC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2.行情走得跟判断</a:t>
            </a:r>
            <a:r>
              <a:rPr b="1" lang="en-US" sz="2000">
                <a:solidFill>
                  <a:schemeClr val="dk1"/>
                </a:solidFill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不一致</a:t>
            </a:r>
            <a:r>
              <a:rPr lang="en-US" sz="2000">
                <a:solidFill>
                  <a:schemeClr val="dk1"/>
                </a:solidFill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，果断离场</a:t>
            </a:r>
            <a:endParaRPr sz="2000">
              <a:solidFill>
                <a:schemeClr val="dk1"/>
              </a:solidFill>
              <a:highlight>
                <a:srgbClr val="FFF2CC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3.避免做</a:t>
            </a:r>
            <a:r>
              <a:rPr b="1" lang="en-US" sz="2000">
                <a:solidFill>
                  <a:schemeClr val="dk1"/>
                </a:solidFill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低胜率</a:t>
            </a:r>
            <a:r>
              <a:rPr lang="en-US" sz="2000">
                <a:solidFill>
                  <a:schemeClr val="dk1"/>
                </a:solidFill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的交易</a:t>
            </a:r>
            <a:endParaRPr sz="2000">
              <a:solidFill>
                <a:schemeClr val="dk1"/>
              </a:solidFill>
              <a:highlight>
                <a:srgbClr val="FFF2CC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4.如果止损太远，心里</a:t>
            </a:r>
            <a:r>
              <a:rPr b="1" lang="en-US" sz="2000">
                <a:solidFill>
                  <a:schemeClr val="dk1"/>
                </a:solidFill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不comfortable</a:t>
            </a:r>
            <a:r>
              <a:rPr lang="en-US" sz="2000">
                <a:solidFill>
                  <a:schemeClr val="dk1"/>
                </a:solidFill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，就不要进行这笔交易</a:t>
            </a:r>
            <a:endParaRPr sz="2000">
              <a:solidFill>
                <a:schemeClr val="dk1"/>
              </a:solidFill>
              <a:highlight>
                <a:srgbClr val="FFF2CC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3 Avoid Big Loss  Always Follow These Rules 02m53s.jpg" id="102" name="Google Shape;10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3490600" y="3068775"/>
            <a:ext cx="52002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FCE5CD"/>
                </a:highlight>
                <a:latin typeface="Calibri"/>
                <a:ea typeface="Calibri"/>
                <a:cs typeface="Calibri"/>
                <a:sym typeface="Calibri"/>
              </a:rPr>
              <a:t>bear trend, DT Bear Flag, reasonable sell</a:t>
            </a:r>
            <a:endParaRPr sz="1600">
              <a:solidFill>
                <a:schemeClr val="dk1"/>
              </a:solidFill>
              <a:highlight>
                <a:srgbClr val="FCE5CD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FCE5CD"/>
                </a:highlight>
                <a:latin typeface="Calibri"/>
                <a:ea typeface="Calibri"/>
                <a:cs typeface="Calibri"/>
                <a:sym typeface="Calibri"/>
              </a:rPr>
              <a:t>很快出现了不错的做多信号</a:t>
            </a:r>
            <a:endParaRPr sz="1600">
              <a:solidFill>
                <a:schemeClr val="dk1"/>
              </a:solidFill>
              <a:highlight>
                <a:srgbClr val="FCE5CD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FCE5CD"/>
                </a:highlight>
                <a:latin typeface="Calibri"/>
                <a:ea typeface="Calibri"/>
                <a:cs typeface="Calibri"/>
                <a:sym typeface="Calibri"/>
              </a:rPr>
              <a:t>H2 buy，可能的HL MTR，此时已经可以离场</a:t>
            </a:r>
            <a:endParaRPr sz="1600">
              <a:solidFill>
                <a:schemeClr val="dk1"/>
              </a:solidFill>
              <a:highlight>
                <a:srgbClr val="FCE5CD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FCE5CD"/>
                </a:highlight>
                <a:latin typeface="Calibri"/>
                <a:ea typeface="Calibri"/>
                <a:cs typeface="Calibri"/>
                <a:sym typeface="Calibri"/>
              </a:rPr>
              <a:t>如果不离场，看到连续3-4跟阳线，此时也必须离场了</a:t>
            </a:r>
            <a:endParaRPr sz="1600">
              <a:solidFill>
                <a:schemeClr val="dk1"/>
              </a:solidFill>
              <a:highlight>
                <a:srgbClr val="FCE5CD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9462050" y="3230875"/>
            <a:ext cx="4158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EA9999"/>
                </a:highlight>
                <a:latin typeface="Calibri"/>
                <a:ea typeface="Calibri"/>
                <a:cs typeface="Calibri"/>
                <a:sym typeface="Calibri"/>
              </a:rPr>
              <a:t>任何时候发现自己明显错误，那么立刻离场</a:t>
            </a:r>
            <a:endParaRPr sz="1600">
              <a:solidFill>
                <a:schemeClr val="dk1"/>
              </a:solidFill>
              <a:highlight>
                <a:srgbClr val="EA9999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EA9999"/>
                </a:highlight>
                <a:latin typeface="Calibri"/>
                <a:ea typeface="Calibri"/>
                <a:cs typeface="Calibri"/>
                <a:sym typeface="Calibri"/>
              </a:rPr>
              <a:t>而不要心存希望，坐着不动</a:t>
            </a:r>
            <a:endParaRPr sz="1600">
              <a:solidFill>
                <a:schemeClr val="dk1"/>
              </a:solidFill>
              <a:highlight>
                <a:srgbClr val="EA9999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EA9999"/>
                </a:highlight>
                <a:latin typeface="Calibri"/>
                <a:ea typeface="Calibri"/>
                <a:cs typeface="Calibri"/>
                <a:sym typeface="Calibri"/>
              </a:rPr>
              <a:t>期待价格往自己的方向移动从而减小损失</a:t>
            </a:r>
            <a:endParaRPr sz="1600">
              <a:solidFill>
                <a:schemeClr val="dk1"/>
              </a:solidFill>
              <a:highlight>
                <a:srgbClr val="EA9999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4 Most Important Protection  Protective Stop in the Market 04m06s.jpg" id="111" name="Google Shape;11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6"/>
          <p:cNvSpPr txBox="1"/>
          <p:nvPr/>
        </p:nvSpPr>
        <p:spPr>
          <a:xfrm>
            <a:off x="286250" y="6196700"/>
            <a:ext cx="45801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FCE5CD"/>
                </a:highlight>
                <a:latin typeface="Calibri"/>
                <a:ea typeface="Calibri"/>
                <a:cs typeface="Calibri"/>
                <a:sym typeface="Calibri"/>
              </a:rPr>
              <a:t>必须要真实的设置一个保护性止损</a:t>
            </a:r>
            <a:endParaRPr sz="1600">
              <a:solidFill>
                <a:schemeClr val="dk1"/>
              </a:solidFill>
              <a:highlight>
                <a:srgbClr val="FCE5CD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FCE5CD"/>
                </a:highlight>
                <a:latin typeface="Calibri"/>
                <a:ea typeface="Calibri"/>
                <a:cs typeface="Calibri"/>
                <a:sym typeface="Calibri"/>
              </a:rPr>
              <a:t>而不要只是脑中想着有一个止损</a:t>
            </a:r>
            <a:endParaRPr sz="1600">
              <a:solidFill>
                <a:schemeClr val="dk1"/>
              </a:solidFill>
              <a:highlight>
                <a:srgbClr val="FCE5CD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CE5CD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FCE5CD"/>
                </a:highlight>
                <a:latin typeface="Calibri"/>
                <a:ea typeface="Calibri"/>
                <a:cs typeface="Calibri"/>
                <a:sym typeface="Calibri"/>
              </a:rPr>
              <a:t>保护性止损不一定非要被打到，但是必须要有，这是避免损失扩大到难以承受最总要的规则</a:t>
            </a:r>
            <a:endParaRPr sz="1600">
              <a:solidFill>
                <a:schemeClr val="dk1"/>
              </a:solidFill>
              <a:highlight>
                <a:srgbClr val="FCE5CD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5 Natural  To Be Hopeful 06m34s.jpg" id="119" name="Google Shape;11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7"/>
          <p:cNvSpPr txBox="1"/>
          <p:nvPr/>
        </p:nvSpPr>
        <p:spPr>
          <a:xfrm>
            <a:off x="4762825" y="3350150"/>
            <a:ext cx="4580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7"/>
          <p:cNvSpPr txBox="1"/>
          <p:nvPr/>
        </p:nvSpPr>
        <p:spPr>
          <a:xfrm>
            <a:off x="5706900" y="76900"/>
            <a:ext cx="2626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FFE599"/>
                </a:highlight>
              </a:rPr>
              <a:t>hopeful对交易没有帮助</a:t>
            </a:r>
            <a:endParaRPr sz="1600">
              <a:solidFill>
                <a:schemeClr val="dk1"/>
              </a:solidFill>
              <a:highlight>
                <a:srgbClr val="FFE59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FFE599"/>
                </a:highlight>
              </a:rPr>
              <a:t>让人不能客观的看待行情</a:t>
            </a:r>
            <a:endParaRPr sz="1600">
              <a:solidFill>
                <a:schemeClr val="dk1"/>
              </a:solidFill>
              <a:highlight>
                <a:srgbClr val="FFE599"/>
              </a:highlight>
            </a:endParaRPr>
          </a:p>
        </p:txBody>
      </p:sp>
      <p:sp>
        <p:nvSpPr>
          <p:cNvPr id="122" name="Google Shape;122;p17"/>
          <p:cNvSpPr txBox="1"/>
          <p:nvPr/>
        </p:nvSpPr>
        <p:spPr>
          <a:xfrm>
            <a:off x="3655475" y="3052250"/>
            <a:ext cx="35961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B6D7A8"/>
                </a:highlight>
              </a:rPr>
              <a:t>新手：</a:t>
            </a:r>
            <a:endParaRPr sz="1600">
              <a:solidFill>
                <a:schemeClr val="dk1"/>
              </a:solidFill>
              <a:highlight>
                <a:srgbClr val="B6D7A8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B6D7A8"/>
                </a:highlight>
              </a:rPr>
              <a:t>上涨窄通道，看到h1入场点进去做多</a:t>
            </a:r>
            <a:endParaRPr sz="1600">
              <a:solidFill>
                <a:schemeClr val="dk1"/>
              </a:solidFill>
              <a:highlight>
                <a:srgbClr val="B6D7A8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B6D7A8"/>
                </a:highlight>
              </a:rPr>
              <a:t>连续三根阴线，第四根强势向下突破</a:t>
            </a:r>
            <a:endParaRPr sz="1600">
              <a:solidFill>
                <a:schemeClr val="dk1"/>
              </a:solidFill>
              <a:highlight>
                <a:srgbClr val="B6D7A8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B6D7A8"/>
                </a:highlight>
              </a:rPr>
              <a:t>不离场，反而逆势加仓</a:t>
            </a:r>
            <a:endParaRPr sz="1600">
              <a:solidFill>
                <a:schemeClr val="dk1"/>
              </a:solidFill>
              <a:highlight>
                <a:srgbClr val="B6D7A8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B6D7A8"/>
                </a:highlight>
              </a:rPr>
              <a:t>最终超级大亏！！！</a:t>
            </a:r>
            <a:endParaRPr sz="1600">
              <a:solidFill>
                <a:schemeClr val="dk1"/>
              </a:solidFill>
              <a:highlight>
                <a:srgbClr val="B6D7A8"/>
              </a:highlight>
            </a:endParaRPr>
          </a:p>
        </p:txBody>
      </p:sp>
      <p:sp>
        <p:nvSpPr>
          <p:cNvPr id="123" name="Google Shape;123;p17"/>
          <p:cNvSpPr txBox="1"/>
          <p:nvPr/>
        </p:nvSpPr>
        <p:spPr>
          <a:xfrm>
            <a:off x="7466300" y="3779525"/>
            <a:ext cx="4580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EA9999"/>
                </a:highlight>
              </a:rPr>
              <a:t>人类基因里面，越是hopeful就越是容易活下去</a:t>
            </a:r>
            <a:endParaRPr sz="1600">
              <a:solidFill>
                <a:schemeClr val="dk1"/>
              </a:solidFill>
              <a:highlight>
                <a:srgbClr val="EA999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EA9999"/>
                </a:highlight>
              </a:rPr>
              <a:t>所以hopeful的基因被延续下来</a:t>
            </a:r>
            <a:endParaRPr sz="1600">
              <a:solidFill>
                <a:schemeClr val="dk1"/>
              </a:solidFill>
              <a:highlight>
                <a:srgbClr val="EA999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EA9999"/>
                </a:highlight>
              </a:rPr>
              <a:t>但是交易中，盲目hopeful会让人不客观</a:t>
            </a:r>
            <a:endParaRPr sz="1600">
              <a:solidFill>
                <a:schemeClr val="dk1"/>
              </a:solidFill>
              <a:highlight>
                <a:srgbClr val="EA9999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6 Hard to Admit Wrong  Nobody Likes a Quitter 07m34s.jpg" id="130" name="Google Shape;13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8"/>
          <p:cNvSpPr txBox="1"/>
          <p:nvPr/>
        </p:nvSpPr>
        <p:spPr>
          <a:xfrm>
            <a:off x="10559325" y="153725"/>
            <a:ext cx="3633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highlight>
                  <a:srgbClr val="FCE5CD"/>
                </a:highlight>
                <a:latin typeface="Calibri"/>
                <a:ea typeface="Calibri"/>
                <a:cs typeface="Calibri"/>
                <a:sym typeface="Calibri"/>
              </a:rPr>
              <a:t>承认错误就是懦夫？</a:t>
            </a:r>
            <a:endParaRPr sz="2000">
              <a:solidFill>
                <a:schemeClr val="dk1"/>
              </a:solidFill>
              <a:highlight>
                <a:srgbClr val="FCE5CD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8"/>
          <p:cNvSpPr txBox="1"/>
          <p:nvPr/>
        </p:nvSpPr>
        <p:spPr>
          <a:xfrm>
            <a:off x="3192300" y="3008250"/>
            <a:ext cx="4580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B6D7A8"/>
                </a:highlight>
              </a:rPr>
              <a:t>亏损出局是放弃</a:t>
            </a:r>
            <a:endParaRPr sz="1600">
              <a:solidFill>
                <a:schemeClr val="dk1"/>
              </a:solidFill>
              <a:highlight>
                <a:srgbClr val="B6D7A8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B6D7A8"/>
                </a:highlight>
              </a:rPr>
              <a:t>新手正在做坏交易经常拒绝放弃</a:t>
            </a:r>
            <a:endParaRPr sz="1600">
              <a:solidFill>
                <a:schemeClr val="dk1"/>
              </a:solidFill>
              <a:highlight>
                <a:srgbClr val="B6D7A8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B6D7A8"/>
                </a:highlight>
              </a:rPr>
              <a:t>通常继续加仓导致情况变得更糟</a:t>
            </a:r>
            <a:endParaRPr sz="1600">
              <a:solidFill>
                <a:schemeClr val="dk1"/>
              </a:solidFill>
              <a:highlight>
                <a:srgbClr val="B6D7A8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7 Never Lose Sight of Goal  Make Money 09m00s.jpg" id="139" name="Google Shape;13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9"/>
          <p:cNvSpPr txBox="1"/>
          <p:nvPr/>
        </p:nvSpPr>
        <p:spPr>
          <a:xfrm>
            <a:off x="3935900" y="3381950"/>
            <a:ext cx="2647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FFD966"/>
                </a:highlight>
              </a:rPr>
              <a:t>新手太在乎账户亏钱了</a:t>
            </a:r>
            <a:endParaRPr sz="1600">
              <a:solidFill>
                <a:schemeClr val="dk1"/>
              </a:solidFill>
              <a:highlight>
                <a:srgbClr val="FFD966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FFD966"/>
                </a:highlight>
              </a:rPr>
              <a:t>所以只关注risk</a:t>
            </a:r>
            <a:endParaRPr sz="1600">
              <a:solidFill>
                <a:schemeClr val="dk1"/>
              </a:solidFill>
              <a:highlight>
                <a:srgbClr val="FFD966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FFD966"/>
                </a:highlight>
              </a:rPr>
              <a:t>却忽略的最重要的胜率</a:t>
            </a:r>
            <a:endParaRPr sz="1600">
              <a:solidFill>
                <a:schemeClr val="dk1"/>
              </a:solidFill>
              <a:highlight>
                <a:srgbClr val="FFD966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8 Greatest Fear  Death (Blown Account) 10m26s.jpg" id="147" name="Google Shape;14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09 Learn How to Trade  Much Harder Than You Thought 12m08s.jpg" id="154" name="Google Shape;15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1"/>
          <p:cNvSpPr txBox="1"/>
          <p:nvPr/>
        </p:nvSpPr>
        <p:spPr>
          <a:xfrm>
            <a:off x="15314200" y="614900"/>
            <a:ext cx="4580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/>
          <p:cNvSpPr txBox="1"/>
          <p:nvPr/>
        </p:nvSpPr>
        <p:spPr>
          <a:xfrm>
            <a:off x="7402675" y="3429000"/>
            <a:ext cx="45801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F9CB9C"/>
                </a:highlight>
                <a:latin typeface="Calibri"/>
                <a:ea typeface="Calibri"/>
                <a:cs typeface="Calibri"/>
                <a:sym typeface="Calibri"/>
              </a:rPr>
              <a:t>犯错之后不要对自己太严苛</a:t>
            </a:r>
            <a:endParaRPr sz="1600">
              <a:solidFill>
                <a:schemeClr val="dk1"/>
              </a:solidFill>
              <a:highlight>
                <a:srgbClr val="F9CB9C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F9CB9C"/>
                </a:highlight>
                <a:latin typeface="Calibri"/>
                <a:ea typeface="Calibri"/>
                <a:cs typeface="Calibri"/>
                <a:sym typeface="Calibri"/>
              </a:rPr>
              <a:t>因为每个人都会做错误的交易</a:t>
            </a:r>
            <a:endParaRPr sz="1600">
              <a:solidFill>
                <a:schemeClr val="dk1"/>
              </a:solidFill>
              <a:highlight>
                <a:srgbClr val="F9CB9C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F9CB9C"/>
                </a:highlight>
                <a:latin typeface="Calibri"/>
                <a:ea typeface="Calibri"/>
                <a:cs typeface="Calibri"/>
                <a:sym typeface="Calibri"/>
              </a:rPr>
              <a:t>如果你一心想着之前犯的错，那么就不会专注于眼前交易中该做的事情了</a:t>
            </a:r>
            <a:endParaRPr sz="1600">
              <a:solidFill>
                <a:schemeClr val="dk1"/>
              </a:solidFill>
              <a:highlight>
                <a:srgbClr val="F9CB9C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1"/>
          <p:cNvSpPr txBox="1"/>
          <p:nvPr/>
        </p:nvSpPr>
        <p:spPr>
          <a:xfrm>
            <a:off x="429375" y="2526875"/>
            <a:ext cx="4580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A4C2F4"/>
                </a:highlight>
              </a:rPr>
              <a:t>能持续盈利的唯一办法就是努力学习如何交易</a:t>
            </a:r>
            <a:endParaRPr sz="1600">
              <a:solidFill>
                <a:schemeClr val="dk1"/>
              </a:solidFill>
              <a:highlight>
                <a:srgbClr val="A4C2F4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A4C2F4"/>
                </a:highlight>
              </a:rPr>
              <a:t>为自己所犯的所有错误负责</a:t>
            </a:r>
            <a:endParaRPr sz="1600">
              <a:solidFill>
                <a:schemeClr val="dk1"/>
              </a:solidFill>
              <a:highlight>
                <a:srgbClr val="A4C2F4"/>
              </a:highligh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2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4" name="Google Shape;16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4754583" cy="8229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0 Eat What You Kill  There Is No Trading God to Save You 14m36s.jpg" id="171" name="Google Shape;17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3"/>
          <p:cNvSpPr txBox="1"/>
          <p:nvPr/>
        </p:nvSpPr>
        <p:spPr>
          <a:xfrm>
            <a:off x="6265625" y="2189250"/>
            <a:ext cx="4580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060607"/>
                </a:solidFill>
                <a:highlight>
                  <a:srgbClr val="FFF2CC"/>
                </a:highlight>
              </a:rPr>
              <a:t>持续赚取大量金钱的唯一方式是努力学习如何交易</a:t>
            </a:r>
            <a:endParaRPr sz="3400">
              <a:solidFill>
                <a:schemeClr val="dk1"/>
              </a:solidFill>
              <a:highlight>
                <a:srgbClr val="FFF2CC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3"/>
          <p:cNvSpPr txBox="1"/>
          <p:nvPr/>
        </p:nvSpPr>
        <p:spPr>
          <a:xfrm>
            <a:off x="6353100" y="3053175"/>
            <a:ext cx="32838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060607"/>
                </a:solidFill>
                <a:highlight>
                  <a:srgbClr val="FFF2CC"/>
                </a:highlight>
              </a:rPr>
              <a:t>一</a:t>
            </a:r>
            <a:r>
              <a:rPr lang="en-US" sz="1250">
                <a:solidFill>
                  <a:srgbClr val="060607"/>
                </a:solidFill>
                <a:highlight>
                  <a:srgbClr val="FFF2CC"/>
                </a:highlight>
              </a:rPr>
              <a:t>旦交易者变得成功，生活可以变得神奇</a:t>
            </a:r>
            <a:endParaRPr sz="1600">
              <a:highlight>
                <a:srgbClr val="FFF2CC"/>
              </a:highlight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4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4630400" cy="8166697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4"/>
          <p:cNvSpPr txBox="1"/>
          <p:nvPr/>
        </p:nvSpPr>
        <p:spPr>
          <a:xfrm>
            <a:off x="7339050" y="6928250"/>
            <a:ext cx="458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FF00FF"/>
                </a:highlight>
                <a:latin typeface="Calibri"/>
                <a:ea typeface="Calibri"/>
                <a:cs typeface="Calibri"/>
                <a:sym typeface="Calibri"/>
              </a:rPr>
              <a:t>正确的止损应该在这里</a:t>
            </a:r>
            <a:endParaRPr sz="1800">
              <a:solidFill>
                <a:schemeClr val="dk1"/>
              </a:solidFill>
              <a:highlight>
                <a:srgbClr val="FF00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5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8" name="Google Shape;18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4630400" cy="8173897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5"/>
          <p:cNvSpPr txBox="1"/>
          <p:nvPr/>
        </p:nvSpPr>
        <p:spPr>
          <a:xfrm>
            <a:off x="2743200" y="3031050"/>
            <a:ext cx="4985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highlight>
                  <a:srgbClr val="FFFF00"/>
                </a:highlight>
              </a:rPr>
              <a:t>“用低概率交易赚钱很难，必须完美地管理罕见的大赢家，以抵消非常频繁的小损失。” 这句话强调了在交易中，如果你经常进行成功概率不高的交易，那么就需要非常精准地把握住偶尔的大盈利机会，以此来弥补频繁出现的小额亏损。</a:t>
            </a:r>
            <a:endParaRPr>
              <a:highlight>
                <a:srgbClr val="FFFF00"/>
              </a:highlight>
            </a:endParaRPr>
          </a:p>
        </p:txBody>
      </p:sp>
      <p:sp>
        <p:nvSpPr>
          <p:cNvPr id="190" name="Google Shape;190;p25"/>
          <p:cNvSpPr txBox="1"/>
          <p:nvPr/>
        </p:nvSpPr>
        <p:spPr>
          <a:xfrm>
            <a:off x="8458200" y="3031050"/>
            <a:ext cx="4580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F9CB9C"/>
                </a:highlight>
                <a:latin typeface="Calibri"/>
                <a:ea typeface="Calibri"/>
                <a:cs typeface="Calibri"/>
                <a:sym typeface="Calibri"/>
              </a:rPr>
              <a:t>胜率低：赢1次输9次，赢的1次能远大于输的9次吗？非常之难！</a:t>
            </a:r>
            <a:endParaRPr sz="1600">
              <a:solidFill>
                <a:schemeClr val="dk1"/>
              </a:solidFill>
              <a:highlight>
                <a:srgbClr val="F9CB9C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1 Low Risk  Low Probability or Small Reward 18m34s.jpg" id="197" name="Google Shape;19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7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4" name="Google Shape;20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4630402" cy="8198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7"/>
          <p:cNvSpPr txBox="1"/>
          <p:nvPr/>
        </p:nvSpPr>
        <p:spPr>
          <a:xfrm>
            <a:off x="1916275" y="1624725"/>
            <a:ext cx="45801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FCE5CD"/>
                </a:highlight>
                <a:latin typeface="Calibri"/>
                <a:ea typeface="Calibri"/>
                <a:cs typeface="Calibri"/>
                <a:sym typeface="Calibri"/>
              </a:rPr>
              <a:t>胜率最重要，低风险代表低胜率</a:t>
            </a:r>
            <a:endParaRPr sz="1600">
              <a:solidFill>
                <a:schemeClr val="dk1"/>
              </a:solidFill>
              <a:highlight>
                <a:srgbClr val="FCE5CD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CE5CD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FCE5CD"/>
                </a:highlight>
                <a:latin typeface="Calibri"/>
                <a:ea typeface="Calibri"/>
                <a:cs typeface="Calibri"/>
                <a:sym typeface="Calibri"/>
              </a:rPr>
              <a:t>如果正确的止损位，让你觉得会亏太多，导致不舒服，那就不要做这笔交易，交易的时候永远要感觉comfortable才是最好的！！</a:t>
            </a:r>
            <a:endParaRPr sz="1600">
              <a:solidFill>
                <a:schemeClr val="dk1"/>
              </a:solidFill>
              <a:highlight>
                <a:srgbClr val="FCE5CD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</p:txBody>
      </p:sp>
      <p:pic>
        <p:nvPicPr>
          <p:cNvPr descr="12 Great Scalpers Win 90%  Very Difficult to Do 21m53s.jpg" id="212" name="Google Shape;21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