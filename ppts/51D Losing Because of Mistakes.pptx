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792604cad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792604ca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792604cad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792604ca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51D (#4 of 4) 00m01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Main Points 00m43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601925" y="3461450"/>
            <a:ext cx="45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不能正确止损</a:t>
            </a:r>
            <a:endParaRPr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大亏加仓</a:t>
            </a:r>
            <a:endParaRPr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802075" y="3270600"/>
            <a:ext cx="371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76A5AF"/>
                </a:highlight>
              </a:rPr>
              <a:t>他们总是交易过大的头寸，无法承受压力</a:t>
            </a:r>
            <a:endParaRPr>
              <a:highlight>
                <a:srgbClr val="76A5A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Correct Stop  Usually Obvious 03m01s.jp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772400" y="143125"/>
            <a:ext cx="361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FFF2CC"/>
                </a:highlight>
              </a:rPr>
              <a:t>• 如果止损设置太远，• 如果你在情绪上分心——你 simply don't take the trade</a:t>
            </a:r>
            <a:endParaRPr>
              <a:highlight>
                <a:srgbClr val="FFF2CC"/>
              </a:highlight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588400" y="1012475"/>
            <a:ext cx="458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32750" y="662625"/>
            <a:ext cx="458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正确的止损位，通常很明显，如果觉得太远了，那就小仓位或者不做这笔交易</a:t>
            </a:r>
            <a:endParaRPr sz="16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461175" y="5679875"/>
            <a:ext cx="458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主要高低点出现后，移动自己的止损</a:t>
            </a:r>
            <a:endParaRPr sz="16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Stop  Bad Choice in the Middle of 2 Good Choices 06m34s.jp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492950" y="781875"/>
            <a:ext cx="253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D9EAD3"/>
                </a:highlight>
                <a:latin typeface="Calibri"/>
                <a:ea typeface="Calibri"/>
                <a:cs typeface="Calibri"/>
                <a:sym typeface="Calibri"/>
              </a:rPr>
              <a:t>臭止损，止损在中间</a:t>
            </a:r>
            <a:endParaRPr sz="2000">
              <a:solidFill>
                <a:schemeClr val="dk1"/>
              </a:solidFill>
              <a:highlight>
                <a:srgbClr val="D9EA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Profit  Want Much More Than Minimum 08m15s.jpg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398" cy="820091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6909675" y="2427800"/>
            <a:ext cx="458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交易足够小，交易不太在乎的钱</a:t>
            </a:r>
            <a:endParaRPr sz="16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才能保证客观</a:t>
            </a:r>
            <a:endParaRPr sz="16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Become Objective  Trade the Size 11m24s.jpg" id="134" name="Google Shape;1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I Don't Care  Don't Get Rich Fast 12m46s.jpg" id="141" name="Google Shape;1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2552350" y="2459600"/>
            <a:ext cx="2329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当交易非常小的仓位时</a:t>
            </a:r>
            <a:endParaRPr sz="16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目标是学习做正确的事</a:t>
            </a:r>
            <a:endParaRPr sz="16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而不是简单的只关风险</a:t>
            </a:r>
            <a:endParaRPr sz="16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7466275" y="3886200"/>
            <a:ext cx="458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无法变得富有，但是通过避免大亏</a:t>
            </a:r>
            <a:endParaRPr sz="16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可以练习必要的技巧</a:t>
            </a:r>
            <a:endParaRPr sz="16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能够持续盈利以后，逐渐扩大仓位</a:t>
            </a:r>
            <a:endParaRPr sz="16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2" cy="8187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Biggest Losses  Scaling In, but Position Size Too Big 15m14s.jpg" id="157" name="Google Shape;1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/>
        </p:nvSpPr>
        <p:spPr>
          <a:xfrm>
            <a:off x="9509750" y="3498575"/>
            <a:ext cx="4683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FFE599"/>
                </a:highlight>
              </a:rPr>
              <a:t>只有经验丰富的交易者才应该</a:t>
            </a:r>
            <a:r>
              <a:rPr lang="en-US">
                <a:highlight>
                  <a:srgbClr val="FFE599"/>
                </a:highlight>
              </a:rPr>
              <a:t>加仓</a:t>
            </a:r>
            <a:endParaRPr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FFE599"/>
                </a:highlight>
              </a:rPr>
              <a:t>因为经验丰富的交易者会知道</a:t>
            </a:r>
            <a:r>
              <a:rPr lang="en-US">
                <a:highlight>
                  <a:srgbClr val="FFE599"/>
                </a:highlight>
              </a:rPr>
              <a:t>是否</a:t>
            </a:r>
            <a:r>
              <a:rPr lang="en-US">
                <a:highlight>
                  <a:srgbClr val="FFE599"/>
                </a:highlight>
              </a:rPr>
              <a:t>他的交易仍然有效，如果他认为不再有效，他就不会</a:t>
            </a:r>
            <a:r>
              <a:rPr lang="en-US">
                <a:highlight>
                  <a:srgbClr val="FFE599"/>
                </a:highlight>
              </a:rPr>
              <a:t>加仓，而是</a:t>
            </a:r>
            <a:r>
              <a:rPr lang="en-US">
                <a:highlight>
                  <a:srgbClr val="FFE599"/>
                </a:highlight>
              </a:rPr>
              <a:t>退出并承担损失</a:t>
            </a:r>
            <a:endParaRPr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FFE599"/>
                </a:highlight>
              </a:rPr>
              <a:t>而新手不会承认他的前提不再有效并且他会持续</a:t>
            </a:r>
            <a:r>
              <a:rPr lang="en-US">
                <a:highlight>
                  <a:srgbClr val="FFE599"/>
                </a:highlight>
              </a:rPr>
              <a:t>加仓</a:t>
            </a:r>
            <a:r>
              <a:rPr lang="en-US">
                <a:highlight>
                  <a:srgbClr val="FFE599"/>
                </a:highlight>
              </a:rPr>
              <a:t>，希望市场再次对他有利，最终他经常遭受重大损失。</a:t>
            </a:r>
            <a:endParaRPr>
              <a:highlight>
                <a:srgbClr val="FFE599"/>
              </a:highlight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413450" y="5274375"/>
            <a:ext cx="401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9EAD3"/>
                </a:highlight>
                <a:latin typeface="Calibri"/>
                <a:ea typeface="Calibri"/>
                <a:cs typeface="Calibri"/>
                <a:sym typeface="Calibri"/>
              </a:rPr>
              <a:t>新手逆势亏损加仓</a:t>
            </a:r>
            <a:endParaRPr sz="1500">
              <a:solidFill>
                <a:schemeClr val="dk1"/>
              </a:solidFill>
              <a:highlight>
                <a:srgbClr val="D9EAD3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9EAD3"/>
                </a:highlight>
                <a:latin typeface="Calibri"/>
                <a:ea typeface="Calibri"/>
                <a:cs typeface="Calibri"/>
                <a:sym typeface="Calibri"/>
              </a:rPr>
              <a:t>仓位太大，亏损太大</a:t>
            </a:r>
            <a:endParaRPr sz="1500">
              <a:solidFill>
                <a:schemeClr val="dk1"/>
              </a:solidFill>
              <a:highlight>
                <a:srgbClr val="D9EAD3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9EAD3"/>
                </a:highlight>
                <a:latin typeface="Calibri"/>
                <a:ea typeface="Calibri"/>
                <a:cs typeface="Calibri"/>
                <a:sym typeface="Calibri"/>
              </a:rPr>
              <a:t>导致人傻了，无法客观根据行情做出判断了</a:t>
            </a:r>
            <a:endParaRPr sz="1500">
              <a:solidFill>
                <a:schemeClr val="dk1"/>
              </a:solidFill>
              <a:highlight>
                <a:srgbClr val="D9EA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Biggest Losses  Only Looking at 2 Bars, Not Entire Chart 17m35s.jpg" id="166" name="Google Shape;1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Biggest Losses  If Stop Is Far, Trade Small 19m18s.jpg" id="173" name="Google Shape;1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Biggest Losses  If Stop Is Far, Trade Small 20m36s.jpg" id="180" name="Google Shape;1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9 Biggest Losses  Ignoring opposite Arguments 23m50s.jpg" id="187" name="Google Shape;18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0 TR  Strong 2nd Leg Often Is Failed BO and Trap 24m56s.jpg" id="194" name="Google Shape;19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1 Risk Happens Fast  Always Minimize Risk 28m35s.jpg" id="201" name="Google Shape;2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2 Stop Based on Smaller Time Frame  Sure Way to Lose 31m08s.jpg" id="208" name="Google Shape;2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3 Review 31m43s.jpg" id="215" name="Google Shape;21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